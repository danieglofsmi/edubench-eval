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19.xml" ContentType="application/vnd.ms-office.chartcolorstyle+xml"/>
  <Override PartName="/ppt/charts/colors2.xml" ContentType="application/vnd.ms-office.chartcolorstyle+xml"/>
  <Override PartName="/ppt/charts/colors20.xml" ContentType="application/vnd.ms-office.chartcolorstyle+xml"/>
  <Override PartName="/ppt/charts/colors21.xml" ContentType="application/vnd.ms-office.chartcolorstyle+xml"/>
  <Override PartName="/ppt/charts/colors2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19.xml" ContentType="application/vnd.ms-office.chartstyle+xml"/>
  <Override PartName="/ppt/charts/style2.xml" ContentType="application/vnd.ms-office.chartstyle+xml"/>
  <Override PartName="/ppt/charts/style20.xml" ContentType="application/vnd.ms-office.chartstyle+xml"/>
  <Override PartName="/ppt/charts/style21.xml" ContentType="application/vnd.ms-office.chartstyle+xml"/>
  <Override PartName="/ppt/charts/style2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0" r:id="rId6"/>
    <p:sldId id="261" r:id="rId7"/>
    <p:sldId id="258" r:id="rId8"/>
    <p:sldId id="259" r:id="rId9"/>
    <p:sldId id="262" r:id="rId10"/>
  </p:sldIdLst>
  <p:sldSz cx="50399950" cy="251999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C858"/>
    <a:srgbClr val="F2B800"/>
    <a:srgbClr val="91CC75"/>
    <a:srgbClr val="EE6666"/>
    <a:srgbClr val="5470C6"/>
    <a:srgbClr val="FAD173"/>
    <a:srgbClr val="A3D48C"/>
    <a:srgbClr val="F19E65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23"/>
    <p:restoredTop sz="94680"/>
  </p:normalViewPr>
  <p:slideViewPr>
    <p:cSldViewPr snapToGrid="0">
      <p:cViewPr varScale="1">
        <p:scale>
          <a:sx n="22" d="100"/>
          <a:sy n="22" d="100"/>
        </p:scale>
        <p:origin x="192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C:\Users\lxy\Desktop\&#24037;&#20316;&#31807;1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file:///C:\Users\lxy\Desktop\&#24037;&#20316;&#31807;1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file:///D:\BIT\NLP\EduBench\&#24037;&#20316;&#31807;1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oleObject" Target="file:///D:\BIT\NLP\EduBench\&#24037;&#20316;&#31807;1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oleObject" Target="file:///D:\BIT\NLP\EduBench\&#24037;&#20316;&#31807;1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oleObject" Target="file:///D:\BIT\NLP\EduBench\&#24037;&#20316;&#31807;1.xlsx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microsoft.com/office/2011/relationships/chartColorStyle" Target="colors7.xml"/><Relationship Id="rId2" Type="http://schemas.microsoft.com/office/2011/relationships/chartStyle" Target="style7.xml"/><Relationship Id="rId1" Type="http://schemas.openxmlformats.org/officeDocument/2006/relationships/oleObject" Target="file:///D:\BIT\NLP\EduBench\&#24037;&#20316;&#31807;1.xlsx" TargetMode="External"/></Relationships>
</file>

<file path=ppt/charts/_rels/chart8.xml.rels><?xml version="1.0" encoding="UTF-8" standalone="yes"?>
<Relationships xmlns="http://schemas.openxmlformats.org/package/2006/relationships"><Relationship Id="rId3" Type="http://schemas.microsoft.com/office/2011/relationships/chartColorStyle" Target="colors8.xml"/><Relationship Id="rId2" Type="http://schemas.microsoft.com/office/2011/relationships/chartStyle" Target="style8.xml"/><Relationship Id="rId1" Type="http://schemas.openxmlformats.org/officeDocument/2006/relationships/oleObject" Target="file:///D:\BIT\NLP\EduBench\&#24037;&#20316;&#31807;1.xlsx" TargetMode="External"/></Relationships>
</file>

<file path=ppt/charts/_rels/chart9.xml.rels><?xml version="1.0" encoding="UTF-8" standalone="yes"?>
<Relationships xmlns="http://schemas.openxmlformats.org/package/2006/relationships"><Relationship Id="rId3" Type="http://schemas.microsoft.com/office/2011/relationships/chartColorStyle" Target="colors9.xml"/><Relationship Id="rId2" Type="http://schemas.microsoft.com/office/2011/relationships/chartStyle" Target="style9.xml"/><Relationship Id="rId1" Type="http://schemas.openxmlformats.org/officeDocument/2006/relationships/oleObject" Target="file:///D:\BIT\NLP\EduBench\&#24037;&#20316;&#31807;1.xlsx" TargetMode="External"/></Relationships>
</file>

<file path=ppt/charts/_rels/chart10.xml.rels><?xml version="1.0" encoding="UTF-8" standalone="yes"?>
<Relationships xmlns="http://schemas.openxmlformats.org/package/2006/relationships"><Relationship Id="rId3" Type="http://schemas.microsoft.com/office/2011/relationships/chartColorStyle" Target="colors10.xml"/><Relationship Id="rId2" Type="http://schemas.microsoft.com/office/2011/relationships/chartStyle" Target="style10.xml"/><Relationship Id="rId1" Type="http://schemas.openxmlformats.org/officeDocument/2006/relationships/oleObject" Target="file:///D:\BIT\NLP\EduBench\&#24037;&#20316;&#31807;1.xlsx" TargetMode="External"/></Relationships>
</file>

<file path=ppt/charts/_rels/chart11.xml.rels><?xml version="1.0" encoding="UTF-8" standalone="yes"?>
<Relationships xmlns="http://schemas.openxmlformats.org/package/2006/relationships"><Relationship Id="rId3" Type="http://schemas.microsoft.com/office/2011/relationships/chartColorStyle" Target="colors11.xml"/><Relationship Id="rId2" Type="http://schemas.microsoft.com/office/2011/relationships/chartStyle" Target="style11.xml"/><Relationship Id="rId1" Type="http://schemas.openxmlformats.org/officeDocument/2006/relationships/oleObject" Target="file:///D:\BIT\NLP\EduBench\&#24037;&#20316;&#31807;1.xlsx" TargetMode="External"/></Relationships>
</file>

<file path=ppt/charts/_rels/chart12.xml.rels><?xml version="1.0" encoding="UTF-8" standalone="yes"?>
<Relationships xmlns="http://schemas.openxmlformats.org/package/2006/relationships"><Relationship Id="rId3" Type="http://schemas.microsoft.com/office/2011/relationships/chartColorStyle" Target="colors12.xml"/><Relationship Id="rId2" Type="http://schemas.microsoft.com/office/2011/relationships/chartStyle" Target="style12.xml"/><Relationship Id="rId1" Type="http://schemas.openxmlformats.org/officeDocument/2006/relationships/oleObject" Target="file:///D:\BIT\NLP\EduBench\&#24037;&#20316;&#31807;1.xlsx" TargetMode="External"/></Relationships>
</file>

<file path=ppt/charts/_rels/chart13.xml.rels><?xml version="1.0" encoding="UTF-8" standalone="yes"?>
<Relationships xmlns="http://schemas.openxmlformats.org/package/2006/relationships"><Relationship Id="rId3" Type="http://schemas.microsoft.com/office/2011/relationships/chartColorStyle" Target="colors13.xml"/><Relationship Id="rId2" Type="http://schemas.microsoft.com/office/2011/relationships/chartStyle" Target="style13.xml"/><Relationship Id="rId1" Type="http://schemas.openxmlformats.org/officeDocument/2006/relationships/oleObject" Target="file:///D:\BIT\NLP\EduBench\&#24037;&#20316;&#31807;1.xlsx" TargetMode="External"/></Relationships>
</file>

<file path=ppt/charts/_rels/chart14.xml.rels><?xml version="1.0" encoding="UTF-8" standalone="yes"?>
<Relationships xmlns="http://schemas.openxmlformats.org/package/2006/relationships"><Relationship Id="rId3" Type="http://schemas.microsoft.com/office/2011/relationships/chartColorStyle" Target="colors14.xml"/><Relationship Id="rId2" Type="http://schemas.microsoft.com/office/2011/relationships/chartStyle" Target="style14.xml"/><Relationship Id="rId1" Type="http://schemas.openxmlformats.org/officeDocument/2006/relationships/oleObject" Target="file:///D:\BIT\NLP\EduBench\&#24037;&#20316;&#31807;1.xlsx" TargetMode="External"/></Relationships>
</file>

<file path=ppt/charts/_rels/chart15.xml.rels><?xml version="1.0" encoding="UTF-8" standalone="yes"?>
<Relationships xmlns="http://schemas.openxmlformats.org/package/2006/relationships"><Relationship Id="rId3" Type="http://schemas.microsoft.com/office/2011/relationships/chartColorStyle" Target="colors15.xml"/><Relationship Id="rId2" Type="http://schemas.microsoft.com/office/2011/relationships/chartStyle" Target="style15.xml"/><Relationship Id="rId1" Type="http://schemas.openxmlformats.org/officeDocument/2006/relationships/oleObject" Target="file:///D:\BIT\NLP\EduBench\&#24037;&#20316;&#31807;1.xlsx" TargetMode="External"/></Relationships>
</file>

<file path=ppt/charts/_rels/chart16.xml.rels><?xml version="1.0" encoding="UTF-8" standalone="yes"?>
<Relationships xmlns="http://schemas.openxmlformats.org/package/2006/relationships"><Relationship Id="rId3" Type="http://schemas.microsoft.com/office/2011/relationships/chartColorStyle" Target="colors16.xml"/><Relationship Id="rId2" Type="http://schemas.microsoft.com/office/2011/relationships/chartStyle" Target="style16.xml"/><Relationship Id="rId1" Type="http://schemas.openxmlformats.org/officeDocument/2006/relationships/oleObject" Target="file:///D:\BIT\NLP\EduBench\&#24037;&#20316;&#31807;1.xlsx" TargetMode="External"/></Relationships>
</file>

<file path=ppt/charts/_rels/chart17.xml.rels><?xml version="1.0" encoding="UTF-8" standalone="yes"?>
<Relationships xmlns="http://schemas.openxmlformats.org/package/2006/relationships"><Relationship Id="rId3" Type="http://schemas.microsoft.com/office/2011/relationships/chartColorStyle" Target="colors17.xml"/><Relationship Id="rId2" Type="http://schemas.microsoft.com/office/2011/relationships/chartStyle" Target="style17.xml"/><Relationship Id="rId1" Type="http://schemas.openxmlformats.org/officeDocument/2006/relationships/oleObject" Target="file:///D:\BIT\NLP\EduBench\&#24037;&#20316;&#31807;1.xlsx" TargetMode="External"/></Relationships>
</file>

<file path=ppt/charts/_rels/chart18.xml.rels><?xml version="1.0" encoding="UTF-8" standalone="yes"?>
<Relationships xmlns="http://schemas.openxmlformats.org/package/2006/relationships"><Relationship Id="rId3" Type="http://schemas.microsoft.com/office/2011/relationships/chartColorStyle" Target="colors18.xml"/><Relationship Id="rId2" Type="http://schemas.microsoft.com/office/2011/relationships/chartStyle" Target="style18.xml"/><Relationship Id="rId1" Type="http://schemas.openxmlformats.org/officeDocument/2006/relationships/oleObject" Target="file:///D:\BIT\NLP\EduBench\&#24037;&#20316;&#31807;1.xlsx" TargetMode="External"/></Relationships>
</file>

<file path=ppt/charts/_rels/chart19.xml.rels><?xml version="1.0" encoding="UTF-8" standalone="yes"?>
<Relationships xmlns="http://schemas.openxmlformats.org/package/2006/relationships"><Relationship Id="rId3" Type="http://schemas.microsoft.com/office/2011/relationships/chartColorStyle" Target="colors19.xml"/><Relationship Id="rId2" Type="http://schemas.microsoft.com/office/2011/relationships/chartStyle" Target="style19.xml"/><Relationship Id="rId1" Type="http://schemas.openxmlformats.org/officeDocument/2006/relationships/oleObject" Target="file:///D:\BIT\NLP\EduBench\&#24037;&#20316;&#31807;1.xlsx" TargetMode="External"/></Relationships>
</file>

<file path=ppt/charts/_rels/chart20.xml.rels><?xml version="1.0" encoding="UTF-8" standalone="yes"?>
<Relationships xmlns="http://schemas.openxmlformats.org/package/2006/relationships"><Relationship Id="rId3" Type="http://schemas.microsoft.com/office/2011/relationships/chartColorStyle" Target="colors20.xml"/><Relationship Id="rId2" Type="http://schemas.microsoft.com/office/2011/relationships/chartStyle" Target="style20.xml"/><Relationship Id="rId1" Type="http://schemas.openxmlformats.org/officeDocument/2006/relationships/oleObject" Target="file:///D:\BIT\NLP\EduBench\&#24037;&#20316;&#31807;1.xlsx" TargetMode="External"/></Relationships>
</file>

<file path=ppt/charts/_rels/chart21.xml.rels><?xml version="1.0" encoding="UTF-8" standalone="yes"?>
<Relationships xmlns="http://schemas.openxmlformats.org/package/2006/relationships"><Relationship Id="rId3" Type="http://schemas.microsoft.com/office/2011/relationships/chartColorStyle" Target="colors21.xml"/><Relationship Id="rId2" Type="http://schemas.microsoft.com/office/2011/relationships/chartStyle" Target="style21.xml"/><Relationship Id="rId1" Type="http://schemas.openxmlformats.org/officeDocument/2006/relationships/oleObject" Target="file:///D:\BIT\NLP\EduBench\&#24037;&#20316;&#31807;1.xlsx" TargetMode="External"/></Relationships>
</file>

<file path=ppt/charts/_rels/chart22.xml.rels><?xml version="1.0" encoding="UTF-8" standalone="yes"?>
<Relationships xmlns="http://schemas.openxmlformats.org/package/2006/relationships"><Relationship Id="rId3" Type="http://schemas.microsoft.com/office/2011/relationships/chartColorStyle" Target="colors22.xml"/><Relationship Id="rId2" Type="http://schemas.microsoft.com/office/2011/relationships/chartStyle" Target="style22.xml"/><Relationship Id="rId1" Type="http://schemas.openxmlformats.org/officeDocument/2006/relationships/oleObject" Target="file:///D:\BIT\NLP\EduBench\&#24037;&#20316;&#31807;1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1266846718492"/>
          <c:y val="0.0759539426142593"/>
          <c:w val="0.632234636807112"/>
          <c:h val="0.96914446002805"/>
        </c:manualLayout>
      </c:layout>
      <c:doughnutChart>
        <c:varyColors val="1"/>
        <c:ser>
          <c:idx val="0"/>
          <c:order val="0"/>
          <c:spPr>
            <a:ln w="38100">
              <a:solidFill>
                <a:schemeClr val="bg1">
                  <a:alpha val="0"/>
                </a:schemeClr>
              </a:solidFill>
            </a:ln>
            <a:effectLst>
              <a:glow rad="304800">
                <a:schemeClr val="accent6">
                  <a:lumMod val="20000"/>
                  <a:lumOff val="80000"/>
                  <a:alpha val="40000"/>
                </a:schemeClr>
              </a:glow>
              <a:outerShdw dist="50800" dir="5400000" sx="99000" sy="99000" algn="ctr" rotWithShape="0">
                <a:srgbClr val="000000">
                  <a:alpha val="56000"/>
                </a:srgbClr>
              </a:outerShdw>
            </a:effectLst>
          </c:spPr>
          <c:explosion val="2"/>
          <c:dPt>
            <c:idx val="0"/>
            <c:bubble3D val="0"/>
            <c:spPr>
              <a:solidFill>
                <a:srgbClr val="7CAFDE"/>
              </a:solidFill>
              <a:ln w="38100">
                <a:solidFill>
                  <a:schemeClr val="bg1">
                    <a:alpha val="0"/>
                  </a:schemeClr>
                </a:solidFill>
              </a:ln>
              <a:effectLst>
                <a:glow rad="304800">
                  <a:schemeClr val="accent6">
                    <a:lumMod val="20000"/>
                    <a:lumOff val="80000"/>
                    <a:alpha val="40000"/>
                  </a:schemeClr>
                </a:glow>
                <a:outerShdw dist="50800" dir="5400000" sx="99000" sy="99000" algn="ctr" rotWithShape="0">
                  <a:srgbClr val="000000">
                    <a:alpha val="56000"/>
                  </a:srgbClr>
                </a:outerShdw>
              </a:effectLst>
            </c:spPr>
          </c:dPt>
          <c:dPt>
            <c:idx val="1"/>
            <c:bubble3D val="0"/>
            <c:spPr>
              <a:solidFill>
                <a:srgbClr val="73C0DE"/>
              </a:solidFill>
              <a:ln w="38100">
                <a:solidFill>
                  <a:schemeClr val="bg1">
                    <a:alpha val="0"/>
                  </a:schemeClr>
                </a:solidFill>
              </a:ln>
              <a:effectLst>
                <a:glow rad="304800">
                  <a:schemeClr val="accent6">
                    <a:lumMod val="20000"/>
                    <a:lumOff val="80000"/>
                    <a:alpha val="40000"/>
                  </a:schemeClr>
                </a:glow>
                <a:outerShdw dist="50800" dir="5400000" sx="99000" sy="99000" algn="ctr" rotWithShape="0">
                  <a:srgbClr val="000000">
                    <a:alpha val="56000"/>
                  </a:srgbClr>
                </a:outerShdw>
              </a:effectLst>
            </c:spPr>
          </c:dPt>
          <c:dPt>
            <c:idx val="2"/>
            <c:bubble3D val="0"/>
            <c:spPr>
              <a:solidFill>
                <a:srgbClr val="9AD5EA"/>
              </a:solidFill>
              <a:ln w="38100">
                <a:solidFill>
                  <a:schemeClr val="bg1">
                    <a:alpha val="0"/>
                  </a:schemeClr>
                </a:solidFill>
              </a:ln>
              <a:effectLst>
                <a:glow rad="304800">
                  <a:schemeClr val="accent6">
                    <a:lumMod val="20000"/>
                    <a:lumOff val="80000"/>
                    <a:alpha val="40000"/>
                  </a:schemeClr>
                </a:glow>
                <a:outerShdw dist="50800" dir="5400000" sx="99000" sy="99000" algn="ctr" rotWithShape="0">
                  <a:srgbClr val="000000">
                    <a:alpha val="56000"/>
                  </a:srgbClr>
                </a:outerShdw>
              </a:effectLst>
            </c:spPr>
          </c:dPt>
          <c:dPt>
            <c:idx val="3"/>
            <c:bubble3D val="0"/>
            <c:spPr>
              <a:solidFill>
                <a:schemeClr val="accent5">
                  <a:lumMod val="40000"/>
                  <a:lumOff val="60000"/>
                </a:schemeClr>
              </a:solidFill>
              <a:ln w="38100">
                <a:solidFill>
                  <a:schemeClr val="bg1">
                    <a:alpha val="0"/>
                  </a:schemeClr>
                </a:solidFill>
              </a:ln>
              <a:effectLst>
                <a:glow rad="304800">
                  <a:schemeClr val="accent6">
                    <a:lumMod val="20000"/>
                    <a:lumOff val="80000"/>
                    <a:alpha val="40000"/>
                  </a:schemeClr>
                </a:glow>
                <a:outerShdw dist="50800" dir="5400000" sx="99000" sy="99000" algn="ctr" rotWithShape="0">
                  <a:srgbClr val="000000">
                    <a:alpha val="56000"/>
                  </a:srgbClr>
                </a:outerShdw>
              </a:effectLst>
            </c:spPr>
          </c:dPt>
          <c:dPt>
            <c:idx val="4"/>
            <c:bubble3D val="0"/>
            <c:spPr>
              <a:solidFill>
                <a:schemeClr val="accent5">
                  <a:lumMod val="20000"/>
                  <a:lumOff val="80000"/>
                </a:schemeClr>
              </a:solidFill>
              <a:ln w="38100">
                <a:solidFill>
                  <a:schemeClr val="bg1">
                    <a:alpha val="0"/>
                  </a:schemeClr>
                </a:solidFill>
              </a:ln>
              <a:effectLst>
                <a:glow rad="304800">
                  <a:schemeClr val="accent6">
                    <a:lumMod val="20000"/>
                    <a:lumOff val="80000"/>
                    <a:alpha val="40000"/>
                  </a:schemeClr>
                </a:glow>
                <a:outerShdw dist="50800" dir="5400000" sx="99000" sy="99000" algn="ctr" rotWithShape="0">
                  <a:srgbClr val="000000">
                    <a:alpha val="56000"/>
                  </a:srgbClr>
                </a:outerShdw>
              </a:effectLst>
            </c:spPr>
          </c:dPt>
          <c:dPt>
            <c:idx val="5"/>
            <c:bubble3D val="0"/>
            <c:spPr>
              <a:solidFill>
                <a:schemeClr val="accent6">
                  <a:lumMod val="20000"/>
                  <a:lumOff val="80000"/>
                </a:schemeClr>
              </a:solidFill>
              <a:ln w="38100">
                <a:solidFill>
                  <a:schemeClr val="bg1">
                    <a:alpha val="0"/>
                  </a:schemeClr>
                </a:solidFill>
              </a:ln>
              <a:effectLst>
                <a:glow rad="304800">
                  <a:schemeClr val="accent6">
                    <a:lumMod val="20000"/>
                    <a:lumOff val="80000"/>
                    <a:alpha val="40000"/>
                  </a:schemeClr>
                </a:glow>
                <a:outerShdw dist="50800" dir="5400000" sx="99000" sy="99000" algn="ctr" rotWithShape="0">
                  <a:srgbClr val="000000">
                    <a:alpha val="56000"/>
                  </a:srgbClr>
                </a:outerShdw>
              </a:effectLst>
            </c:spPr>
          </c:dPt>
          <c:dPt>
            <c:idx val="6"/>
            <c:bubble3D val="0"/>
            <c:spPr>
              <a:solidFill>
                <a:schemeClr val="accent6">
                  <a:lumMod val="40000"/>
                  <a:lumOff val="60000"/>
                </a:schemeClr>
              </a:solidFill>
              <a:ln w="38100">
                <a:solidFill>
                  <a:schemeClr val="bg1">
                    <a:alpha val="0"/>
                  </a:schemeClr>
                </a:solidFill>
              </a:ln>
              <a:effectLst>
                <a:glow rad="304800">
                  <a:schemeClr val="accent6">
                    <a:lumMod val="20000"/>
                    <a:lumOff val="80000"/>
                    <a:alpha val="40000"/>
                  </a:schemeClr>
                </a:glow>
                <a:outerShdw dist="50800" dir="5400000" sx="99000" sy="99000" algn="ctr" rotWithShape="0">
                  <a:srgbClr val="000000">
                    <a:alpha val="56000"/>
                  </a:srgbClr>
                </a:outerShdw>
              </a:effectLst>
            </c:spPr>
          </c:dPt>
          <c:dPt>
            <c:idx val="7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 w="38100">
                <a:solidFill>
                  <a:schemeClr val="bg1">
                    <a:alpha val="0"/>
                  </a:schemeClr>
                </a:solidFill>
              </a:ln>
              <a:effectLst>
                <a:glow rad="304800">
                  <a:schemeClr val="accent6">
                    <a:lumMod val="20000"/>
                    <a:lumOff val="80000"/>
                    <a:alpha val="40000"/>
                  </a:schemeClr>
                </a:glow>
                <a:outerShdw dist="50800" dir="5400000" sx="99000" sy="99000" algn="ctr" rotWithShape="0">
                  <a:srgbClr val="000000">
                    <a:alpha val="56000"/>
                  </a:srgbClr>
                </a:outerShdw>
              </a:effectLst>
            </c:spPr>
          </c:dPt>
          <c:dPt>
            <c:idx val="8"/>
            <c:bubble3D val="0"/>
            <c:spPr>
              <a:solidFill>
                <a:srgbClr val="70AD47"/>
              </a:solidFill>
              <a:ln w="38100">
                <a:solidFill>
                  <a:schemeClr val="bg1">
                    <a:alpha val="0"/>
                  </a:schemeClr>
                </a:solidFill>
              </a:ln>
              <a:effectLst>
                <a:glow rad="304800">
                  <a:schemeClr val="accent6">
                    <a:lumMod val="20000"/>
                    <a:lumOff val="80000"/>
                    <a:alpha val="40000"/>
                  </a:schemeClr>
                </a:glow>
                <a:outerShdw dist="50800" dir="5400000" sx="99000" sy="99000" algn="ctr" rotWithShape="0">
                  <a:srgbClr val="000000">
                    <a:alpha val="56000"/>
                  </a:srgbClr>
                </a:outerShdw>
              </a:effectLst>
            </c:spPr>
          </c:dPt>
          <c:dLbls>
            <c:delete val="1"/>
          </c:dLbls>
          <c:cat>
            <c:strRef>
              <c:f>Sheet1!$D$5:$D$13</c:f>
              <c:strCache>
                <c:ptCount val="9"/>
                <c:pt idx="0">
                  <c:v>Problem Solving</c:v>
                </c:pt>
                <c:pt idx="1">
                  <c:v>Error Correction</c:v>
                </c:pt>
                <c:pt idx="2">
                  <c:v>Question Answering</c:v>
                </c:pt>
                <c:pt idx="3">
                  <c:v>Personalized Learning Support</c:v>
                </c:pt>
                <c:pt idx="4">
                  <c:v>Emotional Support</c:v>
                </c:pt>
                <c:pt idx="5">
                  <c:v>Question Generation</c:v>
                </c:pt>
                <c:pt idx="6">
                  <c:v>Automatic Grading</c:v>
                </c:pt>
                <c:pt idx="7">
                  <c:v>Teaching Material Generation</c:v>
                </c:pt>
                <c:pt idx="8">
                  <c:v>Personalized Content Creation</c:v>
                </c:pt>
              </c:strCache>
            </c:strRef>
          </c:cat>
          <c:val>
            <c:numRef>
              <c:f>Sheet1!$E$5:$E$13</c:f>
              <c:numCache>
                <c:formatCode>General</c:formatCode>
                <c:ptCount val="9"/>
                <c:pt idx="0">
                  <c:v>2339</c:v>
                </c:pt>
                <c:pt idx="1">
                  <c:v>1660</c:v>
                </c:pt>
                <c:pt idx="2">
                  <c:v>2308</c:v>
                </c:pt>
                <c:pt idx="3">
                  <c:v>413</c:v>
                </c:pt>
                <c:pt idx="4">
                  <c:v>2401</c:v>
                </c:pt>
                <c:pt idx="5">
                  <c:v>2587</c:v>
                </c:pt>
                <c:pt idx="6">
                  <c:v>1960</c:v>
                </c:pt>
                <c:pt idx="7">
                  <c:v>2515</c:v>
                </c:pt>
                <c:pt idx="8">
                  <c:v>807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3"/>
      </c:doughnutChart>
      <c:spPr>
        <a:noFill/>
        <a:ln>
          <a:noFill/>
        </a:ln>
        <a:effectLst>
          <a:outerShdw blurRad="50800" dist="38100" sx="1000" sy="1000" algn="l" rotWithShape="0">
            <a:prstClr val="black"/>
          </a:outerShdw>
        </a:effectLst>
      </c:spPr>
    </c:plotArea>
    <c:plotVisOnly val="1"/>
    <c:dispBlanksAs val="gap"/>
    <c:showDLblsOverMax val="0"/>
    <c:extLst>
      <c:ext uri="{0b15fc19-7d7d-44ad-8c2d-2c3a37ce22c3}">
        <chartProps xmlns="https://web.wps.cn/et/2018/main" chartId="{b29d6c62-0c2d-4fde-85e0-473009a65b97}"/>
      </c:ext>
    </c:extLst>
  </c:chart>
  <c:spPr>
    <a:noFill/>
    <a:ln w="28575">
      <a:solidFill>
        <a:schemeClr val="bg1"/>
      </a:solidFill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solidFill>
              <a:srgbClr val="73C0DE"/>
            </a:solidFill>
          </c:spPr>
          <c:explosion val="0"/>
          <c:dPt>
            <c:idx val="0"/>
            <c:bubble3D val="0"/>
            <c:spPr>
              <a:solidFill>
                <a:srgbClr val="2E99C4"/>
              </a:solidFill>
              <a:ln w="25400">
                <a:solidFill>
                  <a:schemeClr val="bg1">
                    <a:alpha val="20000"/>
                  </a:schemeClr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73C0DE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rgbClr val="73C0DE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rgbClr val="73C0DE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rgbClr val="73C0DE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rgbClr val="91CB76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val>
            <c:numRef>
              <c:f>Sheet1!$C$5:$C$10</c:f>
              <c:numCache>
                <c:formatCode>General</c:formatCode>
                <c:ptCount val="6"/>
                <c:pt idx="0">
                  <c:v>9121</c:v>
                </c:pt>
                <c:pt idx="5">
                  <c:v>7869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7bfce7d0-872a-4547-91e9-a38634906597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89e1de4e-1867-48aa-aaea-af7c73cb0cc7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2531061335027"/>
          <c:y val="0.0303351278274338"/>
          <c:w val="0.798158057690154"/>
          <c:h val="0.970034602848021"/>
        </c:manualLayout>
      </c:layout>
      <c:doughnutChart>
        <c:varyColors val="1"/>
        <c:ser>
          <c:idx val="0"/>
          <c:order val="0"/>
          <c:spPr>
            <a:solidFill>
              <a:schemeClr val="accent6">
                <a:lumMod val="20000"/>
                <a:lumOff val="80000"/>
              </a:schemeClr>
            </a:solidFill>
          </c:spPr>
          <c:explosion val="3"/>
          <c:dPt>
            <c:idx val="0"/>
            <c:bubble3D val="0"/>
            <c:spPr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Sheet1!$AN$102:$AN$105</c:f>
              <c:strCache>
                <c:ptCount val="4"/>
                <c:pt idx="0">
                  <c:v>grade</c:v>
                </c:pt>
                <c:pt idx="1">
                  <c:v>question</c:v>
                </c:pt>
                <c:pt idx="2">
                  <c:v>language</c:v>
                </c:pt>
                <c:pt idx="3">
                  <c:v>difficulty</c:v>
                </c:pt>
              </c:strCache>
            </c:strRef>
          </c:cat>
          <c:val>
            <c:numRef>
              <c:f>Sheet1!$AO$102:$AO$105</c:f>
              <c:numCache>
                <c:formatCode>General</c:formatCode>
                <c:ptCount val="4"/>
                <c:pt idx="0">
                  <c:v>7</c:v>
                </c:pt>
                <c:pt idx="1">
                  <c:v>2.5</c:v>
                </c:pt>
                <c:pt idx="2">
                  <c:v>0.7</c:v>
                </c:pt>
                <c:pt idx="3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3a2a9156-2df4-4e66-b8bd-c539ed34ca0b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00484652634764439"/>
          <c:w val="1"/>
          <c:h val="0.969305269528878"/>
        </c:manualLayout>
      </c:layout>
      <c:doughnutChart>
        <c:varyColors val="1"/>
        <c:ser>
          <c:idx val="0"/>
          <c:order val="0"/>
          <c:spPr/>
          <c:explosion val="40"/>
          <c:dPt>
            <c:idx val="0"/>
            <c:bubble3D val="0"/>
            <c:spPr>
              <a:solidFill>
                <a:srgbClr val="F19E6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bg1">
                  <a:lumMod val="6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bg1">
                  <a:lumMod val="9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"/>
            <c:bubble3D val="0"/>
            <c:spPr>
              <a:solidFill>
                <a:srgbClr val="F19E6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9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0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1"/>
            <c:bubble3D val="0"/>
            <c:spPr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2"/>
            <c:bubble3D val="0"/>
            <c:spPr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3"/>
            <c:bubble3D val="0"/>
            <c:spPr>
              <a:solidFill>
                <a:schemeClr val="bg1">
                  <a:lumMod val="6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4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5"/>
            <c:bubble3D val="0"/>
            <c:spPr>
              <a:solidFill>
                <a:srgbClr val="F19E6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6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7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8"/>
            <c:bubble3D val="0"/>
            <c:spPr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9"/>
            <c:bubble3D val="0"/>
            <c:spPr>
              <a:solidFill>
                <a:srgbClr val="F19E6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0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1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2"/>
            <c:bubble3D val="0"/>
            <c:spPr>
              <a:solidFill>
                <a:schemeClr val="bg1">
                  <a:lumMod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3"/>
            <c:bubble3D val="0"/>
            <c:spPr>
              <a:solidFill>
                <a:schemeClr val="bg1">
                  <a:lumMod val="9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4"/>
            <c:bubble3D val="0"/>
            <c:spPr>
              <a:solidFill>
                <a:srgbClr val="F19E6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5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6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7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8"/>
            <c:bubble3D val="0"/>
            <c:spPr>
              <a:solidFill>
                <a:schemeClr val="bg1">
                  <a:lumMod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9"/>
            <c:bubble3D val="0"/>
            <c:spPr>
              <a:solidFill>
                <a:srgbClr val="F19E6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0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1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2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3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4"/>
            <c:bubble3D val="0"/>
            <c:spPr>
              <a:solidFill>
                <a:schemeClr val="bg1">
                  <a:lumMod val="6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5"/>
            <c:bubble3D val="0"/>
            <c:spPr>
              <a:solidFill>
                <a:schemeClr val="bg1">
                  <a:lumMod val="9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6"/>
            <c:bubble3D val="0"/>
            <c:spPr>
              <a:solidFill>
                <a:srgbClr val="F19E6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7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8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9"/>
            <c:bubble3D val="0"/>
            <c:spPr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0"/>
            <c:bubble3D val="0"/>
            <c:spPr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1"/>
            <c:bubble3D val="0"/>
            <c:spPr>
              <a:solidFill>
                <a:schemeClr val="bg1">
                  <a:lumMod val="6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2"/>
            <c:bubble3D val="0"/>
            <c:spPr>
              <a:solidFill>
                <a:srgbClr val="F19E6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3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4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5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6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7"/>
            <c:bubble3D val="0"/>
            <c:spPr>
              <a:solidFill>
                <a:schemeClr val="bg1">
                  <a:lumMod val="6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8"/>
            <c:bubble3D val="0"/>
            <c:spPr>
              <a:solidFill>
                <a:schemeClr val="bg1">
                  <a:lumMod val="9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9"/>
            <c:bubble3D val="0"/>
            <c:spPr>
              <a:solidFill>
                <a:srgbClr val="F19E6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1"/>
            <c:bubble3D val="0"/>
            <c:spPr>
              <a:solidFill>
                <a:schemeClr val="accent4">
                  <a:lumMod val="50000"/>
                  <a:lumOff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Sheet1!$AQ$9:$AQ$60</c:f>
              <c:strCache>
                <c:ptCount val="52"/>
                <c:pt idx="0">
                  <c:v>Instruction Following &amp; Task Completion</c:v>
                </c:pt>
                <c:pt idx="1">
                  <c:v>Content Relevance &amp; Scope Control</c:v>
                </c:pt>
                <c:pt idx="2">
                  <c:v>Scenario Element Integration</c:v>
                </c:pt>
                <c:pt idx="3">
                  <c:v>Basic Factual Accuracy</c:v>
                </c:pt>
                <c:pt idx="4">
                  <c:v>Domain Knowledge Accuracy</c:v>
                </c:pt>
                <c:pt idx="5">
                  <c:v>Reasoning Process Rigor</c:v>
                </c:pt>
                <c:pt idx="6">
                  <c:v>Clarity, Simplicity &amp; Inspiration</c:v>
                </c:pt>
                <c:pt idx="7">
                  <c:v>Higher-Order Thinking &amp; Skill Development</c:v>
                </c:pt>
                <c:pt idx="8">
                  <c:v>Instruction Following &amp; Task Completion</c:v>
                </c:pt>
                <c:pt idx="9">
                  <c:v>Scenario Element Integration</c:v>
                </c:pt>
                <c:pt idx="10">
                  <c:v>Basic Factual Accuracy</c:v>
                </c:pt>
                <c:pt idx="11">
                  <c:v>Reasoning Process Rigor</c:v>
                </c:pt>
                <c:pt idx="12">
                  <c:v>Error Identification &amp; Correction Precision</c:v>
                </c:pt>
                <c:pt idx="13">
                  <c:v>Clarity, Simplicity &amp; Inspiration</c:v>
                </c:pt>
                <c:pt idx="14">
                  <c:v>Motivation, Guidance &amp; Positive Feedback</c:v>
                </c:pt>
                <c:pt idx="15">
                  <c:v>Instruction Following &amp; Task Completion</c:v>
                </c:pt>
                <c:pt idx="16">
                  <c:v>Content Relevance &amp; Scope Control</c:v>
                </c:pt>
                <c:pt idx="17">
                  <c:v>Basic Factual Accuracy</c:v>
                </c:pt>
                <c:pt idx="18">
                  <c:v>Reasoning Process Rigor</c:v>
                </c:pt>
                <c:pt idx="19">
                  <c:v>Instruction Following &amp; Task Completion</c:v>
                </c:pt>
                <c:pt idx="20">
                  <c:v>Role &amp; Tone Consistency</c:v>
                </c:pt>
                <c:pt idx="21">
                  <c:v>Scenario Element Integration</c:v>
                </c:pt>
                <c:pt idx="22">
                  <c:v>Personalization, Adaptation &amp; Learning Support</c:v>
                </c:pt>
                <c:pt idx="23">
                  <c:v>Higher-Order Thinking &amp; Skill Development</c:v>
                </c:pt>
                <c:pt idx="24">
                  <c:v>Instruction Following &amp; Task Completion</c:v>
                </c:pt>
                <c:pt idx="25">
                  <c:v>Role &amp; Tone Consistency</c:v>
                </c:pt>
                <c:pt idx="26">
                  <c:v>Scenario Element Integration</c:v>
                </c:pt>
                <c:pt idx="27">
                  <c:v>Motivation, Guidance &amp; Positive Feedback</c:v>
                </c:pt>
                <c:pt idx="28">
                  <c:v>Personalization, Adaptation &amp; Learning Support</c:v>
                </c:pt>
                <c:pt idx="29">
                  <c:v>Instruction Following &amp; Task Completion</c:v>
                </c:pt>
                <c:pt idx="30">
                  <c:v>Content Relevance &amp; Scope Control</c:v>
                </c:pt>
                <c:pt idx="31">
                  <c:v>Scenario Element Integration</c:v>
                </c:pt>
                <c:pt idx="32">
                  <c:v>Basic Factual Accuracy</c:v>
                </c:pt>
                <c:pt idx="33">
                  <c:v>Domain Knowledge Accuracy</c:v>
                </c:pt>
                <c:pt idx="34">
                  <c:v>Clarity, Simplicity &amp; Inspiration</c:v>
                </c:pt>
                <c:pt idx="35">
                  <c:v>Higher-Order Thinking &amp; Skill Development</c:v>
                </c:pt>
                <c:pt idx="36">
                  <c:v>Instruction Following &amp; Task Completion</c:v>
                </c:pt>
                <c:pt idx="37">
                  <c:v>Content Relevance &amp; Scope Control</c:v>
                </c:pt>
                <c:pt idx="38">
                  <c:v>Basic Factual Accuracy</c:v>
                </c:pt>
                <c:pt idx="39">
                  <c:v>Reasoning Process Rigor</c:v>
                </c:pt>
                <c:pt idx="40">
                  <c:v>Error Identification &amp; Correction Precision</c:v>
                </c:pt>
                <c:pt idx="41">
                  <c:v>Motivation, Guidance &amp; Positive Feedback</c:v>
                </c:pt>
                <c:pt idx="42">
                  <c:v>Instruction Following &amp; Task Completion</c:v>
                </c:pt>
                <c:pt idx="43">
                  <c:v>Role &amp; Tone Consistency</c:v>
                </c:pt>
                <c:pt idx="44">
                  <c:v>Content Relevance &amp; Scope Control</c:v>
                </c:pt>
                <c:pt idx="45">
                  <c:v>Basic Factual Accuracy</c:v>
                </c:pt>
                <c:pt idx="46">
                  <c:v>Domain Knowledge Accuracy</c:v>
                </c:pt>
                <c:pt idx="47">
                  <c:v>Clarity, Simplicity &amp; Inspiration</c:v>
                </c:pt>
                <c:pt idx="48">
                  <c:v>Higher-Order Thinking &amp; Skill Development</c:v>
                </c:pt>
                <c:pt idx="49">
                  <c:v>Instruction Following &amp; Task Completion</c:v>
                </c:pt>
                <c:pt idx="50">
                  <c:v>Scenario Element Integration</c:v>
                </c:pt>
                <c:pt idx="51">
                  <c:v>Personalization, Adaptation &amp; Learning Support</c:v>
                </c:pt>
              </c:strCache>
            </c:strRef>
          </c:cat>
          <c:val>
            <c:numRef>
              <c:f>Sheet1!$AR$9:$AR$60</c:f>
              <c:numCache>
                <c:formatCode>General</c:formatCode>
                <c:ptCount val="52"/>
                <c:pt idx="0">
                  <c:v>292.375</c:v>
                </c:pt>
                <c:pt idx="1">
                  <c:v>292.375</c:v>
                </c:pt>
                <c:pt idx="2">
                  <c:v>292.375</c:v>
                </c:pt>
                <c:pt idx="3">
                  <c:v>292.375</c:v>
                </c:pt>
                <c:pt idx="4">
                  <c:v>292.375</c:v>
                </c:pt>
                <c:pt idx="5">
                  <c:v>292.375</c:v>
                </c:pt>
                <c:pt idx="6">
                  <c:v>292.375</c:v>
                </c:pt>
                <c:pt idx="7">
                  <c:v>292.375</c:v>
                </c:pt>
                <c:pt idx="8">
                  <c:v>237.142857142857</c:v>
                </c:pt>
                <c:pt idx="9">
                  <c:v>237.142857142857</c:v>
                </c:pt>
                <c:pt idx="10">
                  <c:v>237.1429</c:v>
                </c:pt>
                <c:pt idx="11">
                  <c:v>237.1429</c:v>
                </c:pt>
                <c:pt idx="12">
                  <c:v>237.1429</c:v>
                </c:pt>
                <c:pt idx="13">
                  <c:v>237.1429</c:v>
                </c:pt>
                <c:pt idx="14">
                  <c:v>237.1429</c:v>
                </c:pt>
                <c:pt idx="15">
                  <c:v>577</c:v>
                </c:pt>
                <c:pt idx="16">
                  <c:v>577</c:v>
                </c:pt>
                <c:pt idx="17">
                  <c:v>577</c:v>
                </c:pt>
                <c:pt idx="18">
                  <c:v>577</c:v>
                </c:pt>
                <c:pt idx="19">
                  <c:v>197</c:v>
                </c:pt>
                <c:pt idx="20">
                  <c:v>197</c:v>
                </c:pt>
                <c:pt idx="21">
                  <c:v>197</c:v>
                </c:pt>
                <c:pt idx="22">
                  <c:v>197</c:v>
                </c:pt>
                <c:pt idx="23">
                  <c:v>197</c:v>
                </c:pt>
                <c:pt idx="24">
                  <c:v>480.2</c:v>
                </c:pt>
                <c:pt idx="25">
                  <c:v>480.2</c:v>
                </c:pt>
                <c:pt idx="26">
                  <c:v>480.2</c:v>
                </c:pt>
                <c:pt idx="27">
                  <c:v>480.2</c:v>
                </c:pt>
                <c:pt idx="28">
                  <c:v>480.2</c:v>
                </c:pt>
                <c:pt idx="29">
                  <c:v>369.571428571429</c:v>
                </c:pt>
                <c:pt idx="30">
                  <c:v>369.571428571429</c:v>
                </c:pt>
                <c:pt idx="31">
                  <c:v>369.571428571429</c:v>
                </c:pt>
                <c:pt idx="32">
                  <c:v>369.571428571429</c:v>
                </c:pt>
                <c:pt idx="33">
                  <c:v>369.571428571429</c:v>
                </c:pt>
                <c:pt idx="34">
                  <c:v>369.571428571429</c:v>
                </c:pt>
                <c:pt idx="35">
                  <c:v>369.571428571429</c:v>
                </c:pt>
                <c:pt idx="36">
                  <c:v>326.666666666667</c:v>
                </c:pt>
                <c:pt idx="37">
                  <c:v>326.6667</c:v>
                </c:pt>
                <c:pt idx="38">
                  <c:v>326.6667</c:v>
                </c:pt>
                <c:pt idx="39">
                  <c:v>326.6667</c:v>
                </c:pt>
                <c:pt idx="40">
                  <c:v>326.6667</c:v>
                </c:pt>
                <c:pt idx="41">
                  <c:v>326.6667</c:v>
                </c:pt>
                <c:pt idx="42">
                  <c:v>359.285714285714</c:v>
                </c:pt>
                <c:pt idx="43">
                  <c:v>359.285714285714</c:v>
                </c:pt>
                <c:pt idx="44">
                  <c:v>359.285714285714</c:v>
                </c:pt>
                <c:pt idx="45">
                  <c:v>359.285714285714</c:v>
                </c:pt>
                <c:pt idx="46">
                  <c:v>359.285714285714</c:v>
                </c:pt>
                <c:pt idx="47">
                  <c:v>359.285714285714</c:v>
                </c:pt>
                <c:pt idx="48">
                  <c:v>359.285714285714</c:v>
                </c:pt>
                <c:pt idx="49">
                  <c:v>301</c:v>
                </c:pt>
                <c:pt idx="50">
                  <c:v>301</c:v>
                </c:pt>
                <c:pt idx="51">
                  <c:v>301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d845eea2-7fa9-4409-8944-0dd425e85416}"/>
      </c:ext>
    </c:extLst>
  </c:chart>
  <c:spPr>
    <a:noFill/>
    <a:ln>
      <a:noFill/>
    </a:ln>
    <a:effectLst/>
  </c:spPr>
  <c:txPr>
    <a:bodyPr/>
    <a:lstStyle/>
    <a:p>
      <a:pPr>
        <a:defRPr lang="zh-CN" sz="1200">
          <a:latin typeface="Arial" panose="020B0604020202020204" pitchFamily="34" charset="0"/>
          <a:cs typeface="Arial" panose="020B0604020202020204" pitchFamily="34" charset="0"/>
        </a:defRPr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1666666666667"/>
          <c:y val="0.0324074074074074"/>
          <c:w val="0.538888888888889"/>
          <c:h val="0.898148148148148"/>
        </c:manualLayout>
      </c:layout>
      <c:doughnutChart>
        <c:varyColors val="1"/>
        <c:ser>
          <c:idx val="0"/>
          <c:order val="0"/>
          <c:spPr/>
          <c:explosion val="5"/>
          <c:dPt>
            <c:idx val="0"/>
            <c:bubble3D val="0"/>
            <c:spPr>
              <a:solidFill>
                <a:schemeClr val="accent6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rgbClr val="92D050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rgbClr val="87BF6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"/>
            <c:bubble3D val="0"/>
            <c:spPr>
              <a:solidFill>
                <a:srgbClr val="73B248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0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2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3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4"/>
            <c:bubble3D val="0"/>
            <c:spPr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5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6"/>
            <c:bubble3D val="0"/>
            <c:spPr>
              <a:solidFill>
                <a:schemeClr val="accent5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Sheet1!$AG$9:$AG$25</c:f>
              <c:strCache>
                <c:ptCount val="17"/>
                <c:pt idx="0">
                  <c:v>Problem Solving</c:v>
                </c:pt>
                <c:pt idx="2">
                  <c:v>Error Correction</c:v>
                </c:pt>
                <c:pt idx="4">
                  <c:v>Question Answering</c:v>
                </c:pt>
                <c:pt idx="6">
                  <c:v>Personalized Learning Support</c:v>
                </c:pt>
                <c:pt idx="8">
                  <c:v>Emotional Support</c:v>
                </c:pt>
                <c:pt idx="10">
                  <c:v>Question Generation</c:v>
                </c:pt>
                <c:pt idx="12">
                  <c:v>Automatic Grading</c:v>
                </c:pt>
                <c:pt idx="14">
                  <c:v>Teaching Material Generation</c:v>
                </c:pt>
                <c:pt idx="16">
                  <c:v>Personalized Content Creation</c:v>
                </c:pt>
              </c:strCache>
            </c:strRef>
          </c:cat>
          <c:val>
            <c:numRef>
              <c:f>Sheet1!$AH$9:$AH$25</c:f>
              <c:numCache>
                <c:formatCode>General</c:formatCode>
                <c:ptCount val="17"/>
                <c:pt idx="0">
                  <c:v>2339</c:v>
                </c:pt>
                <c:pt idx="2">
                  <c:v>1660</c:v>
                </c:pt>
                <c:pt idx="4">
                  <c:v>2308</c:v>
                </c:pt>
                <c:pt idx="6">
                  <c:v>985</c:v>
                </c:pt>
                <c:pt idx="8">
                  <c:v>2401</c:v>
                </c:pt>
                <c:pt idx="10">
                  <c:v>2587</c:v>
                </c:pt>
                <c:pt idx="12">
                  <c:v>1960</c:v>
                </c:pt>
                <c:pt idx="14">
                  <c:v>2515</c:v>
                </c:pt>
                <c:pt idx="16">
                  <c:v>903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39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013610cd-962e-4e1b-8355-a613390c86fd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/>
          <c:explosion val="0"/>
          <c:dPt>
            <c:idx val="0"/>
            <c:bubble3D val="0"/>
            <c:spPr>
              <a:solidFill>
                <a:schemeClr val="accent6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val>
            <c:numRef>
              <c:f>Sheet1!$AF$9:$AF$19</c:f>
              <c:numCache>
                <c:formatCode>General</c:formatCode>
                <c:ptCount val="11"/>
                <c:pt idx="0">
                  <c:v>9693</c:v>
                </c:pt>
                <c:pt idx="10">
                  <c:v>7965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5a1b94cb-f449-43b5-bd24-82c1e26f3f68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73f62891-4613-4aa7-88f0-0e58f6aa2ebb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2531061335027"/>
          <c:y val="0.0303351278274338"/>
          <c:w val="0.798158057690154"/>
          <c:h val="0.970034602848021"/>
        </c:manualLayout>
      </c:layout>
      <c:doughnutChart>
        <c:varyColors val="1"/>
        <c:ser>
          <c:idx val="0"/>
          <c:order val="0"/>
          <c:spPr>
            <a:solidFill>
              <a:schemeClr val="accent6">
                <a:lumMod val="20000"/>
                <a:lumOff val="80000"/>
              </a:schemeClr>
            </a:solidFill>
          </c:spPr>
          <c:explosion val="3"/>
          <c:dPt>
            <c:idx val="0"/>
            <c:bubble3D val="0"/>
            <c:spPr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Sheet1!$AN$102:$AN$105</c:f>
              <c:strCache>
                <c:ptCount val="4"/>
                <c:pt idx="0">
                  <c:v>grade</c:v>
                </c:pt>
                <c:pt idx="1">
                  <c:v>question</c:v>
                </c:pt>
                <c:pt idx="2">
                  <c:v>language</c:v>
                </c:pt>
                <c:pt idx="3">
                  <c:v>difficulty</c:v>
                </c:pt>
              </c:strCache>
            </c:strRef>
          </c:cat>
          <c:val>
            <c:numRef>
              <c:f>Sheet1!$AO$102:$AO$105</c:f>
              <c:numCache>
                <c:formatCode>General</c:formatCode>
                <c:ptCount val="4"/>
                <c:pt idx="0">
                  <c:v>7</c:v>
                </c:pt>
                <c:pt idx="1">
                  <c:v>2.5</c:v>
                </c:pt>
                <c:pt idx="2">
                  <c:v>0.7</c:v>
                </c:pt>
                <c:pt idx="3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1a446920-e1a7-4fd5-ad4a-44d191c24ed3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/>
          <c:explosion val="0"/>
          <c:dPt>
            <c:idx val="0"/>
            <c:bubble3D val="0"/>
            <c:spPr>
              <a:solidFill>
                <a:schemeClr val="accent6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val>
            <c:numRef>
              <c:f>Sheet1!$AF$9:$AF$19</c:f>
              <c:numCache>
                <c:formatCode>General</c:formatCode>
                <c:ptCount val="11"/>
                <c:pt idx="0">
                  <c:v>9693</c:v>
                </c:pt>
                <c:pt idx="10">
                  <c:v>7965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5a1b94cb-f449-43b5-bd24-82c1e26f3f68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1666666666667"/>
          <c:y val="0.0324074074074074"/>
          <c:w val="0.538888888888889"/>
          <c:h val="0.898148148148148"/>
        </c:manualLayout>
      </c:layout>
      <c:doughnutChart>
        <c:varyColors val="1"/>
        <c:ser>
          <c:idx val="0"/>
          <c:order val="0"/>
          <c:spPr/>
          <c:explosion val="7"/>
          <c:dPt>
            <c:idx val="0"/>
            <c:bubble3D val="0"/>
            <c:spPr>
              <a:solidFill>
                <a:srgbClr val="C5E0B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rgbClr val="A9D18E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rgbClr val="92D050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rgbClr val="87BF6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"/>
            <c:bubble3D val="0"/>
            <c:spPr>
              <a:solidFill>
                <a:srgbClr val="70AD47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0"/>
            <c:bubble3D val="0"/>
            <c:spPr>
              <a:solidFill>
                <a:srgbClr val="5B9BD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2"/>
            <c:bubble3D val="0"/>
            <c:spPr>
              <a:solidFill>
                <a:srgbClr val="9DC3E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3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4"/>
            <c:bubble3D val="0"/>
            <c:spPr>
              <a:solidFill>
                <a:srgbClr val="BDD7EE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5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6"/>
            <c:bubble3D val="0"/>
            <c:spPr>
              <a:solidFill>
                <a:srgbClr val="DEEBF7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Sheet1!$AG$9:$AG$25</c:f>
              <c:strCache>
                <c:ptCount val="17"/>
                <c:pt idx="0">
                  <c:v>Problem Solving</c:v>
                </c:pt>
                <c:pt idx="2">
                  <c:v>Error Correction</c:v>
                </c:pt>
                <c:pt idx="4">
                  <c:v>Question Answering</c:v>
                </c:pt>
                <c:pt idx="6">
                  <c:v>Personalized Learning Support</c:v>
                </c:pt>
                <c:pt idx="8">
                  <c:v>Emotional Support</c:v>
                </c:pt>
                <c:pt idx="10">
                  <c:v>Question Generation</c:v>
                </c:pt>
                <c:pt idx="12">
                  <c:v>Automatic Grading</c:v>
                </c:pt>
                <c:pt idx="14">
                  <c:v>Teaching Material Generation</c:v>
                </c:pt>
                <c:pt idx="16">
                  <c:v>Personalized Content Creation</c:v>
                </c:pt>
              </c:strCache>
            </c:strRef>
          </c:cat>
          <c:val>
            <c:numRef>
              <c:f>Sheet1!$AH$9:$AH$25</c:f>
              <c:numCache>
                <c:formatCode>General</c:formatCode>
                <c:ptCount val="17"/>
                <c:pt idx="0">
                  <c:v>2339</c:v>
                </c:pt>
                <c:pt idx="2">
                  <c:v>1660</c:v>
                </c:pt>
                <c:pt idx="4">
                  <c:v>2308</c:v>
                </c:pt>
                <c:pt idx="6">
                  <c:v>1822</c:v>
                </c:pt>
                <c:pt idx="8">
                  <c:v>2401</c:v>
                </c:pt>
                <c:pt idx="10">
                  <c:v>2587</c:v>
                </c:pt>
                <c:pt idx="12">
                  <c:v>1960</c:v>
                </c:pt>
                <c:pt idx="14">
                  <c:v>2515</c:v>
                </c:pt>
                <c:pt idx="16">
                  <c:v>1794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39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013610cd-962e-4e1b-8355-a613390c86fd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717353853221546"/>
          <c:y val="0.034052427471868"/>
          <c:w val="0.805718224820204"/>
          <c:h val="0.965947572528132"/>
        </c:manualLayout>
      </c:layout>
      <c:doughnutChart>
        <c:varyColors val="1"/>
        <c:ser>
          <c:idx val="0"/>
          <c:order val="0"/>
          <c:spPr/>
          <c:explosion val="43"/>
          <c:dPt>
            <c:idx val="0"/>
            <c:bubble3D val="0"/>
            <c:spPr>
              <a:solidFill>
                <a:srgbClr val="F19E6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rgbClr val="BCBCBC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bg1">
                  <a:lumMod val="9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"/>
            <c:bubble3D val="0"/>
            <c:spPr>
              <a:solidFill>
                <a:srgbClr val="F19E6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9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0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1"/>
            <c:bubble3D val="0"/>
            <c:spPr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2"/>
            <c:bubble3D val="0"/>
            <c:spPr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3"/>
            <c:bubble3D val="0"/>
            <c:spPr>
              <a:solidFill>
                <a:srgbClr val="BCBCBC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4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5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6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7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8"/>
            <c:bubble3D val="0"/>
            <c:spPr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9"/>
            <c:bubble3D val="0"/>
            <c:spPr>
              <a:solidFill>
                <a:srgbClr val="F19E6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0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1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2"/>
            <c:bubble3D val="0"/>
            <c:spPr>
              <a:solidFill>
                <a:schemeClr val="bg1">
                  <a:lumMod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3"/>
            <c:bubble3D val="0"/>
            <c:spPr>
              <a:solidFill>
                <a:schemeClr val="bg1">
                  <a:lumMod val="9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4"/>
            <c:bubble3D val="0"/>
            <c:spPr>
              <a:solidFill>
                <a:srgbClr val="F19E6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5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6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7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8"/>
            <c:bubble3D val="0"/>
            <c:spPr>
              <a:solidFill>
                <a:schemeClr val="bg1">
                  <a:lumMod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9"/>
            <c:bubble3D val="0"/>
            <c:spPr>
              <a:solidFill>
                <a:srgbClr val="F19E6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0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1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2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3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4"/>
            <c:bubble3D val="0"/>
            <c:spPr>
              <a:solidFill>
                <a:srgbClr val="C8C8C8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5"/>
            <c:bubble3D val="0"/>
            <c:spPr>
              <a:solidFill>
                <a:schemeClr val="bg1">
                  <a:lumMod val="9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6"/>
            <c:bubble3D val="0"/>
            <c:spPr>
              <a:solidFill>
                <a:srgbClr val="F19E6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7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8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9"/>
            <c:bubble3D val="0"/>
            <c:spPr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0"/>
            <c:bubble3D val="0"/>
            <c:spPr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1"/>
            <c:bubble3D val="0"/>
            <c:spPr>
              <a:solidFill>
                <a:srgbClr val="BCBCBC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2"/>
            <c:bubble3D val="0"/>
            <c:spPr>
              <a:solidFill>
                <a:srgbClr val="F19E6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3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4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5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6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7"/>
            <c:bubble3D val="0"/>
            <c:spPr>
              <a:solidFill>
                <a:srgbClr val="BCBCBC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8"/>
            <c:bubble3D val="0"/>
            <c:spPr>
              <a:solidFill>
                <a:schemeClr val="bg1">
                  <a:lumMod val="9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9"/>
            <c:bubble3D val="0"/>
            <c:spPr>
              <a:solidFill>
                <a:srgbClr val="F19E6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1"/>
            <c:bubble3D val="0"/>
            <c:spPr>
              <a:solidFill>
                <a:schemeClr val="accent4">
                  <a:lumMod val="50000"/>
                  <a:lumOff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Sheet1!$AQ$9:$AQ$60</c:f>
              <c:strCache>
                <c:ptCount val="52"/>
                <c:pt idx="0">
                  <c:v>Instruction Following &amp; Task Completion</c:v>
                </c:pt>
                <c:pt idx="1">
                  <c:v>Content Relevance &amp; Scope Control</c:v>
                </c:pt>
                <c:pt idx="2">
                  <c:v>Scenario Element Integration</c:v>
                </c:pt>
                <c:pt idx="3">
                  <c:v>Basic Factual Accuracy</c:v>
                </c:pt>
                <c:pt idx="4">
                  <c:v>Domain Knowledge Accuracy</c:v>
                </c:pt>
                <c:pt idx="5">
                  <c:v>Reasoning Process Rigor</c:v>
                </c:pt>
                <c:pt idx="6">
                  <c:v>Clarity, Simplicity &amp; Inspiration</c:v>
                </c:pt>
                <c:pt idx="7">
                  <c:v>Higher-Order Thinking &amp; Skill Development</c:v>
                </c:pt>
                <c:pt idx="8">
                  <c:v>Instruction Following &amp; Task Completion</c:v>
                </c:pt>
                <c:pt idx="9">
                  <c:v>Scenario Element Integration</c:v>
                </c:pt>
                <c:pt idx="10">
                  <c:v>Basic Factual Accuracy</c:v>
                </c:pt>
                <c:pt idx="11">
                  <c:v>Reasoning Process Rigor</c:v>
                </c:pt>
                <c:pt idx="12">
                  <c:v>Error Identification &amp; Correction Precision</c:v>
                </c:pt>
                <c:pt idx="13">
                  <c:v>Clarity, Simplicity &amp; Inspiration</c:v>
                </c:pt>
                <c:pt idx="14">
                  <c:v>Motivation, Guidance &amp; Positive Feedback</c:v>
                </c:pt>
                <c:pt idx="15">
                  <c:v>Instruction Following &amp; Task Completion</c:v>
                </c:pt>
                <c:pt idx="16">
                  <c:v>Content Relevance &amp; Scope Control</c:v>
                </c:pt>
                <c:pt idx="17">
                  <c:v>Basic Factual Accuracy</c:v>
                </c:pt>
                <c:pt idx="18">
                  <c:v>Reasoning Process Rigor</c:v>
                </c:pt>
                <c:pt idx="19">
                  <c:v>Instruction Following &amp; Task Completion</c:v>
                </c:pt>
                <c:pt idx="20">
                  <c:v>Role &amp; Tone Consistency</c:v>
                </c:pt>
                <c:pt idx="21">
                  <c:v>Scenario Element Integration</c:v>
                </c:pt>
                <c:pt idx="22">
                  <c:v>Personalization, Adaptation &amp; Learning Support</c:v>
                </c:pt>
                <c:pt idx="23">
                  <c:v>Higher-Order Thinking &amp; Skill Development</c:v>
                </c:pt>
                <c:pt idx="24">
                  <c:v>Instruction Following &amp; Task Completion</c:v>
                </c:pt>
                <c:pt idx="25">
                  <c:v>Role &amp; Tone Consistency</c:v>
                </c:pt>
                <c:pt idx="26">
                  <c:v>Scenario Element Integration</c:v>
                </c:pt>
                <c:pt idx="27">
                  <c:v>Motivation, Guidance &amp; Positive Feedback</c:v>
                </c:pt>
                <c:pt idx="28">
                  <c:v>Personalization, Adaptation &amp; Learning Support</c:v>
                </c:pt>
                <c:pt idx="29">
                  <c:v>Instruction Following &amp; Task Completion</c:v>
                </c:pt>
                <c:pt idx="30">
                  <c:v>Content Relevance &amp; Scope Control</c:v>
                </c:pt>
                <c:pt idx="31">
                  <c:v>Scenario Element Integration</c:v>
                </c:pt>
                <c:pt idx="32">
                  <c:v>Basic Factual Accuracy</c:v>
                </c:pt>
                <c:pt idx="33">
                  <c:v>Domain Knowledge Accuracy</c:v>
                </c:pt>
                <c:pt idx="34">
                  <c:v>Clarity, Simplicity &amp; Inspiration</c:v>
                </c:pt>
                <c:pt idx="35">
                  <c:v>Higher-Order Thinking &amp; Skill Development</c:v>
                </c:pt>
                <c:pt idx="36">
                  <c:v>Instruction Following &amp; Task Completion</c:v>
                </c:pt>
                <c:pt idx="37">
                  <c:v>Content Relevance &amp; Scope Control</c:v>
                </c:pt>
                <c:pt idx="38">
                  <c:v>Basic Factual Accuracy</c:v>
                </c:pt>
                <c:pt idx="39">
                  <c:v>Reasoning Process Rigor</c:v>
                </c:pt>
                <c:pt idx="40">
                  <c:v>Error Identification &amp; Correction Precision</c:v>
                </c:pt>
                <c:pt idx="41">
                  <c:v>Motivation, Guidance &amp; Positive Feedback</c:v>
                </c:pt>
                <c:pt idx="42">
                  <c:v>Instruction Following &amp; Task Completion</c:v>
                </c:pt>
                <c:pt idx="43">
                  <c:v>Role &amp; Tone Consistency</c:v>
                </c:pt>
                <c:pt idx="44">
                  <c:v>Content Relevance &amp; Scope Control</c:v>
                </c:pt>
                <c:pt idx="45">
                  <c:v>Basic Factual Accuracy</c:v>
                </c:pt>
                <c:pt idx="46">
                  <c:v>Domain Knowledge Accuracy</c:v>
                </c:pt>
                <c:pt idx="47">
                  <c:v>Clarity, Simplicity &amp; Inspiration</c:v>
                </c:pt>
                <c:pt idx="48">
                  <c:v>Higher-Order Thinking &amp; Skill Development</c:v>
                </c:pt>
                <c:pt idx="49">
                  <c:v>Instruction Following &amp; Task Completion</c:v>
                </c:pt>
                <c:pt idx="50">
                  <c:v>Scenario Element Integration</c:v>
                </c:pt>
                <c:pt idx="51">
                  <c:v>Personalization, Adaptation &amp; Learning Support</c:v>
                </c:pt>
              </c:strCache>
            </c:strRef>
          </c:cat>
          <c:val>
            <c:numRef>
              <c:f>Sheet1!$AR$9:$AR$60</c:f>
              <c:numCache>
                <c:formatCode>General</c:formatCode>
                <c:ptCount val="52"/>
                <c:pt idx="0">
                  <c:v>292.375</c:v>
                </c:pt>
                <c:pt idx="1">
                  <c:v>292.375</c:v>
                </c:pt>
                <c:pt idx="2">
                  <c:v>292.375</c:v>
                </c:pt>
                <c:pt idx="3">
                  <c:v>292.375</c:v>
                </c:pt>
                <c:pt idx="4">
                  <c:v>292.375</c:v>
                </c:pt>
                <c:pt idx="5">
                  <c:v>292.375</c:v>
                </c:pt>
                <c:pt idx="6">
                  <c:v>292.375</c:v>
                </c:pt>
                <c:pt idx="7">
                  <c:v>292.375</c:v>
                </c:pt>
                <c:pt idx="8">
                  <c:v>237.142857142857</c:v>
                </c:pt>
                <c:pt idx="9">
                  <c:v>237.142857142857</c:v>
                </c:pt>
                <c:pt idx="10">
                  <c:v>237.1429</c:v>
                </c:pt>
                <c:pt idx="11">
                  <c:v>237.1429</c:v>
                </c:pt>
                <c:pt idx="12">
                  <c:v>237.1429</c:v>
                </c:pt>
                <c:pt idx="13">
                  <c:v>237.1429</c:v>
                </c:pt>
                <c:pt idx="14">
                  <c:v>237.1429</c:v>
                </c:pt>
                <c:pt idx="15">
                  <c:v>577</c:v>
                </c:pt>
                <c:pt idx="16">
                  <c:v>577</c:v>
                </c:pt>
                <c:pt idx="17">
                  <c:v>577</c:v>
                </c:pt>
                <c:pt idx="18">
                  <c:v>577</c:v>
                </c:pt>
                <c:pt idx="19">
                  <c:v>364.4</c:v>
                </c:pt>
                <c:pt idx="20">
                  <c:v>364.4</c:v>
                </c:pt>
                <c:pt idx="21">
                  <c:v>364.4</c:v>
                </c:pt>
                <c:pt idx="22">
                  <c:v>364.4</c:v>
                </c:pt>
                <c:pt idx="23">
                  <c:v>364.4</c:v>
                </c:pt>
                <c:pt idx="24">
                  <c:v>480.2</c:v>
                </c:pt>
                <c:pt idx="25">
                  <c:v>480.2</c:v>
                </c:pt>
                <c:pt idx="26">
                  <c:v>480.2</c:v>
                </c:pt>
                <c:pt idx="27">
                  <c:v>480.2</c:v>
                </c:pt>
                <c:pt idx="28">
                  <c:v>480.2</c:v>
                </c:pt>
                <c:pt idx="29">
                  <c:v>369.571428571429</c:v>
                </c:pt>
                <c:pt idx="30">
                  <c:v>369.571428571429</c:v>
                </c:pt>
                <c:pt idx="31">
                  <c:v>369.571428571429</c:v>
                </c:pt>
                <c:pt idx="32">
                  <c:v>369.571428571429</c:v>
                </c:pt>
                <c:pt idx="33">
                  <c:v>369.571428571429</c:v>
                </c:pt>
                <c:pt idx="34">
                  <c:v>369.571428571429</c:v>
                </c:pt>
                <c:pt idx="35">
                  <c:v>369.571428571429</c:v>
                </c:pt>
                <c:pt idx="36">
                  <c:v>326.666666666667</c:v>
                </c:pt>
                <c:pt idx="37">
                  <c:v>326.6667</c:v>
                </c:pt>
                <c:pt idx="38">
                  <c:v>326.6667</c:v>
                </c:pt>
                <c:pt idx="39">
                  <c:v>326.6667</c:v>
                </c:pt>
                <c:pt idx="40">
                  <c:v>326.6667</c:v>
                </c:pt>
                <c:pt idx="41">
                  <c:v>326.6667</c:v>
                </c:pt>
                <c:pt idx="42">
                  <c:v>359.285714285714</c:v>
                </c:pt>
                <c:pt idx="43">
                  <c:v>359.285714285714</c:v>
                </c:pt>
                <c:pt idx="44">
                  <c:v>359.285714285714</c:v>
                </c:pt>
                <c:pt idx="45">
                  <c:v>359.285714285714</c:v>
                </c:pt>
                <c:pt idx="46">
                  <c:v>359.285714285714</c:v>
                </c:pt>
                <c:pt idx="47">
                  <c:v>359.285714285714</c:v>
                </c:pt>
                <c:pt idx="48">
                  <c:v>359.285714285714</c:v>
                </c:pt>
                <c:pt idx="49">
                  <c:v>598</c:v>
                </c:pt>
                <c:pt idx="50">
                  <c:v>598</c:v>
                </c:pt>
                <c:pt idx="51">
                  <c:v>598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6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d845eea2-7fa9-4409-8944-0dd425e85416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81201ab1-88b1-449b-907c-eca0d782eead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2531061335027"/>
          <c:y val="0.0303351278274338"/>
          <c:w val="0.798158057690154"/>
          <c:h val="0.970034602848021"/>
        </c:manualLayout>
      </c:layout>
      <c:doughnutChart>
        <c:varyColors val="1"/>
        <c:ser>
          <c:idx val="0"/>
          <c:order val="0"/>
          <c:spPr>
            <a:solidFill>
              <a:schemeClr val="accent6">
                <a:lumMod val="20000"/>
                <a:lumOff val="80000"/>
              </a:schemeClr>
            </a:solidFill>
          </c:spPr>
          <c:explosion val="3"/>
          <c:dPt>
            <c:idx val="0"/>
            <c:bubble3D val="0"/>
            <c:spPr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Sheet1!$AN$102:$AN$105</c:f>
              <c:strCache>
                <c:ptCount val="4"/>
                <c:pt idx="0">
                  <c:v>grade</c:v>
                </c:pt>
                <c:pt idx="1">
                  <c:v>question</c:v>
                </c:pt>
                <c:pt idx="2">
                  <c:v>language</c:v>
                </c:pt>
                <c:pt idx="3">
                  <c:v>difficulty</c:v>
                </c:pt>
              </c:strCache>
            </c:strRef>
          </c:cat>
          <c:val>
            <c:numRef>
              <c:f>Sheet1!$AO$102:$AO$105</c:f>
              <c:numCache>
                <c:formatCode>General</c:formatCode>
                <c:ptCount val="4"/>
                <c:pt idx="0">
                  <c:v>7</c:v>
                </c:pt>
                <c:pt idx="1">
                  <c:v>2.5</c:v>
                </c:pt>
                <c:pt idx="2">
                  <c:v>0.7</c:v>
                </c:pt>
                <c:pt idx="3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4e6259a4-eb3f-4855-ab13-5d8bf94cba7f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00484652634764439"/>
          <c:w val="1"/>
          <c:h val="0.969305269528878"/>
        </c:manualLayout>
      </c:layout>
      <c:doughnutChart>
        <c:varyColors val="1"/>
        <c:ser>
          <c:idx val="0"/>
          <c:order val="0"/>
          <c:spPr/>
          <c:explosion val="40"/>
          <c:dPt>
            <c:idx val="0"/>
            <c:bubble3D val="0"/>
            <c:spPr>
              <a:solidFill>
                <a:srgbClr val="F19E6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bg1">
                  <a:lumMod val="6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bg1">
                  <a:lumMod val="9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"/>
            <c:bubble3D val="0"/>
            <c:spPr>
              <a:solidFill>
                <a:srgbClr val="F19E6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9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0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1"/>
            <c:bubble3D val="0"/>
            <c:spPr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2"/>
            <c:bubble3D val="0"/>
            <c:spPr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3"/>
            <c:bubble3D val="0"/>
            <c:spPr>
              <a:solidFill>
                <a:schemeClr val="bg1">
                  <a:lumMod val="6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4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5"/>
            <c:bubble3D val="0"/>
            <c:spPr>
              <a:solidFill>
                <a:srgbClr val="F19E6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6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7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8"/>
            <c:bubble3D val="0"/>
            <c:spPr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9"/>
            <c:bubble3D val="0"/>
            <c:spPr>
              <a:solidFill>
                <a:srgbClr val="F19E6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0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1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2"/>
            <c:bubble3D val="0"/>
            <c:spPr>
              <a:solidFill>
                <a:schemeClr val="bg1">
                  <a:lumMod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3"/>
            <c:bubble3D val="0"/>
            <c:spPr>
              <a:solidFill>
                <a:schemeClr val="bg1">
                  <a:lumMod val="9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4"/>
            <c:bubble3D val="0"/>
            <c:spPr>
              <a:solidFill>
                <a:srgbClr val="F19E6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5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6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7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8"/>
            <c:bubble3D val="0"/>
            <c:spPr>
              <a:solidFill>
                <a:schemeClr val="bg1">
                  <a:lumMod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9"/>
            <c:bubble3D val="0"/>
            <c:spPr>
              <a:solidFill>
                <a:srgbClr val="F19E6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0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1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2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3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4"/>
            <c:bubble3D val="0"/>
            <c:spPr>
              <a:solidFill>
                <a:schemeClr val="bg1">
                  <a:lumMod val="6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5"/>
            <c:bubble3D val="0"/>
            <c:spPr>
              <a:solidFill>
                <a:schemeClr val="bg1">
                  <a:lumMod val="9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6"/>
            <c:bubble3D val="0"/>
            <c:spPr>
              <a:solidFill>
                <a:srgbClr val="F19E6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7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8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9"/>
            <c:bubble3D val="0"/>
            <c:spPr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0"/>
            <c:bubble3D val="0"/>
            <c:spPr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1"/>
            <c:bubble3D val="0"/>
            <c:spPr>
              <a:solidFill>
                <a:schemeClr val="bg1">
                  <a:lumMod val="6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2"/>
            <c:bubble3D val="0"/>
            <c:spPr>
              <a:solidFill>
                <a:srgbClr val="F19E6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3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4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5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6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7"/>
            <c:bubble3D val="0"/>
            <c:spPr>
              <a:solidFill>
                <a:schemeClr val="bg1">
                  <a:lumMod val="6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8"/>
            <c:bubble3D val="0"/>
            <c:spPr>
              <a:solidFill>
                <a:schemeClr val="bg1">
                  <a:lumMod val="9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9"/>
            <c:bubble3D val="0"/>
            <c:spPr>
              <a:solidFill>
                <a:srgbClr val="F19E6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1"/>
            <c:bubble3D val="0"/>
            <c:spPr>
              <a:solidFill>
                <a:schemeClr val="accent4">
                  <a:lumMod val="50000"/>
                  <a:lumOff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Sheet1!$AQ$9:$AQ$60</c:f>
              <c:strCache>
                <c:ptCount val="52"/>
                <c:pt idx="0">
                  <c:v>Instruction Following &amp; Task Completion</c:v>
                </c:pt>
                <c:pt idx="1">
                  <c:v>Content Relevance &amp; Scope Control</c:v>
                </c:pt>
                <c:pt idx="2">
                  <c:v>Scenario Element Integration</c:v>
                </c:pt>
                <c:pt idx="3">
                  <c:v>Basic Factual Accuracy</c:v>
                </c:pt>
                <c:pt idx="4">
                  <c:v>Domain Knowledge Accuracy</c:v>
                </c:pt>
                <c:pt idx="5">
                  <c:v>Reasoning Process Rigor</c:v>
                </c:pt>
                <c:pt idx="6">
                  <c:v>Clarity, Simplicity &amp; Inspiration</c:v>
                </c:pt>
                <c:pt idx="7">
                  <c:v>Higher-Order Thinking &amp; Skill Development</c:v>
                </c:pt>
                <c:pt idx="8">
                  <c:v>Instruction Following &amp; Task Completion</c:v>
                </c:pt>
                <c:pt idx="9">
                  <c:v>Scenario Element Integration</c:v>
                </c:pt>
                <c:pt idx="10">
                  <c:v>Basic Factual Accuracy</c:v>
                </c:pt>
                <c:pt idx="11">
                  <c:v>Reasoning Process Rigor</c:v>
                </c:pt>
                <c:pt idx="12">
                  <c:v>Error Identification &amp; Correction Precision</c:v>
                </c:pt>
                <c:pt idx="13">
                  <c:v>Clarity, Simplicity &amp; Inspiration</c:v>
                </c:pt>
                <c:pt idx="14">
                  <c:v>Motivation, Guidance &amp; Positive Feedback</c:v>
                </c:pt>
                <c:pt idx="15">
                  <c:v>Instruction Following &amp; Task Completion</c:v>
                </c:pt>
                <c:pt idx="16">
                  <c:v>Content Relevance &amp; Scope Control</c:v>
                </c:pt>
                <c:pt idx="17">
                  <c:v>Basic Factual Accuracy</c:v>
                </c:pt>
                <c:pt idx="18">
                  <c:v>Reasoning Process Rigor</c:v>
                </c:pt>
                <c:pt idx="19">
                  <c:v>Instruction Following &amp; Task Completion</c:v>
                </c:pt>
                <c:pt idx="20">
                  <c:v>Role &amp; Tone Consistency</c:v>
                </c:pt>
                <c:pt idx="21">
                  <c:v>Scenario Element Integration</c:v>
                </c:pt>
                <c:pt idx="22">
                  <c:v>Personalization, Adaptation &amp; Learning Support</c:v>
                </c:pt>
                <c:pt idx="23">
                  <c:v>Higher-Order Thinking &amp; Skill Development</c:v>
                </c:pt>
                <c:pt idx="24">
                  <c:v>Instruction Following &amp; Task Completion</c:v>
                </c:pt>
                <c:pt idx="25">
                  <c:v>Role &amp; Tone Consistency</c:v>
                </c:pt>
                <c:pt idx="26">
                  <c:v>Scenario Element Integration</c:v>
                </c:pt>
                <c:pt idx="27">
                  <c:v>Motivation, Guidance &amp; Positive Feedback</c:v>
                </c:pt>
                <c:pt idx="28">
                  <c:v>Personalization, Adaptation &amp; Learning Support</c:v>
                </c:pt>
                <c:pt idx="29">
                  <c:v>Instruction Following &amp; Task Completion</c:v>
                </c:pt>
                <c:pt idx="30">
                  <c:v>Content Relevance &amp; Scope Control</c:v>
                </c:pt>
                <c:pt idx="31">
                  <c:v>Scenario Element Integration</c:v>
                </c:pt>
                <c:pt idx="32">
                  <c:v>Basic Factual Accuracy</c:v>
                </c:pt>
                <c:pt idx="33">
                  <c:v>Domain Knowledge Accuracy</c:v>
                </c:pt>
                <c:pt idx="34">
                  <c:v>Clarity, Simplicity &amp; Inspiration</c:v>
                </c:pt>
                <c:pt idx="35">
                  <c:v>Higher-Order Thinking &amp; Skill Development</c:v>
                </c:pt>
                <c:pt idx="36">
                  <c:v>Instruction Following &amp; Task Completion</c:v>
                </c:pt>
                <c:pt idx="37">
                  <c:v>Content Relevance &amp; Scope Control</c:v>
                </c:pt>
                <c:pt idx="38">
                  <c:v>Basic Factual Accuracy</c:v>
                </c:pt>
                <c:pt idx="39">
                  <c:v>Reasoning Process Rigor</c:v>
                </c:pt>
                <c:pt idx="40">
                  <c:v>Error Identification &amp; Correction Precision</c:v>
                </c:pt>
                <c:pt idx="41">
                  <c:v>Motivation, Guidance &amp; Positive Feedback</c:v>
                </c:pt>
                <c:pt idx="42">
                  <c:v>Instruction Following &amp; Task Completion</c:v>
                </c:pt>
                <c:pt idx="43">
                  <c:v>Role &amp; Tone Consistency</c:v>
                </c:pt>
                <c:pt idx="44">
                  <c:v>Content Relevance &amp; Scope Control</c:v>
                </c:pt>
                <c:pt idx="45">
                  <c:v>Basic Factual Accuracy</c:v>
                </c:pt>
                <c:pt idx="46">
                  <c:v>Domain Knowledge Accuracy</c:v>
                </c:pt>
                <c:pt idx="47">
                  <c:v>Clarity, Simplicity &amp; Inspiration</c:v>
                </c:pt>
                <c:pt idx="48">
                  <c:v>Higher-Order Thinking &amp; Skill Development</c:v>
                </c:pt>
                <c:pt idx="49">
                  <c:v>Instruction Following &amp; Task Completion</c:v>
                </c:pt>
                <c:pt idx="50">
                  <c:v>Scenario Element Integration</c:v>
                </c:pt>
                <c:pt idx="51">
                  <c:v>Personalization, Adaptation &amp; Learning Support</c:v>
                </c:pt>
              </c:strCache>
            </c:strRef>
          </c:cat>
          <c:val>
            <c:numRef>
              <c:f>Sheet1!$AR$9:$AR$60</c:f>
              <c:numCache>
                <c:formatCode>General</c:formatCode>
                <c:ptCount val="52"/>
                <c:pt idx="0">
                  <c:v>292.375</c:v>
                </c:pt>
                <c:pt idx="1">
                  <c:v>292.375</c:v>
                </c:pt>
                <c:pt idx="2">
                  <c:v>292.375</c:v>
                </c:pt>
                <c:pt idx="3">
                  <c:v>292.375</c:v>
                </c:pt>
                <c:pt idx="4">
                  <c:v>292.375</c:v>
                </c:pt>
                <c:pt idx="5">
                  <c:v>292.375</c:v>
                </c:pt>
                <c:pt idx="6">
                  <c:v>292.375</c:v>
                </c:pt>
                <c:pt idx="7">
                  <c:v>292.375</c:v>
                </c:pt>
                <c:pt idx="8">
                  <c:v>237.142857142857</c:v>
                </c:pt>
                <c:pt idx="9">
                  <c:v>237.142857142857</c:v>
                </c:pt>
                <c:pt idx="10">
                  <c:v>237.1429</c:v>
                </c:pt>
                <c:pt idx="11">
                  <c:v>237.1429</c:v>
                </c:pt>
                <c:pt idx="12">
                  <c:v>237.1429</c:v>
                </c:pt>
                <c:pt idx="13">
                  <c:v>237.1429</c:v>
                </c:pt>
                <c:pt idx="14">
                  <c:v>237.1429</c:v>
                </c:pt>
                <c:pt idx="15">
                  <c:v>577</c:v>
                </c:pt>
                <c:pt idx="16">
                  <c:v>577</c:v>
                </c:pt>
                <c:pt idx="17">
                  <c:v>577</c:v>
                </c:pt>
                <c:pt idx="18">
                  <c:v>577</c:v>
                </c:pt>
                <c:pt idx="19">
                  <c:v>197</c:v>
                </c:pt>
                <c:pt idx="20">
                  <c:v>197</c:v>
                </c:pt>
                <c:pt idx="21">
                  <c:v>197</c:v>
                </c:pt>
                <c:pt idx="22">
                  <c:v>197</c:v>
                </c:pt>
                <c:pt idx="23">
                  <c:v>197</c:v>
                </c:pt>
                <c:pt idx="24">
                  <c:v>480.2</c:v>
                </c:pt>
                <c:pt idx="25">
                  <c:v>480.2</c:v>
                </c:pt>
                <c:pt idx="26">
                  <c:v>480.2</c:v>
                </c:pt>
                <c:pt idx="27">
                  <c:v>480.2</c:v>
                </c:pt>
                <c:pt idx="28">
                  <c:v>480.2</c:v>
                </c:pt>
                <c:pt idx="29">
                  <c:v>369.571428571429</c:v>
                </c:pt>
                <c:pt idx="30">
                  <c:v>369.571428571429</c:v>
                </c:pt>
                <c:pt idx="31">
                  <c:v>369.571428571429</c:v>
                </c:pt>
                <c:pt idx="32">
                  <c:v>369.571428571429</c:v>
                </c:pt>
                <c:pt idx="33">
                  <c:v>369.571428571429</c:v>
                </c:pt>
                <c:pt idx="34">
                  <c:v>369.571428571429</c:v>
                </c:pt>
                <c:pt idx="35">
                  <c:v>369.571428571429</c:v>
                </c:pt>
                <c:pt idx="36">
                  <c:v>326.666666666667</c:v>
                </c:pt>
                <c:pt idx="37">
                  <c:v>326.6667</c:v>
                </c:pt>
                <c:pt idx="38">
                  <c:v>326.6667</c:v>
                </c:pt>
                <c:pt idx="39">
                  <c:v>326.6667</c:v>
                </c:pt>
                <c:pt idx="40">
                  <c:v>326.6667</c:v>
                </c:pt>
                <c:pt idx="41">
                  <c:v>326.6667</c:v>
                </c:pt>
                <c:pt idx="42">
                  <c:v>359.285714285714</c:v>
                </c:pt>
                <c:pt idx="43">
                  <c:v>359.285714285714</c:v>
                </c:pt>
                <c:pt idx="44">
                  <c:v>359.285714285714</c:v>
                </c:pt>
                <c:pt idx="45">
                  <c:v>359.285714285714</c:v>
                </c:pt>
                <c:pt idx="46">
                  <c:v>359.285714285714</c:v>
                </c:pt>
                <c:pt idx="47">
                  <c:v>359.285714285714</c:v>
                </c:pt>
                <c:pt idx="48">
                  <c:v>359.285714285714</c:v>
                </c:pt>
                <c:pt idx="49">
                  <c:v>301</c:v>
                </c:pt>
                <c:pt idx="50">
                  <c:v>301</c:v>
                </c:pt>
                <c:pt idx="51">
                  <c:v>301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d845eea2-7fa9-4409-8944-0dd425e85416}"/>
      </c:ext>
    </c:extLst>
  </c:chart>
  <c:spPr>
    <a:noFill/>
    <a:ln>
      <a:noFill/>
    </a:ln>
    <a:effectLst/>
  </c:spPr>
  <c:txPr>
    <a:bodyPr/>
    <a:lstStyle/>
    <a:p>
      <a:pPr>
        <a:defRPr lang="zh-CN" sz="1200">
          <a:latin typeface="Arial" panose="020B0604020202020204" pitchFamily="34" charset="0"/>
          <a:cs typeface="Arial" panose="020B0604020202020204" pitchFamily="34" charset="0"/>
        </a:defRPr>
      </a:pPr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1666666666667"/>
          <c:y val="0.0324074074074074"/>
          <c:w val="0.538888888888889"/>
          <c:h val="0.898148148148148"/>
        </c:manualLayout>
      </c:layout>
      <c:doughnutChart>
        <c:varyColors val="1"/>
        <c:ser>
          <c:idx val="0"/>
          <c:order val="0"/>
          <c:spPr/>
          <c:explosion val="5"/>
          <c:dPt>
            <c:idx val="0"/>
            <c:bubble3D val="0"/>
            <c:spPr>
              <a:solidFill>
                <a:schemeClr val="accent6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rgbClr val="92D050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rgbClr val="87BF6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"/>
            <c:bubble3D val="0"/>
            <c:spPr>
              <a:solidFill>
                <a:srgbClr val="73B248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0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2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3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4"/>
            <c:bubble3D val="0"/>
            <c:spPr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5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6"/>
            <c:bubble3D val="0"/>
            <c:spPr>
              <a:solidFill>
                <a:schemeClr val="accent5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Sheet1!$AG$9:$AG$25</c:f>
              <c:strCache>
                <c:ptCount val="17"/>
                <c:pt idx="0">
                  <c:v>Problem Solving</c:v>
                </c:pt>
                <c:pt idx="2">
                  <c:v>Error Correction</c:v>
                </c:pt>
                <c:pt idx="4">
                  <c:v>Question Answering</c:v>
                </c:pt>
                <c:pt idx="6">
                  <c:v>Personalized Learning Support</c:v>
                </c:pt>
                <c:pt idx="8">
                  <c:v>Emotional Support</c:v>
                </c:pt>
                <c:pt idx="10">
                  <c:v>Question Generation</c:v>
                </c:pt>
                <c:pt idx="12">
                  <c:v>Automatic Grading</c:v>
                </c:pt>
                <c:pt idx="14">
                  <c:v>Teaching Material Generation</c:v>
                </c:pt>
                <c:pt idx="16">
                  <c:v>Personalized Content Creation</c:v>
                </c:pt>
              </c:strCache>
            </c:strRef>
          </c:cat>
          <c:val>
            <c:numRef>
              <c:f>Sheet1!$AH$9:$AH$25</c:f>
              <c:numCache>
                <c:formatCode>General</c:formatCode>
                <c:ptCount val="17"/>
                <c:pt idx="0">
                  <c:v>2339</c:v>
                </c:pt>
                <c:pt idx="2">
                  <c:v>1660</c:v>
                </c:pt>
                <c:pt idx="4">
                  <c:v>2308</c:v>
                </c:pt>
                <c:pt idx="6">
                  <c:v>985</c:v>
                </c:pt>
                <c:pt idx="8">
                  <c:v>2401</c:v>
                </c:pt>
                <c:pt idx="10">
                  <c:v>2587</c:v>
                </c:pt>
                <c:pt idx="12">
                  <c:v>1960</c:v>
                </c:pt>
                <c:pt idx="14">
                  <c:v>2515</c:v>
                </c:pt>
                <c:pt idx="16">
                  <c:v>903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39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013610cd-962e-4e1b-8355-a613390c86fd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/>
          <c:explosion val="0"/>
          <c:dPt>
            <c:idx val="0"/>
            <c:bubble3D val="0"/>
            <c:spPr>
              <a:solidFill>
                <a:schemeClr val="accent6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val>
            <c:numRef>
              <c:f>Sheet1!$AF$9:$AF$19</c:f>
              <c:numCache>
                <c:formatCode>General</c:formatCode>
                <c:ptCount val="11"/>
                <c:pt idx="0">
                  <c:v>9693</c:v>
                </c:pt>
                <c:pt idx="10">
                  <c:v>7965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5a1b94cb-f449-43b5-bd24-82c1e26f3f68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229f0025-decb-4721-9afd-96a442b80e9c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2531061335027"/>
          <c:y val="0.0303351278274338"/>
          <c:w val="0.798158057690154"/>
          <c:h val="0.970034602848021"/>
        </c:manualLayout>
      </c:layout>
      <c:doughnutChart>
        <c:varyColors val="1"/>
        <c:ser>
          <c:idx val="0"/>
          <c:order val="0"/>
          <c:spPr>
            <a:solidFill>
              <a:schemeClr val="accent6">
                <a:lumMod val="20000"/>
                <a:lumOff val="80000"/>
              </a:schemeClr>
            </a:solidFill>
          </c:spPr>
          <c:explosion val="3"/>
          <c:dPt>
            <c:idx val="0"/>
            <c:bubble3D val="0"/>
            <c:spPr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Sheet1!$AN$102:$AN$105</c:f>
              <c:strCache>
                <c:ptCount val="4"/>
                <c:pt idx="0">
                  <c:v>grade</c:v>
                </c:pt>
                <c:pt idx="1">
                  <c:v>question</c:v>
                </c:pt>
                <c:pt idx="2">
                  <c:v>language</c:v>
                </c:pt>
                <c:pt idx="3">
                  <c:v>difficulty</c:v>
                </c:pt>
              </c:strCache>
            </c:strRef>
          </c:cat>
          <c:val>
            <c:numRef>
              <c:f>Sheet1!$AO$102:$AO$105</c:f>
              <c:numCache>
                <c:formatCode>General</c:formatCode>
                <c:ptCount val="4"/>
                <c:pt idx="0">
                  <c:v>7</c:v>
                </c:pt>
                <c:pt idx="1">
                  <c:v>2.5</c:v>
                </c:pt>
                <c:pt idx="2">
                  <c:v>0.7</c:v>
                </c:pt>
                <c:pt idx="3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1bc853a6-36c4-4df9-92a7-8db5516c4818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340041893912665"/>
          <c:y val="0.000589609768913283"/>
          <c:w val="1"/>
          <c:h val="0.969305269528878"/>
        </c:manualLayout>
      </c:layout>
      <c:doughnutChart>
        <c:varyColors val="1"/>
        <c:ser>
          <c:idx val="0"/>
          <c:order val="0"/>
          <c:spPr/>
          <c:explosion val="40"/>
          <c:dPt>
            <c:idx val="0"/>
            <c:bubble3D val="0"/>
            <c:spPr>
              <a:solidFill>
                <a:srgbClr val="F19E6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bg1">
                  <a:lumMod val="6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bg1">
                  <a:lumMod val="9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"/>
            <c:bubble3D val="0"/>
            <c:spPr>
              <a:solidFill>
                <a:srgbClr val="F19E6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9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0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1"/>
            <c:bubble3D val="0"/>
            <c:spPr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2"/>
            <c:bubble3D val="0"/>
            <c:spPr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3"/>
            <c:bubble3D val="0"/>
            <c:spPr>
              <a:solidFill>
                <a:schemeClr val="bg1">
                  <a:lumMod val="6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4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5"/>
            <c:bubble3D val="0"/>
            <c:spPr>
              <a:solidFill>
                <a:srgbClr val="F19E6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6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7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8"/>
            <c:bubble3D val="0"/>
            <c:spPr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9"/>
            <c:bubble3D val="0"/>
            <c:spPr>
              <a:solidFill>
                <a:srgbClr val="F19E6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0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1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2"/>
            <c:bubble3D val="0"/>
            <c:spPr>
              <a:solidFill>
                <a:schemeClr val="bg1">
                  <a:lumMod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3"/>
            <c:bubble3D val="0"/>
            <c:spPr>
              <a:solidFill>
                <a:schemeClr val="bg1">
                  <a:lumMod val="9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4"/>
            <c:bubble3D val="0"/>
            <c:spPr>
              <a:solidFill>
                <a:srgbClr val="F19E6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5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6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7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8"/>
            <c:bubble3D val="0"/>
            <c:spPr>
              <a:solidFill>
                <a:schemeClr val="bg1">
                  <a:lumMod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9"/>
            <c:bubble3D val="0"/>
            <c:spPr>
              <a:solidFill>
                <a:srgbClr val="F19E6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0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1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2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3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4"/>
            <c:bubble3D val="0"/>
            <c:spPr>
              <a:solidFill>
                <a:schemeClr val="bg1">
                  <a:lumMod val="6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5"/>
            <c:bubble3D val="0"/>
            <c:spPr>
              <a:solidFill>
                <a:schemeClr val="bg1">
                  <a:lumMod val="9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6"/>
            <c:bubble3D val="0"/>
            <c:spPr>
              <a:solidFill>
                <a:srgbClr val="F19E6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7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8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9"/>
            <c:bubble3D val="0"/>
            <c:spPr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0"/>
            <c:bubble3D val="0"/>
            <c:spPr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1"/>
            <c:bubble3D val="0"/>
            <c:spPr>
              <a:solidFill>
                <a:schemeClr val="bg1">
                  <a:lumMod val="6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2"/>
            <c:bubble3D val="0"/>
            <c:spPr>
              <a:solidFill>
                <a:srgbClr val="F19E6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3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4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5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6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7"/>
            <c:bubble3D val="0"/>
            <c:spPr>
              <a:solidFill>
                <a:schemeClr val="bg1">
                  <a:lumMod val="6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8"/>
            <c:bubble3D val="0"/>
            <c:spPr>
              <a:solidFill>
                <a:schemeClr val="bg1">
                  <a:lumMod val="9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9"/>
            <c:bubble3D val="0"/>
            <c:spPr>
              <a:solidFill>
                <a:srgbClr val="F19E6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1"/>
            <c:bubble3D val="0"/>
            <c:spPr>
              <a:solidFill>
                <a:schemeClr val="accent4">
                  <a:lumMod val="50000"/>
                  <a:lumOff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Sheet1!$AQ$9:$AQ$60</c:f>
              <c:strCache>
                <c:ptCount val="52"/>
                <c:pt idx="0">
                  <c:v>Instruction Following &amp; Task Completion</c:v>
                </c:pt>
                <c:pt idx="1">
                  <c:v>Content Relevance &amp; Scope Control</c:v>
                </c:pt>
                <c:pt idx="2">
                  <c:v>Scenario Element Integration</c:v>
                </c:pt>
                <c:pt idx="3">
                  <c:v>Basic Factual Accuracy</c:v>
                </c:pt>
                <c:pt idx="4">
                  <c:v>Domain Knowledge Accuracy</c:v>
                </c:pt>
                <c:pt idx="5">
                  <c:v>Reasoning Process Rigor</c:v>
                </c:pt>
                <c:pt idx="6">
                  <c:v>Clarity, Simplicity &amp; Inspiration</c:v>
                </c:pt>
                <c:pt idx="7">
                  <c:v>Higher-Order Thinking &amp; Skill Development</c:v>
                </c:pt>
                <c:pt idx="8">
                  <c:v>Instruction Following &amp; Task Completion</c:v>
                </c:pt>
                <c:pt idx="9">
                  <c:v>Scenario Element Integration</c:v>
                </c:pt>
                <c:pt idx="10">
                  <c:v>Basic Factual Accuracy</c:v>
                </c:pt>
                <c:pt idx="11">
                  <c:v>Reasoning Process Rigor</c:v>
                </c:pt>
                <c:pt idx="12">
                  <c:v>Error Identification &amp; Correction Precision</c:v>
                </c:pt>
                <c:pt idx="13">
                  <c:v>Clarity, Simplicity &amp; Inspiration</c:v>
                </c:pt>
                <c:pt idx="14">
                  <c:v>Motivation, Guidance &amp; Positive Feedback</c:v>
                </c:pt>
                <c:pt idx="15">
                  <c:v>Instruction Following &amp; Task Completion</c:v>
                </c:pt>
                <c:pt idx="16">
                  <c:v>Content Relevance &amp; Scope Control</c:v>
                </c:pt>
                <c:pt idx="17">
                  <c:v>Basic Factual Accuracy</c:v>
                </c:pt>
                <c:pt idx="18">
                  <c:v>Reasoning Process Rigor</c:v>
                </c:pt>
                <c:pt idx="19">
                  <c:v>Instruction Following &amp; Task Completion</c:v>
                </c:pt>
                <c:pt idx="20">
                  <c:v>Role &amp; Tone Consistency</c:v>
                </c:pt>
                <c:pt idx="21">
                  <c:v>Scenario Element Integration</c:v>
                </c:pt>
                <c:pt idx="22">
                  <c:v>Personalization, Adaptation &amp; Learning Support</c:v>
                </c:pt>
                <c:pt idx="23">
                  <c:v>Higher-Order Thinking &amp; Skill Development</c:v>
                </c:pt>
                <c:pt idx="24">
                  <c:v>Instruction Following &amp; Task Completion</c:v>
                </c:pt>
                <c:pt idx="25">
                  <c:v>Role &amp; Tone Consistency</c:v>
                </c:pt>
                <c:pt idx="26">
                  <c:v>Scenario Element Integration</c:v>
                </c:pt>
                <c:pt idx="27">
                  <c:v>Motivation, Guidance &amp; Positive Feedback</c:v>
                </c:pt>
                <c:pt idx="28">
                  <c:v>Personalization, Adaptation &amp; Learning Support</c:v>
                </c:pt>
                <c:pt idx="29">
                  <c:v>Instruction Following &amp; Task Completion</c:v>
                </c:pt>
                <c:pt idx="30">
                  <c:v>Content Relevance &amp; Scope Control</c:v>
                </c:pt>
                <c:pt idx="31">
                  <c:v>Scenario Element Integration</c:v>
                </c:pt>
                <c:pt idx="32">
                  <c:v>Basic Factual Accuracy</c:v>
                </c:pt>
                <c:pt idx="33">
                  <c:v>Domain Knowledge Accuracy</c:v>
                </c:pt>
                <c:pt idx="34">
                  <c:v>Clarity, Simplicity &amp; Inspiration</c:v>
                </c:pt>
                <c:pt idx="35">
                  <c:v>Higher-Order Thinking &amp; Skill Development</c:v>
                </c:pt>
                <c:pt idx="36">
                  <c:v>Instruction Following &amp; Task Completion</c:v>
                </c:pt>
                <c:pt idx="37">
                  <c:v>Content Relevance &amp; Scope Control</c:v>
                </c:pt>
                <c:pt idx="38">
                  <c:v>Basic Factual Accuracy</c:v>
                </c:pt>
                <c:pt idx="39">
                  <c:v>Reasoning Process Rigor</c:v>
                </c:pt>
                <c:pt idx="40">
                  <c:v>Error Identification &amp; Correction Precision</c:v>
                </c:pt>
                <c:pt idx="41">
                  <c:v>Motivation, Guidance &amp; Positive Feedback</c:v>
                </c:pt>
                <c:pt idx="42">
                  <c:v>Instruction Following &amp; Task Completion</c:v>
                </c:pt>
                <c:pt idx="43">
                  <c:v>Role &amp; Tone Consistency</c:v>
                </c:pt>
                <c:pt idx="44">
                  <c:v>Content Relevance &amp; Scope Control</c:v>
                </c:pt>
                <c:pt idx="45">
                  <c:v>Basic Factual Accuracy</c:v>
                </c:pt>
                <c:pt idx="46">
                  <c:v>Domain Knowledge Accuracy</c:v>
                </c:pt>
                <c:pt idx="47">
                  <c:v>Clarity, Simplicity &amp; Inspiration</c:v>
                </c:pt>
                <c:pt idx="48">
                  <c:v>Higher-Order Thinking &amp; Skill Development</c:v>
                </c:pt>
                <c:pt idx="49">
                  <c:v>Instruction Following &amp; Task Completion</c:v>
                </c:pt>
                <c:pt idx="50">
                  <c:v>Scenario Element Integration</c:v>
                </c:pt>
                <c:pt idx="51">
                  <c:v>Personalization, Adaptation &amp; Learning Support</c:v>
                </c:pt>
              </c:strCache>
            </c:strRef>
          </c:cat>
          <c:val>
            <c:numRef>
              <c:f>Sheet1!$AR$9:$AR$60</c:f>
              <c:numCache>
                <c:formatCode>General</c:formatCode>
                <c:ptCount val="52"/>
                <c:pt idx="0">
                  <c:v>292.375</c:v>
                </c:pt>
                <c:pt idx="1">
                  <c:v>292.375</c:v>
                </c:pt>
                <c:pt idx="2">
                  <c:v>292.375</c:v>
                </c:pt>
                <c:pt idx="3">
                  <c:v>292.375</c:v>
                </c:pt>
                <c:pt idx="4">
                  <c:v>292.375</c:v>
                </c:pt>
                <c:pt idx="5">
                  <c:v>292.375</c:v>
                </c:pt>
                <c:pt idx="6">
                  <c:v>292.375</c:v>
                </c:pt>
                <c:pt idx="7">
                  <c:v>292.375</c:v>
                </c:pt>
                <c:pt idx="8">
                  <c:v>237.142857142857</c:v>
                </c:pt>
                <c:pt idx="9">
                  <c:v>237.142857142857</c:v>
                </c:pt>
                <c:pt idx="10">
                  <c:v>237.1429</c:v>
                </c:pt>
                <c:pt idx="11">
                  <c:v>237.1429</c:v>
                </c:pt>
                <c:pt idx="12">
                  <c:v>237.1429</c:v>
                </c:pt>
                <c:pt idx="13">
                  <c:v>237.1429</c:v>
                </c:pt>
                <c:pt idx="14">
                  <c:v>237.1429</c:v>
                </c:pt>
                <c:pt idx="15">
                  <c:v>577</c:v>
                </c:pt>
                <c:pt idx="16">
                  <c:v>577</c:v>
                </c:pt>
                <c:pt idx="17">
                  <c:v>577</c:v>
                </c:pt>
                <c:pt idx="18">
                  <c:v>577</c:v>
                </c:pt>
                <c:pt idx="19">
                  <c:v>197</c:v>
                </c:pt>
                <c:pt idx="20">
                  <c:v>197</c:v>
                </c:pt>
                <c:pt idx="21">
                  <c:v>197</c:v>
                </c:pt>
                <c:pt idx="22">
                  <c:v>197</c:v>
                </c:pt>
                <c:pt idx="23">
                  <c:v>197</c:v>
                </c:pt>
                <c:pt idx="24">
                  <c:v>480.2</c:v>
                </c:pt>
                <c:pt idx="25">
                  <c:v>480.2</c:v>
                </c:pt>
                <c:pt idx="26">
                  <c:v>480.2</c:v>
                </c:pt>
                <c:pt idx="27">
                  <c:v>480.2</c:v>
                </c:pt>
                <c:pt idx="28">
                  <c:v>480.2</c:v>
                </c:pt>
                <c:pt idx="29">
                  <c:v>369.571428571429</c:v>
                </c:pt>
                <c:pt idx="30">
                  <c:v>369.571428571429</c:v>
                </c:pt>
                <c:pt idx="31">
                  <c:v>369.571428571429</c:v>
                </c:pt>
                <c:pt idx="32">
                  <c:v>369.571428571429</c:v>
                </c:pt>
                <c:pt idx="33">
                  <c:v>369.571428571429</c:v>
                </c:pt>
                <c:pt idx="34">
                  <c:v>369.571428571429</c:v>
                </c:pt>
                <c:pt idx="35">
                  <c:v>369.571428571429</c:v>
                </c:pt>
                <c:pt idx="36">
                  <c:v>326.666666666667</c:v>
                </c:pt>
                <c:pt idx="37">
                  <c:v>326.6667</c:v>
                </c:pt>
                <c:pt idx="38">
                  <c:v>326.6667</c:v>
                </c:pt>
                <c:pt idx="39">
                  <c:v>326.6667</c:v>
                </c:pt>
                <c:pt idx="40">
                  <c:v>326.6667</c:v>
                </c:pt>
                <c:pt idx="41">
                  <c:v>326.6667</c:v>
                </c:pt>
                <c:pt idx="42">
                  <c:v>359.285714285714</c:v>
                </c:pt>
                <c:pt idx="43">
                  <c:v>359.285714285714</c:v>
                </c:pt>
                <c:pt idx="44">
                  <c:v>359.285714285714</c:v>
                </c:pt>
                <c:pt idx="45">
                  <c:v>359.285714285714</c:v>
                </c:pt>
                <c:pt idx="46">
                  <c:v>359.285714285714</c:v>
                </c:pt>
                <c:pt idx="47">
                  <c:v>359.285714285714</c:v>
                </c:pt>
                <c:pt idx="48">
                  <c:v>359.285714285714</c:v>
                </c:pt>
                <c:pt idx="49">
                  <c:v>301</c:v>
                </c:pt>
                <c:pt idx="50">
                  <c:v>301</c:v>
                </c:pt>
                <c:pt idx="51">
                  <c:v>301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34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d845eea2-7fa9-4409-8944-0dd425e85416}"/>
      </c:ext>
    </c:extLst>
  </c:chart>
  <c:spPr>
    <a:noFill/>
    <a:ln>
      <a:noFill/>
    </a:ln>
    <a:effectLst/>
  </c:spPr>
  <c:txPr>
    <a:bodyPr/>
    <a:lstStyle/>
    <a:p>
      <a:pPr>
        <a:defRPr lang="zh-CN" sz="1200">
          <a:latin typeface="Arial" panose="020B0604020202020204" pitchFamily="34" charset="0"/>
          <a:cs typeface="Arial" panose="020B0604020202020204" pitchFamily="34" charset="0"/>
        </a:defRPr>
      </a:pPr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1666666666667"/>
          <c:y val="0.0324074074074074"/>
          <c:w val="0.538888888888889"/>
          <c:h val="0.898148148148148"/>
        </c:manualLayout>
      </c:layout>
      <c:doughnutChart>
        <c:varyColors val="1"/>
        <c:ser>
          <c:idx val="0"/>
          <c:order val="0"/>
          <c:spPr/>
          <c:explosion val="5"/>
          <c:dPt>
            <c:idx val="0"/>
            <c:bubble3D val="0"/>
            <c:spPr>
              <a:solidFill>
                <a:schemeClr val="accent6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rgbClr val="92D050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rgbClr val="87BF6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"/>
            <c:bubble3D val="0"/>
            <c:spPr>
              <a:solidFill>
                <a:srgbClr val="73B248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0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2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3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4"/>
            <c:bubble3D val="0"/>
            <c:spPr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5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6"/>
            <c:bubble3D val="0"/>
            <c:spPr>
              <a:solidFill>
                <a:schemeClr val="accent5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Sheet1!$AG$9:$AG$25</c:f>
              <c:strCache>
                <c:ptCount val="17"/>
                <c:pt idx="0">
                  <c:v>Problem Solving</c:v>
                </c:pt>
                <c:pt idx="2">
                  <c:v>Error Correction</c:v>
                </c:pt>
                <c:pt idx="4">
                  <c:v>Question Answering</c:v>
                </c:pt>
                <c:pt idx="6">
                  <c:v>Personalized Learning Support</c:v>
                </c:pt>
                <c:pt idx="8">
                  <c:v>Emotional Support</c:v>
                </c:pt>
                <c:pt idx="10">
                  <c:v>Question Generation</c:v>
                </c:pt>
                <c:pt idx="12">
                  <c:v>Automatic Grading</c:v>
                </c:pt>
                <c:pt idx="14">
                  <c:v>Teaching Material Generation</c:v>
                </c:pt>
                <c:pt idx="16">
                  <c:v>Personalized Content Creation</c:v>
                </c:pt>
              </c:strCache>
            </c:strRef>
          </c:cat>
          <c:val>
            <c:numRef>
              <c:f>Sheet1!$AH$9:$AH$25</c:f>
              <c:numCache>
                <c:formatCode>General</c:formatCode>
                <c:ptCount val="17"/>
                <c:pt idx="0">
                  <c:v>2339</c:v>
                </c:pt>
                <c:pt idx="2">
                  <c:v>1660</c:v>
                </c:pt>
                <c:pt idx="4">
                  <c:v>2308</c:v>
                </c:pt>
                <c:pt idx="6">
                  <c:v>985</c:v>
                </c:pt>
                <c:pt idx="8">
                  <c:v>2401</c:v>
                </c:pt>
                <c:pt idx="10">
                  <c:v>2587</c:v>
                </c:pt>
                <c:pt idx="12">
                  <c:v>1960</c:v>
                </c:pt>
                <c:pt idx="14">
                  <c:v>2515</c:v>
                </c:pt>
                <c:pt idx="16">
                  <c:v>903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39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013610cd-962e-4e1b-8355-a613390c86fd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/>
          <c:explosion val="0"/>
          <c:dPt>
            <c:idx val="0"/>
            <c:bubble3D val="0"/>
            <c:spPr>
              <a:solidFill>
                <a:schemeClr val="accent6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val>
            <c:numRef>
              <c:f>Sheet1!$AF$9:$AF$19</c:f>
              <c:numCache>
                <c:formatCode>General</c:formatCode>
                <c:ptCount val="11"/>
                <c:pt idx="0">
                  <c:v>9693</c:v>
                </c:pt>
                <c:pt idx="10">
                  <c:v>7965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5a1b94cb-f449-43b5-bd24-82c1e26f3f68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1E9C2B-5A5F-4974-8BCA-F514C3BFB93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42900" y="1143000"/>
            <a:ext cx="61722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D19086-BBAD-4675-9246-D679716717D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2145665" rtl="0" eaLnBrk="1" latinLnBrk="0" hangingPunct="1">
      <a:defRPr sz="2815" kern="1200">
        <a:solidFill>
          <a:schemeClr val="tx1"/>
        </a:solidFill>
        <a:latin typeface="+mn-lt"/>
        <a:ea typeface="+mn-ea"/>
        <a:cs typeface="+mn-cs"/>
      </a:defRPr>
    </a:lvl1pPr>
    <a:lvl2pPr marL="1072515" algn="l" defTabSz="2145665" rtl="0" eaLnBrk="1" latinLnBrk="0" hangingPunct="1">
      <a:defRPr sz="2815" kern="1200">
        <a:solidFill>
          <a:schemeClr val="tx1"/>
        </a:solidFill>
        <a:latin typeface="+mn-lt"/>
        <a:ea typeface="+mn-ea"/>
        <a:cs typeface="+mn-cs"/>
      </a:defRPr>
    </a:lvl2pPr>
    <a:lvl3pPr marL="2145665" algn="l" defTabSz="2145665" rtl="0" eaLnBrk="1" latinLnBrk="0" hangingPunct="1">
      <a:defRPr sz="2815" kern="1200">
        <a:solidFill>
          <a:schemeClr val="tx1"/>
        </a:solidFill>
        <a:latin typeface="+mn-lt"/>
        <a:ea typeface="+mn-ea"/>
        <a:cs typeface="+mn-cs"/>
      </a:defRPr>
    </a:lvl3pPr>
    <a:lvl4pPr marL="3218180" algn="l" defTabSz="2145665" rtl="0" eaLnBrk="1" latinLnBrk="0" hangingPunct="1">
      <a:defRPr sz="2815" kern="1200">
        <a:solidFill>
          <a:schemeClr val="tx1"/>
        </a:solidFill>
        <a:latin typeface="+mn-lt"/>
        <a:ea typeface="+mn-ea"/>
        <a:cs typeface="+mn-cs"/>
      </a:defRPr>
    </a:lvl4pPr>
    <a:lvl5pPr marL="4291330" algn="l" defTabSz="2145665" rtl="0" eaLnBrk="1" latinLnBrk="0" hangingPunct="1">
      <a:defRPr sz="2815" kern="1200">
        <a:solidFill>
          <a:schemeClr val="tx1"/>
        </a:solidFill>
        <a:latin typeface="+mn-lt"/>
        <a:ea typeface="+mn-ea"/>
        <a:cs typeface="+mn-cs"/>
      </a:defRPr>
    </a:lvl5pPr>
    <a:lvl6pPr marL="5363845" algn="l" defTabSz="2145665" rtl="0" eaLnBrk="1" latinLnBrk="0" hangingPunct="1">
      <a:defRPr sz="2815" kern="1200">
        <a:solidFill>
          <a:schemeClr val="tx1"/>
        </a:solidFill>
        <a:latin typeface="+mn-lt"/>
        <a:ea typeface="+mn-ea"/>
        <a:cs typeface="+mn-cs"/>
      </a:defRPr>
    </a:lvl6pPr>
    <a:lvl7pPr marL="6436360" algn="l" defTabSz="2145665" rtl="0" eaLnBrk="1" latinLnBrk="0" hangingPunct="1">
      <a:defRPr sz="2815" kern="1200">
        <a:solidFill>
          <a:schemeClr val="tx1"/>
        </a:solidFill>
        <a:latin typeface="+mn-lt"/>
        <a:ea typeface="+mn-ea"/>
        <a:cs typeface="+mn-cs"/>
      </a:defRPr>
    </a:lvl7pPr>
    <a:lvl8pPr marL="7509510" algn="l" defTabSz="2145665" rtl="0" eaLnBrk="1" latinLnBrk="0" hangingPunct="1">
      <a:defRPr sz="2815" kern="1200">
        <a:solidFill>
          <a:schemeClr val="tx1"/>
        </a:solidFill>
        <a:latin typeface="+mn-lt"/>
        <a:ea typeface="+mn-ea"/>
        <a:cs typeface="+mn-cs"/>
      </a:defRPr>
    </a:lvl8pPr>
    <a:lvl9pPr marL="8582025" algn="l" defTabSz="2145665" rtl="0" eaLnBrk="1" latinLnBrk="0" hangingPunct="1">
      <a:defRPr sz="281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42900" y="1143000"/>
            <a:ext cx="61722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19086-BBAD-4675-9246-D679716717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42900" y="1143000"/>
            <a:ext cx="61722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19086-BBAD-4675-9246-D679716717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42900" y="1143000"/>
            <a:ext cx="61722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19086-BBAD-4675-9246-D679716717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42900" y="1143000"/>
            <a:ext cx="61722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19086-BBAD-4675-9246-D679716717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19086-BBAD-4675-9246-D679716717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99994" y="4124164"/>
            <a:ext cx="37799963" cy="8773325"/>
          </a:xfrm>
        </p:spPr>
        <p:txBody>
          <a:bodyPr anchor="b"/>
          <a:lstStyle>
            <a:lvl1pPr algn="ctr">
              <a:defRPr sz="2204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99994" y="13235822"/>
            <a:ext cx="37799963" cy="6084159"/>
          </a:xfrm>
        </p:spPr>
        <p:txBody>
          <a:bodyPr/>
          <a:lstStyle>
            <a:lvl1pPr marL="0" indent="0" algn="ctr">
              <a:buNone/>
              <a:defRPr sz="8820"/>
            </a:lvl1pPr>
            <a:lvl2pPr marL="1680210" indent="0" algn="ctr">
              <a:buNone/>
              <a:defRPr sz="7350"/>
            </a:lvl2pPr>
            <a:lvl3pPr marL="3359785" indent="0" algn="ctr">
              <a:buNone/>
              <a:defRPr sz="6615"/>
            </a:lvl3pPr>
            <a:lvl4pPr marL="5039995" indent="0" algn="ctr">
              <a:buNone/>
              <a:defRPr sz="5880"/>
            </a:lvl4pPr>
            <a:lvl5pPr marL="6720205" indent="0" algn="ctr">
              <a:buNone/>
              <a:defRPr sz="5880"/>
            </a:lvl5pPr>
            <a:lvl6pPr marL="8399780" indent="0" algn="ctr">
              <a:buNone/>
              <a:defRPr sz="5880"/>
            </a:lvl6pPr>
            <a:lvl7pPr marL="10079990" indent="0" algn="ctr">
              <a:buNone/>
              <a:defRPr sz="5880"/>
            </a:lvl7pPr>
            <a:lvl8pPr marL="11759565" indent="0" algn="ctr">
              <a:buNone/>
              <a:defRPr sz="5880"/>
            </a:lvl8pPr>
            <a:lvl9pPr marL="13439775" indent="0" algn="ctr">
              <a:buNone/>
              <a:defRPr sz="588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CC483-7636-4A0E-81AE-CA6AB1DCC63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D2577-6664-40CD-8780-57E03A5D07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CC483-7636-4A0E-81AE-CA6AB1DCC63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D2577-6664-40CD-8780-57E03A5D07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8747" y="6282497"/>
            <a:ext cx="43469957" cy="10482488"/>
          </a:xfrm>
        </p:spPr>
        <p:txBody>
          <a:bodyPr anchor="b"/>
          <a:lstStyle>
            <a:lvl1pPr>
              <a:defRPr sz="2204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8747" y="16864153"/>
            <a:ext cx="43469957" cy="5512493"/>
          </a:xfrm>
        </p:spPr>
        <p:txBody>
          <a:bodyPr/>
          <a:lstStyle>
            <a:lvl1pPr marL="0" indent="0">
              <a:buNone/>
              <a:defRPr sz="8820">
                <a:solidFill>
                  <a:schemeClr val="tx1">
                    <a:tint val="75000"/>
                  </a:schemeClr>
                </a:solidFill>
              </a:defRPr>
            </a:lvl1pPr>
            <a:lvl2pPr marL="1680210" indent="0">
              <a:buNone/>
              <a:defRPr sz="7350">
                <a:solidFill>
                  <a:schemeClr val="tx1">
                    <a:tint val="75000"/>
                  </a:schemeClr>
                </a:solidFill>
              </a:defRPr>
            </a:lvl2pPr>
            <a:lvl3pPr marL="3359785" indent="0">
              <a:buNone/>
              <a:defRPr sz="6615">
                <a:solidFill>
                  <a:schemeClr val="tx1">
                    <a:tint val="75000"/>
                  </a:schemeClr>
                </a:solidFill>
              </a:defRPr>
            </a:lvl3pPr>
            <a:lvl4pPr marL="5039995" indent="0">
              <a:buNone/>
              <a:defRPr sz="5880">
                <a:solidFill>
                  <a:schemeClr val="tx1">
                    <a:tint val="75000"/>
                  </a:schemeClr>
                </a:solidFill>
              </a:defRPr>
            </a:lvl4pPr>
            <a:lvl5pPr marL="6720205" indent="0">
              <a:buNone/>
              <a:defRPr sz="5880">
                <a:solidFill>
                  <a:schemeClr val="tx1">
                    <a:tint val="75000"/>
                  </a:schemeClr>
                </a:solidFill>
              </a:defRPr>
            </a:lvl5pPr>
            <a:lvl6pPr marL="8399780" indent="0">
              <a:buNone/>
              <a:defRPr sz="5880">
                <a:solidFill>
                  <a:schemeClr val="tx1">
                    <a:tint val="75000"/>
                  </a:schemeClr>
                </a:solidFill>
              </a:defRPr>
            </a:lvl6pPr>
            <a:lvl7pPr marL="10079990" indent="0">
              <a:buNone/>
              <a:defRPr sz="5880">
                <a:solidFill>
                  <a:schemeClr val="tx1">
                    <a:tint val="75000"/>
                  </a:schemeClr>
                </a:solidFill>
              </a:defRPr>
            </a:lvl7pPr>
            <a:lvl8pPr marL="11759565" indent="0">
              <a:buNone/>
              <a:defRPr sz="5880">
                <a:solidFill>
                  <a:schemeClr val="tx1">
                    <a:tint val="75000"/>
                  </a:schemeClr>
                </a:solidFill>
              </a:defRPr>
            </a:lvl8pPr>
            <a:lvl9pPr marL="13439775" indent="0">
              <a:buNone/>
              <a:defRPr sz="58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CC483-7636-4A0E-81AE-CA6AB1DCC63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D2577-6664-40CD-8780-57E03A5D07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4996" y="6708326"/>
            <a:ext cx="21419979" cy="1598915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514975" y="6708326"/>
            <a:ext cx="21419979" cy="1598915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CC483-7636-4A0E-81AE-CA6AB1DCC63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D2577-6664-40CD-8780-57E03A5D07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561" y="1341667"/>
            <a:ext cx="43469957" cy="487083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1563" y="6177496"/>
            <a:ext cx="21321539" cy="3027495"/>
          </a:xfrm>
        </p:spPr>
        <p:txBody>
          <a:bodyPr anchor="b"/>
          <a:lstStyle>
            <a:lvl1pPr marL="0" indent="0">
              <a:buNone/>
              <a:defRPr sz="8820" b="1"/>
            </a:lvl1pPr>
            <a:lvl2pPr marL="1680210" indent="0">
              <a:buNone/>
              <a:defRPr sz="7350" b="1"/>
            </a:lvl2pPr>
            <a:lvl3pPr marL="3359785" indent="0">
              <a:buNone/>
              <a:defRPr sz="6615" b="1"/>
            </a:lvl3pPr>
            <a:lvl4pPr marL="5039995" indent="0">
              <a:buNone/>
              <a:defRPr sz="5880" b="1"/>
            </a:lvl4pPr>
            <a:lvl5pPr marL="6720205" indent="0">
              <a:buNone/>
              <a:defRPr sz="5880" b="1"/>
            </a:lvl5pPr>
            <a:lvl6pPr marL="8399780" indent="0">
              <a:buNone/>
              <a:defRPr sz="5880" b="1"/>
            </a:lvl6pPr>
            <a:lvl7pPr marL="10079990" indent="0">
              <a:buNone/>
              <a:defRPr sz="5880" b="1"/>
            </a:lvl7pPr>
            <a:lvl8pPr marL="11759565" indent="0">
              <a:buNone/>
              <a:defRPr sz="5880" b="1"/>
            </a:lvl8pPr>
            <a:lvl9pPr marL="13439775" indent="0">
              <a:buNone/>
              <a:defRPr sz="588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563" y="9204991"/>
            <a:ext cx="21321539" cy="1353915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514975" y="6177496"/>
            <a:ext cx="21426543" cy="3027495"/>
          </a:xfrm>
        </p:spPr>
        <p:txBody>
          <a:bodyPr anchor="b"/>
          <a:lstStyle>
            <a:lvl1pPr marL="0" indent="0">
              <a:buNone/>
              <a:defRPr sz="8820" b="1"/>
            </a:lvl1pPr>
            <a:lvl2pPr marL="1680210" indent="0">
              <a:buNone/>
              <a:defRPr sz="7350" b="1"/>
            </a:lvl2pPr>
            <a:lvl3pPr marL="3359785" indent="0">
              <a:buNone/>
              <a:defRPr sz="6615" b="1"/>
            </a:lvl3pPr>
            <a:lvl4pPr marL="5039995" indent="0">
              <a:buNone/>
              <a:defRPr sz="5880" b="1"/>
            </a:lvl4pPr>
            <a:lvl5pPr marL="6720205" indent="0">
              <a:buNone/>
              <a:defRPr sz="5880" b="1"/>
            </a:lvl5pPr>
            <a:lvl6pPr marL="8399780" indent="0">
              <a:buNone/>
              <a:defRPr sz="5880" b="1"/>
            </a:lvl6pPr>
            <a:lvl7pPr marL="10079990" indent="0">
              <a:buNone/>
              <a:defRPr sz="5880" b="1"/>
            </a:lvl7pPr>
            <a:lvl8pPr marL="11759565" indent="0">
              <a:buNone/>
              <a:defRPr sz="5880" b="1"/>
            </a:lvl8pPr>
            <a:lvl9pPr marL="13439775" indent="0">
              <a:buNone/>
              <a:defRPr sz="588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514975" y="9204991"/>
            <a:ext cx="21426543" cy="1353915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CC483-7636-4A0E-81AE-CA6AB1DCC637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D2577-6664-40CD-8780-57E03A5D07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CC483-7636-4A0E-81AE-CA6AB1DCC63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D2577-6664-40CD-8780-57E03A5D07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CC483-7636-4A0E-81AE-CA6AB1DCC637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D2577-6664-40CD-8780-57E03A5D07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563" y="1679998"/>
            <a:ext cx="16255294" cy="5879994"/>
          </a:xfrm>
        </p:spPr>
        <p:txBody>
          <a:bodyPr anchor="b"/>
          <a:lstStyle>
            <a:lvl1pPr>
              <a:defRPr sz="1176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6543" y="3628331"/>
            <a:ext cx="25514975" cy="17908316"/>
          </a:xfrm>
        </p:spPr>
        <p:txBody>
          <a:bodyPr/>
          <a:lstStyle>
            <a:lvl1pPr>
              <a:defRPr sz="11760"/>
            </a:lvl1pPr>
            <a:lvl2pPr>
              <a:defRPr sz="10290"/>
            </a:lvl2pPr>
            <a:lvl3pPr>
              <a:defRPr sz="8820"/>
            </a:lvl3pPr>
            <a:lvl4pPr>
              <a:defRPr sz="7350"/>
            </a:lvl4pPr>
            <a:lvl5pPr>
              <a:defRPr sz="7350"/>
            </a:lvl5pPr>
            <a:lvl6pPr>
              <a:defRPr sz="7350"/>
            </a:lvl6pPr>
            <a:lvl7pPr>
              <a:defRPr sz="7350"/>
            </a:lvl7pPr>
            <a:lvl8pPr>
              <a:defRPr sz="7350"/>
            </a:lvl8pPr>
            <a:lvl9pPr>
              <a:defRPr sz="73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563" y="7559993"/>
            <a:ext cx="16255294" cy="14005821"/>
          </a:xfrm>
        </p:spPr>
        <p:txBody>
          <a:bodyPr/>
          <a:lstStyle>
            <a:lvl1pPr marL="0" indent="0">
              <a:buNone/>
              <a:defRPr sz="5880"/>
            </a:lvl1pPr>
            <a:lvl2pPr marL="1680210" indent="0">
              <a:buNone/>
              <a:defRPr sz="5145"/>
            </a:lvl2pPr>
            <a:lvl3pPr marL="3359785" indent="0">
              <a:buNone/>
              <a:defRPr sz="4410"/>
            </a:lvl3pPr>
            <a:lvl4pPr marL="5039995" indent="0">
              <a:buNone/>
              <a:defRPr sz="3675"/>
            </a:lvl4pPr>
            <a:lvl5pPr marL="6720205" indent="0">
              <a:buNone/>
              <a:defRPr sz="3675"/>
            </a:lvl5pPr>
            <a:lvl6pPr marL="8399780" indent="0">
              <a:buNone/>
              <a:defRPr sz="3675"/>
            </a:lvl6pPr>
            <a:lvl7pPr marL="10079990" indent="0">
              <a:buNone/>
              <a:defRPr sz="3675"/>
            </a:lvl7pPr>
            <a:lvl8pPr marL="11759565" indent="0">
              <a:buNone/>
              <a:defRPr sz="3675"/>
            </a:lvl8pPr>
            <a:lvl9pPr marL="13439775" indent="0">
              <a:buNone/>
              <a:defRPr sz="367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CC483-7636-4A0E-81AE-CA6AB1DCC63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D2577-6664-40CD-8780-57E03A5D07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563" y="1679998"/>
            <a:ext cx="16255294" cy="5879994"/>
          </a:xfrm>
        </p:spPr>
        <p:txBody>
          <a:bodyPr anchor="b"/>
          <a:lstStyle>
            <a:lvl1pPr>
              <a:defRPr sz="1176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426543" y="3628331"/>
            <a:ext cx="25514975" cy="17908316"/>
          </a:xfrm>
        </p:spPr>
        <p:txBody>
          <a:bodyPr anchor="t"/>
          <a:lstStyle>
            <a:lvl1pPr marL="0" indent="0">
              <a:buNone/>
              <a:defRPr sz="11760"/>
            </a:lvl1pPr>
            <a:lvl2pPr marL="1680210" indent="0">
              <a:buNone/>
              <a:defRPr sz="10290"/>
            </a:lvl2pPr>
            <a:lvl3pPr marL="3359785" indent="0">
              <a:buNone/>
              <a:defRPr sz="8820"/>
            </a:lvl3pPr>
            <a:lvl4pPr marL="5039995" indent="0">
              <a:buNone/>
              <a:defRPr sz="7350"/>
            </a:lvl4pPr>
            <a:lvl5pPr marL="6720205" indent="0">
              <a:buNone/>
              <a:defRPr sz="7350"/>
            </a:lvl5pPr>
            <a:lvl6pPr marL="8399780" indent="0">
              <a:buNone/>
              <a:defRPr sz="7350"/>
            </a:lvl6pPr>
            <a:lvl7pPr marL="10079990" indent="0">
              <a:buNone/>
              <a:defRPr sz="7350"/>
            </a:lvl7pPr>
            <a:lvl8pPr marL="11759565" indent="0">
              <a:buNone/>
              <a:defRPr sz="7350"/>
            </a:lvl8pPr>
            <a:lvl9pPr marL="13439775" indent="0">
              <a:buNone/>
              <a:defRPr sz="735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563" y="7559993"/>
            <a:ext cx="16255294" cy="14005821"/>
          </a:xfrm>
        </p:spPr>
        <p:txBody>
          <a:bodyPr/>
          <a:lstStyle>
            <a:lvl1pPr marL="0" indent="0">
              <a:buNone/>
              <a:defRPr sz="5880"/>
            </a:lvl1pPr>
            <a:lvl2pPr marL="1680210" indent="0">
              <a:buNone/>
              <a:defRPr sz="5145"/>
            </a:lvl2pPr>
            <a:lvl3pPr marL="3359785" indent="0">
              <a:buNone/>
              <a:defRPr sz="4410"/>
            </a:lvl3pPr>
            <a:lvl4pPr marL="5039995" indent="0">
              <a:buNone/>
              <a:defRPr sz="3675"/>
            </a:lvl4pPr>
            <a:lvl5pPr marL="6720205" indent="0">
              <a:buNone/>
              <a:defRPr sz="3675"/>
            </a:lvl5pPr>
            <a:lvl6pPr marL="8399780" indent="0">
              <a:buNone/>
              <a:defRPr sz="3675"/>
            </a:lvl6pPr>
            <a:lvl7pPr marL="10079990" indent="0">
              <a:buNone/>
              <a:defRPr sz="3675"/>
            </a:lvl7pPr>
            <a:lvl8pPr marL="11759565" indent="0">
              <a:buNone/>
              <a:defRPr sz="3675"/>
            </a:lvl8pPr>
            <a:lvl9pPr marL="13439775" indent="0">
              <a:buNone/>
              <a:defRPr sz="367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CC483-7636-4A0E-81AE-CA6AB1DCC63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D2577-6664-40CD-8780-57E03A5D07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CC483-7636-4A0E-81AE-CA6AB1DCC63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D2577-6664-40CD-8780-57E03A5D07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067464" y="1341665"/>
            <a:ext cx="10867489" cy="2135581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64997" y="1341665"/>
            <a:ext cx="31972468" cy="2135581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CC483-7636-4A0E-81AE-CA6AB1DCC63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D2577-6664-40CD-8780-57E03A5D07F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64997" y="1341667"/>
            <a:ext cx="43469957" cy="48708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4997" y="6708326"/>
            <a:ext cx="43469957" cy="159891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64996" y="23356646"/>
            <a:ext cx="11339989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4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CCC483-7636-4A0E-81AE-CA6AB1DCC63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694984" y="23356646"/>
            <a:ext cx="17009983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4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594965" y="23356646"/>
            <a:ext cx="11339989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AD2577-6664-40CD-8780-57E03A5D07F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359785" rtl="0" eaLnBrk="1" latinLnBrk="0" hangingPunct="1">
        <a:lnSpc>
          <a:spcPct val="90000"/>
        </a:lnSpc>
        <a:spcBef>
          <a:spcPct val="0"/>
        </a:spcBef>
        <a:buNone/>
        <a:defRPr sz="161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40105" indent="-840105" algn="l" defTabSz="3359785" rtl="0" eaLnBrk="1" latinLnBrk="0" hangingPunct="1">
        <a:lnSpc>
          <a:spcPct val="90000"/>
        </a:lnSpc>
        <a:spcBef>
          <a:spcPts val="3675"/>
        </a:spcBef>
        <a:buFont typeface="Arial" panose="020B0604020202020204" pitchFamily="34" charset="0"/>
        <a:buChar char="•"/>
        <a:defRPr sz="10290" kern="1200">
          <a:solidFill>
            <a:schemeClr val="tx1"/>
          </a:solidFill>
          <a:latin typeface="+mn-lt"/>
          <a:ea typeface="+mn-ea"/>
          <a:cs typeface="+mn-cs"/>
        </a:defRPr>
      </a:lvl1pPr>
      <a:lvl2pPr marL="2519680" indent="-840105" algn="l" defTabSz="3359785" rtl="0" eaLnBrk="1" latinLnBrk="0" hangingPunct="1">
        <a:lnSpc>
          <a:spcPct val="90000"/>
        </a:lnSpc>
        <a:spcBef>
          <a:spcPts val="1835"/>
        </a:spcBef>
        <a:buFont typeface="Arial" panose="020B0604020202020204" pitchFamily="34" charset="0"/>
        <a:buChar char="•"/>
        <a:defRPr sz="8820" kern="1200">
          <a:solidFill>
            <a:schemeClr val="tx1"/>
          </a:solidFill>
          <a:latin typeface="+mn-lt"/>
          <a:ea typeface="+mn-ea"/>
          <a:cs typeface="+mn-cs"/>
        </a:defRPr>
      </a:lvl2pPr>
      <a:lvl3pPr marL="4199890" indent="-840105" algn="l" defTabSz="3359785" rtl="0" eaLnBrk="1" latinLnBrk="0" hangingPunct="1">
        <a:lnSpc>
          <a:spcPct val="90000"/>
        </a:lnSpc>
        <a:spcBef>
          <a:spcPts val="1835"/>
        </a:spcBef>
        <a:buFont typeface="Arial" panose="020B0604020202020204" pitchFamily="34" charset="0"/>
        <a:buChar char="•"/>
        <a:defRPr sz="7350" kern="1200">
          <a:solidFill>
            <a:schemeClr val="tx1"/>
          </a:solidFill>
          <a:latin typeface="+mn-lt"/>
          <a:ea typeface="+mn-ea"/>
          <a:cs typeface="+mn-cs"/>
        </a:defRPr>
      </a:lvl3pPr>
      <a:lvl4pPr marL="5880100" indent="-840105" algn="l" defTabSz="3359785" rtl="0" eaLnBrk="1" latinLnBrk="0" hangingPunct="1">
        <a:lnSpc>
          <a:spcPct val="90000"/>
        </a:lnSpc>
        <a:spcBef>
          <a:spcPts val="1835"/>
        </a:spcBef>
        <a:buFont typeface="Arial" panose="020B0604020202020204" pitchFamily="34" charset="0"/>
        <a:buChar char="•"/>
        <a:defRPr sz="6615" kern="1200">
          <a:solidFill>
            <a:schemeClr val="tx1"/>
          </a:solidFill>
          <a:latin typeface="+mn-lt"/>
          <a:ea typeface="+mn-ea"/>
          <a:cs typeface="+mn-cs"/>
        </a:defRPr>
      </a:lvl4pPr>
      <a:lvl5pPr marL="7559675" indent="-840105" algn="l" defTabSz="3359785" rtl="0" eaLnBrk="1" latinLnBrk="0" hangingPunct="1">
        <a:lnSpc>
          <a:spcPct val="90000"/>
        </a:lnSpc>
        <a:spcBef>
          <a:spcPts val="1835"/>
        </a:spcBef>
        <a:buFont typeface="Arial" panose="020B0604020202020204" pitchFamily="34" charset="0"/>
        <a:buChar char="•"/>
        <a:defRPr sz="6615" kern="1200">
          <a:solidFill>
            <a:schemeClr val="tx1"/>
          </a:solidFill>
          <a:latin typeface="+mn-lt"/>
          <a:ea typeface="+mn-ea"/>
          <a:cs typeface="+mn-cs"/>
        </a:defRPr>
      </a:lvl5pPr>
      <a:lvl6pPr marL="9239885" indent="-840105" algn="l" defTabSz="3359785" rtl="0" eaLnBrk="1" latinLnBrk="0" hangingPunct="1">
        <a:lnSpc>
          <a:spcPct val="90000"/>
        </a:lnSpc>
        <a:spcBef>
          <a:spcPts val="1835"/>
        </a:spcBef>
        <a:buFont typeface="Arial" panose="020B0604020202020204" pitchFamily="34" charset="0"/>
        <a:buChar char="•"/>
        <a:defRPr sz="6615" kern="1200">
          <a:solidFill>
            <a:schemeClr val="tx1"/>
          </a:solidFill>
          <a:latin typeface="+mn-lt"/>
          <a:ea typeface="+mn-ea"/>
          <a:cs typeface="+mn-cs"/>
        </a:defRPr>
      </a:lvl6pPr>
      <a:lvl7pPr marL="10920095" indent="-840105" algn="l" defTabSz="3359785" rtl="0" eaLnBrk="1" latinLnBrk="0" hangingPunct="1">
        <a:lnSpc>
          <a:spcPct val="90000"/>
        </a:lnSpc>
        <a:spcBef>
          <a:spcPts val="1835"/>
        </a:spcBef>
        <a:buFont typeface="Arial" panose="020B0604020202020204" pitchFamily="34" charset="0"/>
        <a:buChar char="•"/>
        <a:defRPr sz="6615" kern="1200">
          <a:solidFill>
            <a:schemeClr val="tx1"/>
          </a:solidFill>
          <a:latin typeface="+mn-lt"/>
          <a:ea typeface="+mn-ea"/>
          <a:cs typeface="+mn-cs"/>
        </a:defRPr>
      </a:lvl7pPr>
      <a:lvl8pPr marL="12599670" indent="-840105" algn="l" defTabSz="3359785" rtl="0" eaLnBrk="1" latinLnBrk="0" hangingPunct="1">
        <a:lnSpc>
          <a:spcPct val="90000"/>
        </a:lnSpc>
        <a:spcBef>
          <a:spcPts val="1835"/>
        </a:spcBef>
        <a:buFont typeface="Arial" panose="020B0604020202020204" pitchFamily="34" charset="0"/>
        <a:buChar char="•"/>
        <a:defRPr sz="6615" kern="1200">
          <a:solidFill>
            <a:schemeClr val="tx1"/>
          </a:solidFill>
          <a:latin typeface="+mn-lt"/>
          <a:ea typeface="+mn-ea"/>
          <a:cs typeface="+mn-cs"/>
        </a:defRPr>
      </a:lvl8pPr>
      <a:lvl9pPr marL="14279880" indent="-840105" algn="l" defTabSz="3359785" rtl="0" eaLnBrk="1" latinLnBrk="0" hangingPunct="1">
        <a:lnSpc>
          <a:spcPct val="90000"/>
        </a:lnSpc>
        <a:spcBef>
          <a:spcPts val="1835"/>
        </a:spcBef>
        <a:buFont typeface="Arial" panose="020B0604020202020204" pitchFamily="34" charset="0"/>
        <a:buChar char="•"/>
        <a:defRPr sz="66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359785" rtl="0" eaLnBrk="1" latinLnBrk="0" hangingPunct="1">
        <a:defRPr sz="6615" kern="1200">
          <a:solidFill>
            <a:schemeClr val="tx1"/>
          </a:solidFill>
          <a:latin typeface="+mn-lt"/>
          <a:ea typeface="+mn-ea"/>
          <a:cs typeface="+mn-cs"/>
        </a:defRPr>
      </a:lvl1pPr>
      <a:lvl2pPr marL="1680210" algn="l" defTabSz="3359785" rtl="0" eaLnBrk="1" latinLnBrk="0" hangingPunct="1">
        <a:defRPr sz="6615" kern="1200">
          <a:solidFill>
            <a:schemeClr val="tx1"/>
          </a:solidFill>
          <a:latin typeface="+mn-lt"/>
          <a:ea typeface="+mn-ea"/>
          <a:cs typeface="+mn-cs"/>
        </a:defRPr>
      </a:lvl2pPr>
      <a:lvl3pPr marL="3359785" algn="l" defTabSz="3359785" rtl="0" eaLnBrk="1" latinLnBrk="0" hangingPunct="1">
        <a:defRPr sz="6615" kern="1200">
          <a:solidFill>
            <a:schemeClr val="tx1"/>
          </a:solidFill>
          <a:latin typeface="+mn-lt"/>
          <a:ea typeface="+mn-ea"/>
          <a:cs typeface="+mn-cs"/>
        </a:defRPr>
      </a:lvl3pPr>
      <a:lvl4pPr marL="5039995" algn="l" defTabSz="3359785" rtl="0" eaLnBrk="1" latinLnBrk="0" hangingPunct="1">
        <a:defRPr sz="6615" kern="1200">
          <a:solidFill>
            <a:schemeClr val="tx1"/>
          </a:solidFill>
          <a:latin typeface="+mn-lt"/>
          <a:ea typeface="+mn-ea"/>
          <a:cs typeface="+mn-cs"/>
        </a:defRPr>
      </a:lvl4pPr>
      <a:lvl5pPr marL="6720205" algn="l" defTabSz="3359785" rtl="0" eaLnBrk="1" latinLnBrk="0" hangingPunct="1">
        <a:defRPr sz="6615" kern="1200">
          <a:solidFill>
            <a:schemeClr val="tx1"/>
          </a:solidFill>
          <a:latin typeface="+mn-lt"/>
          <a:ea typeface="+mn-ea"/>
          <a:cs typeface="+mn-cs"/>
        </a:defRPr>
      </a:lvl5pPr>
      <a:lvl6pPr marL="8399780" algn="l" defTabSz="3359785" rtl="0" eaLnBrk="1" latinLnBrk="0" hangingPunct="1">
        <a:defRPr sz="6615" kern="1200">
          <a:solidFill>
            <a:schemeClr val="tx1"/>
          </a:solidFill>
          <a:latin typeface="+mn-lt"/>
          <a:ea typeface="+mn-ea"/>
          <a:cs typeface="+mn-cs"/>
        </a:defRPr>
      </a:lvl6pPr>
      <a:lvl7pPr marL="10079990" algn="l" defTabSz="3359785" rtl="0" eaLnBrk="1" latinLnBrk="0" hangingPunct="1">
        <a:defRPr sz="6615" kern="1200">
          <a:solidFill>
            <a:schemeClr val="tx1"/>
          </a:solidFill>
          <a:latin typeface="+mn-lt"/>
          <a:ea typeface="+mn-ea"/>
          <a:cs typeface="+mn-cs"/>
        </a:defRPr>
      </a:lvl7pPr>
      <a:lvl8pPr marL="11759565" algn="l" defTabSz="3359785" rtl="0" eaLnBrk="1" latinLnBrk="0" hangingPunct="1">
        <a:defRPr sz="6615" kern="1200">
          <a:solidFill>
            <a:schemeClr val="tx1"/>
          </a:solidFill>
          <a:latin typeface="+mn-lt"/>
          <a:ea typeface="+mn-ea"/>
          <a:cs typeface="+mn-cs"/>
        </a:defRPr>
      </a:lvl8pPr>
      <a:lvl9pPr marL="13439775" algn="l" defTabSz="3359785" rtl="0" eaLnBrk="1" latinLnBrk="0" hangingPunct="1">
        <a:defRPr sz="66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2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chart" Target="../charts/chart3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chart" Target="../charts/chart12.xml"/><Relationship Id="rId4" Type="http://schemas.openxmlformats.org/officeDocument/2006/relationships/chart" Target="../charts/chart11.xml"/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chart" Target="../charts/chart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chart" Target="../charts/chart17.xml"/><Relationship Id="rId4" Type="http://schemas.openxmlformats.org/officeDocument/2006/relationships/chart" Target="../charts/chart16.xml"/><Relationship Id="rId3" Type="http://schemas.openxmlformats.org/officeDocument/2006/relationships/chart" Target="../charts/chart15.xml"/><Relationship Id="rId2" Type="http://schemas.openxmlformats.org/officeDocument/2006/relationships/chart" Target="../charts/chart14.xml"/><Relationship Id="rId1" Type="http://schemas.openxmlformats.org/officeDocument/2006/relationships/chart" Target="../charts/chart13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chart" Target="../charts/chart22.xml"/><Relationship Id="rId4" Type="http://schemas.openxmlformats.org/officeDocument/2006/relationships/chart" Target="../charts/chart21.xml"/><Relationship Id="rId3" Type="http://schemas.openxmlformats.org/officeDocument/2006/relationships/chart" Target="../charts/chart20.xml"/><Relationship Id="rId2" Type="http://schemas.openxmlformats.org/officeDocument/2006/relationships/chart" Target="../charts/chart19.xml"/><Relationship Id="rId1" Type="http://schemas.openxmlformats.org/officeDocument/2006/relationships/chart" Target="../charts/chart18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4" Type="http://schemas.openxmlformats.org/officeDocument/2006/relationships/notesSlide" Target="../notesSlides/notesSlide4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13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图表 3"/>
          <p:cNvGraphicFramePr/>
          <p:nvPr/>
        </p:nvGraphicFramePr>
        <p:xfrm>
          <a:off x="17940667" y="8024281"/>
          <a:ext cx="13880448" cy="99843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" name="图表 4"/>
          <p:cNvGraphicFramePr/>
          <p:nvPr/>
        </p:nvGraphicFramePr>
        <p:xfrm>
          <a:off x="21903535" y="11224419"/>
          <a:ext cx="6494770" cy="3888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25359989" y="9891571"/>
            <a:ext cx="200393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Problem Solving</a:t>
            </a:r>
            <a:endParaRPr lang="zh-CN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6931782" y="11335887"/>
            <a:ext cx="228526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Error Correction</a:t>
            </a:r>
            <a:endParaRPr lang="zh-CN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6361955" y="13445001"/>
            <a:ext cx="350996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Question Answering</a:t>
            </a:r>
            <a:endParaRPr lang="zh-CN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7363927" y="16794743"/>
            <a:ext cx="344108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Personalized Learning Support</a:t>
            </a:r>
            <a:endParaRPr lang="zh-CN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4105864" y="15872187"/>
            <a:ext cx="344108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Emotional Support</a:t>
            </a:r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1439816" y="14953765"/>
            <a:ext cx="344108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Question Generation</a:t>
            </a:r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0183002" y="12612457"/>
            <a:ext cx="344108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Automatic Grading</a:t>
            </a:r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1514429" y="10183959"/>
            <a:ext cx="272485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Teaching Material Generation</a:t>
            </a:r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2665267" y="7342095"/>
            <a:ext cx="344108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Personalized Content Creation</a:t>
            </a:r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5053993" y="12660723"/>
            <a:ext cx="183734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 Oriented</a:t>
            </a:r>
            <a:endParaRPr lang="zh-CN" altLang="en-US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3320605" y="12522453"/>
            <a:ext cx="183734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Teacher Oriented</a:t>
            </a:r>
            <a:endParaRPr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24385801" y="8526213"/>
            <a:ext cx="159346" cy="6711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27836951" y="16227566"/>
            <a:ext cx="445626" cy="56717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图表 3"/>
          <p:cNvGraphicFramePr/>
          <p:nvPr/>
        </p:nvGraphicFramePr>
        <p:xfrm>
          <a:off x="16676895" y="4411848"/>
          <a:ext cx="15421884" cy="104824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" name="图表 4"/>
          <p:cNvGraphicFramePr/>
          <p:nvPr/>
        </p:nvGraphicFramePr>
        <p:xfrm>
          <a:off x="17484639" y="4159755"/>
          <a:ext cx="12680878" cy="104473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图表 5"/>
          <p:cNvGraphicFramePr/>
          <p:nvPr/>
        </p:nvGraphicFramePr>
        <p:xfrm>
          <a:off x="16730889" y="1881002"/>
          <a:ext cx="15240000" cy="157226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4" name="图表 33"/>
          <p:cNvGraphicFramePr/>
          <p:nvPr/>
        </p:nvGraphicFramePr>
        <p:xfrm>
          <a:off x="20012680" y="6696597"/>
          <a:ext cx="9383949" cy="57495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5" name="图表 34"/>
          <p:cNvGraphicFramePr/>
          <p:nvPr/>
        </p:nvGraphicFramePr>
        <p:xfrm>
          <a:off x="22262603" y="8294008"/>
          <a:ext cx="4176589" cy="24487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6" name="文本框 35"/>
          <p:cNvSpPr txBox="1"/>
          <p:nvPr/>
        </p:nvSpPr>
        <p:spPr>
          <a:xfrm>
            <a:off x="23932665" y="9309780"/>
            <a:ext cx="18373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Student 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Oriented</a:t>
            </a:r>
            <a:endParaRPr lang="zh-CN" altLang="en-US" sz="1600" dirty="0">
              <a:solidFill>
                <a:schemeClr val="bg1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22906405" y="9206081"/>
            <a:ext cx="18373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Teacher 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Oriented</a:t>
            </a:r>
            <a:endParaRPr lang="zh-CN" altLang="en-US" sz="1600" dirty="0">
              <a:solidFill>
                <a:schemeClr val="bg1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 rot="17722872">
            <a:off x="24222537" y="7617726"/>
            <a:ext cx="16006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dirty="0">
                <a:latin typeface="Consolas" panose="020B0609020204030204" pitchFamily="49" charset="0"/>
                <a:cs typeface="Arial" panose="020B0604020202020204" pitchFamily="34" charset="0"/>
              </a:rPr>
              <a:t>Problem Solving</a:t>
            </a:r>
            <a:endParaRPr lang="zh-CN" altLang="en-US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 rot="19944444">
            <a:off x="25020624" y="8385586"/>
            <a:ext cx="16607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dirty="0">
                <a:latin typeface="Consolas" panose="020B0609020204030204" pitchFamily="49" charset="0"/>
                <a:cs typeface="Arial" panose="020B0604020202020204" pitchFamily="34" charset="0"/>
              </a:rPr>
              <a:t>Error </a:t>
            </a:r>
            <a:endParaRPr lang="en-US" altLang="zh-CN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algn="r"/>
            <a:r>
              <a:rPr lang="en-US" altLang="zh-CN" dirty="0">
                <a:latin typeface="Consolas" panose="020B0609020204030204" pitchFamily="49" charset="0"/>
                <a:cs typeface="Arial" panose="020B0604020202020204" pitchFamily="34" charset="0"/>
              </a:rPr>
              <a:t>Correction</a:t>
            </a:r>
            <a:endParaRPr lang="zh-CN" altLang="en-US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 rot="957362">
            <a:off x="24639807" y="9514950"/>
            <a:ext cx="21614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dirty="0">
                <a:latin typeface="Consolas" panose="020B0609020204030204" pitchFamily="49" charset="0"/>
                <a:cs typeface="Arial" panose="020B0604020202020204" pitchFamily="34" charset="0"/>
              </a:rPr>
              <a:t>Question</a:t>
            </a:r>
            <a:endParaRPr lang="zh-CN" altLang="en-US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algn="r"/>
            <a:r>
              <a:rPr lang="zh-CN" altLang="en-US" dirty="0">
                <a:latin typeface="Consolas" panose="020B0609020204030204" pitchFamily="49" charset="0"/>
                <a:cs typeface="Arial" panose="020B0604020202020204" pitchFamily="34" charset="0"/>
              </a:rPr>
              <a:t>Answering</a:t>
            </a:r>
            <a:endParaRPr lang="zh-CN" altLang="en-US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 rot="2344420">
            <a:off x="24993825" y="10633209"/>
            <a:ext cx="15665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latin typeface="Consolas" panose="020B0609020204030204" pitchFamily="49" charset="0"/>
                <a:cs typeface="Arial" panose="020B0604020202020204" pitchFamily="34" charset="0"/>
              </a:rPr>
              <a:t>Personalized</a:t>
            </a:r>
            <a:endParaRPr lang="en-US" altLang="zh-CN" sz="12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 rot="5050634">
            <a:off x="23695319" y="10802830"/>
            <a:ext cx="16783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dirty="0">
                <a:latin typeface="Consolas" panose="020B0609020204030204" pitchFamily="49" charset="0"/>
                <a:cs typeface="Arial" panose="020B0604020202020204" pitchFamily="34" charset="0"/>
              </a:rPr>
              <a:t>Emotional </a:t>
            </a:r>
            <a:endParaRPr lang="en-US" altLang="zh-CN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algn="r"/>
            <a:r>
              <a:rPr lang="en-US" altLang="zh-CN" dirty="0">
                <a:latin typeface="Consolas" panose="020B0609020204030204" pitchFamily="49" charset="0"/>
                <a:cs typeface="Arial" panose="020B0604020202020204" pitchFamily="34" charset="0"/>
              </a:rPr>
              <a:t>Support</a:t>
            </a:r>
            <a:endParaRPr lang="en-US" altLang="zh-CN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 rot="19037439">
            <a:off x="22275754" y="10313688"/>
            <a:ext cx="17348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  <a:cs typeface="Arial" panose="020B0604020202020204" pitchFamily="34" charset="0"/>
              </a:rPr>
              <a:t>Question </a:t>
            </a:r>
            <a:endParaRPr lang="en-US" altLang="zh-CN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r>
              <a:rPr lang="en-US" altLang="zh-CN" dirty="0">
                <a:latin typeface="Consolas" panose="020B0609020204030204" pitchFamily="49" charset="0"/>
                <a:cs typeface="Arial" panose="020B0604020202020204" pitchFamily="34" charset="0"/>
              </a:rPr>
              <a:t>Generation</a:t>
            </a:r>
            <a:endParaRPr lang="en-US" altLang="zh-CN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21795567" y="9138388"/>
            <a:ext cx="18373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  <a:cs typeface="Arial" panose="020B0604020202020204" pitchFamily="34" charset="0"/>
              </a:rPr>
              <a:t>Automatic </a:t>
            </a:r>
            <a:endParaRPr lang="en-US" altLang="zh-CN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r>
              <a:rPr lang="en-US" altLang="zh-CN" dirty="0">
                <a:latin typeface="Consolas" panose="020B0609020204030204" pitchFamily="49" charset="0"/>
                <a:cs typeface="Arial" panose="020B0604020202020204" pitchFamily="34" charset="0"/>
              </a:rPr>
              <a:t>Grading</a:t>
            </a:r>
            <a:endParaRPr lang="en-US" altLang="zh-CN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 rot="2489424">
            <a:off x="22326502" y="7824301"/>
            <a:ext cx="166273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  <a:cs typeface="Arial" panose="020B0604020202020204" pitchFamily="34" charset="0"/>
              </a:rPr>
              <a:t>Teaching </a:t>
            </a:r>
            <a:endParaRPr lang="en-US" altLang="zh-CN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r>
              <a:rPr lang="en-US" altLang="zh-CN" dirty="0">
                <a:latin typeface="Consolas" panose="020B0609020204030204" pitchFamily="49" charset="0"/>
                <a:cs typeface="Arial" panose="020B0604020202020204" pitchFamily="34" charset="0"/>
              </a:rPr>
              <a:t>Material </a:t>
            </a:r>
            <a:endParaRPr lang="en-US" altLang="zh-CN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r>
              <a:rPr lang="en-US" altLang="zh-CN" dirty="0">
                <a:latin typeface="Consolas" panose="020B0609020204030204" pitchFamily="49" charset="0"/>
                <a:cs typeface="Arial" panose="020B0604020202020204" pitchFamily="34" charset="0"/>
              </a:rPr>
              <a:t>Generation</a:t>
            </a:r>
            <a:endParaRPr lang="en-US" altLang="zh-CN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25906677" y="6191916"/>
            <a:ext cx="19418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  <a:cs typeface="Arial" panose="020B0604020202020204" pitchFamily="34" charset="0"/>
              </a:rPr>
              <a:t>Mathematics</a:t>
            </a:r>
            <a:endParaRPr lang="zh-CN" altLang="en-US" sz="20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24731353" y="4728281"/>
            <a:ext cx="208773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b="1" dirty="0">
                <a:latin typeface="Consolas" panose="020B0609020204030204" pitchFamily="49" charset="0"/>
                <a:cs typeface="Arial" panose="020B0604020202020204" pitchFamily="34" charset="0"/>
              </a:rPr>
              <a:t>K-12 subjects</a:t>
            </a:r>
            <a:endParaRPr lang="zh-CN" altLang="en-US" sz="2200" b="1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26759308" y="5842090"/>
            <a:ext cx="12943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  <a:cs typeface="Arial" panose="020B0604020202020204" pitchFamily="34" charset="0"/>
              </a:rPr>
              <a:t>English</a:t>
            </a:r>
            <a:endParaRPr lang="zh-CN" altLang="en-US" sz="20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5442334" y="6583586"/>
            <a:ext cx="12943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Consolas" panose="020B0609020204030204" pitchFamily="49" charset="0"/>
                <a:cs typeface="Arial" panose="020B0604020202020204" pitchFamily="34" charset="0"/>
              </a:rPr>
              <a:t>Physics</a:t>
            </a:r>
            <a:endParaRPr lang="zh-CN" altLang="en-US" sz="20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5916635" y="5546350"/>
            <a:ext cx="16548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  <a:cs typeface="Arial" panose="020B0604020202020204" pitchFamily="34" charset="0"/>
              </a:rPr>
              <a:t>Chemistry</a:t>
            </a:r>
            <a:endParaRPr lang="zh-CN" altLang="en-US" sz="20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24524683" y="5482890"/>
            <a:ext cx="19418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Consolas" panose="020B0609020204030204" pitchFamily="49" charset="0"/>
                <a:cs typeface="Arial" panose="020B0604020202020204" pitchFamily="34" charset="0"/>
              </a:rPr>
              <a:t>Geography</a:t>
            </a:r>
            <a:endParaRPr lang="zh-CN" altLang="en-US" sz="20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24532011" y="6191916"/>
            <a:ext cx="14284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Consolas" panose="020B0609020204030204" pitchFamily="49" charset="0"/>
                <a:cs typeface="Arial" panose="020B0604020202020204" pitchFamily="34" charset="0"/>
              </a:rPr>
              <a:t>History</a:t>
            </a:r>
            <a:endParaRPr lang="zh-CN" altLang="en-US" sz="20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26971939" y="6606311"/>
            <a:ext cx="208773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b="1" dirty="0">
                <a:latin typeface="Consolas" panose="020B0609020204030204" pitchFamily="49" charset="0"/>
                <a:cs typeface="Arial" panose="020B0604020202020204" pitchFamily="34" charset="0"/>
              </a:rPr>
              <a:t>Higher Education Subjects</a:t>
            </a:r>
            <a:endParaRPr lang="zh-CN" altLang="en-US" sz="2200" b="1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27333745" y="10011942"/>
            <a:ext cx="18091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  <a:cs typeface="Arial" panose="020B0604020202020204" pitchFamily="34" charset="0"/>
              </a:rPr>
              <a:t>Astronomy</a:t>
            </a:r>
            <a:endParaRPr lang="zh-CN" altLang="en-US" sz="20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26522521" y="11163328"/>
            <a:ext cx="26702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latin typeface="Consolas" panose="020B0609020204030204" pitchFamily="49" charset="0"/>
                <a:cs typeface="Arial" panose="020B0604020202020204" pitchFamily="34" charset="0"/>
              </a:rPr>
              <a:t>Applied Economics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25241889" y="12342504"/>
            <a:ext cx="3124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  <a:cs typeface="Arial" panose="020B0604020202020204" pitchFamily="34" charset="0"/>
              </a:rPr>
              <a:t>Theoretical Economics</a:t>
            </a:r>
            <a:endParaRPr lang="zh-CN" altLang="en-US" sz="20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26356640" y="11618224"/>
            <a:ext cx="26103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  <a:cs typeface="Arial" panose="020B0604020202020204" pitchFamily="34" charset="0"/>
              </a:rPr>
              <a:t>General</a:t>
            </a:r>
            <a:r>
              <a:rPr lang="zh-CN" altLang="en-US" dirty="0"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zh-CN" altLang="en-US" sz="2000" dirty="0">
                <a:latin typeface="Consolas" panose="020B0609020204030204" pitchFamily="49" charset="0"/>
                <a:cs typeface="Arial" panose="020B0604020202020204" pitchFamily="34" charset="0"/>
              </a:rPr>
              <a:t>Education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25936341" y="12007870"/>
            <a:ext cx="279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  <a:cs typeface="Arial" panose="020B0604020202020204" pitchFamily="34" charset="0"/>
              </a:rPr>
              <a:t>Physical</a:t>
            </a:r>
            <a:r>
              <a:rPr lang="zh-CN" altLang="en-US" dirty="0"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zh-CN" altLang="en-US" sz="2000" dirty="0">
                <a:latin typeface="Consolas" panose="020B0609020204030204" pitchFamily="49" charset="0"/>
                <a:cs typeface="Arial" panose="020B0604020202020204" pitchFamily="34" charset="0"/>
              </a:rPr>
              <a:t>Education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24032503" y="13267590"/>
            <a:ext cx="35062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  <a:cs typeface="Arial" panose="020B0604020202020204" pitchFamily="34" charset="0"/>
              </a:rPr>
              <a:t>Business</a:t>
            </a:r>
            <a:r>
              <a:rPr lang="zh-CN" altLang="en-US" dirty="0"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zh-CN" altLang="en-US" sz="2000" dirty="0">
                <a:latin typeface="Consolas" panose="020B0609020204030204" pitchFamily="49" charset="0"/>
                <a:cs typeface="Arial" panose="020B0604020202020204" pitchFamily="34" charset="0"/>
              </a:rPr>
              <a:t>Administration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23806821" y="13612016"/>
            <a:ext cx="31748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  <a:cs typeface="Arial" panose="020B0604020202020204" pitchFamily="34" charset="0"/>
              </a:rPr>
              <a:t>Public</a:t>
            </a:r>
            <a:r>
              <a:rPr lang="zh-CN" altLang="en-US" dirty="0"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zh-CN" altLang="en-US" sz="2000" dirty="0">
                <a:latin typeface="Consolas" panose="020B0609020204030204" pitchFamily="49" charset="0"/>
                <a:cs typeface="Arial" panose="020B0604020202020204" pitchFamily="34" charset="0"/>
              </a:rPr>
              <a:t>Administration</a:t>
            </a:r>
            <a:endParaRPr lang="zh-CN" altLang="en-US" sz="20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22977053" y="12914586"/>
            <a:ext cx="30475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  <a:cs typeface="Arial" panose="020B0604020202020204" pitchFamily="34" charset="0"/>
              </a:rPr>
              <a:t>Clinical</a:t>
            </a:r>
            <a:r>
              <a:rPr lang="zh-CN" altLang="en-US" dirty="0"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zh-CN" altLang="en-US" sz="2000" dirty="0">
                <a:latin typeface="Consolas" panose="020B0609020204030204" pitchFamily="49" charset="0"/>
                <a:cs typeface="Arial" panose="020B0604020202020204" pitchFamily="34" charset="0"/>
              </a:rPr>
              <a:t>Medicine</a:t>
            </a:r>
            <a:endParaRPr lang="zh-CN" altLang="en-US" sz="20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25861924" y="12772366"/>
            <a:ext cx="217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  <a:cs typeface="Arial" panose="020B0604020202020204" pitchFamily="34" charset="0"/>
              </a:rPr>
              <a:t>Basic</a:t>
            </a:r>
            <a:r>
              <a:rPr lang="zh-CN" altLang="en-US" dirty="0"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zh-CN" altLang="en-US" sz="2000" dirty="0">
                <a:latin typeface="Consolas" panose="020B0609020204030204" pitchFamily="49" charset="0"/>
                <a:cs typeface="Arial" panose="020B0604020202020204" pitchFamily="34" charset="0"/>
              </a:rPr>
              <a:t>Medicine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64" name="文本框 133"/>
          <p:cNvSpPr txBox="1"/>
          <p:nvPr/>
        </p:nvSpPr>
        <p:spPr>
          <a:xfrm>
            <a:off x="24556815" y="5867416"/>
            <a:ext cx="19419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latin typeface="Consolas" panose="020B0609020204030204" pitchFamily="49" charset="0"/>
                <a:cs typeface="Arial" panose="020B0604020202020204" pitchFamily="34" charset="0"/>
              </a:rPr>
              <a:t>Biology</a:t>
            </a:r>
            <a:endParaRPr lang="zh-CN" altLang="en-US" sz="20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65" name="文本框 5"/>
          <p:cNvSpPr txBox="1"/>
          <p:nvPr/>
        </p:nvSpPr>
        <p:spPr>
          <a:xfrm>
            <a:off x="27574179" y="8650182"/>
            <a:ext cx="1967366" cy="1048739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latin typeface="Consolas" panose="020B0609020204030204" pitchFamily="49" charset="0"/>
                <a:cs typeface="Arial" panose="020B0604020202020204" pitchFamily="34" charset="0"/>
              </a:rPr>
              <a:t>Aerospace Science &amp; Technology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66" name="文本框 6"/>
          <p:cNvSpPr txBox="1"/>
          <p:nvPr/>
        </p:nvSpPr>
        <p:spPr>
          <a:xfrm>
            <a:off x="27215610" y="10398547"/>
            <a:ext cx="1927237" cy="539338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latin typeface="Consolas" panose="020B0609020204030204" pitchFamily="49" charset="0"/>
                <a:cs typeface="Arial" panose="020B0604020202020204" pitchFamily="34" charset="0"/>
              </a:rPr>
              <a:t>Aquaculture</a:t>
            </a:r>
            <a:endParaRPr lang="zh-CN" altLang="en-US" sz="20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67" name="文本框 7"/>
          <p:cNvSpPr txBox="1"/>
          <p:nvPr/>
        </p:nvSpPr>
        <p:spPr>
          <a:xfrm>
            <a:off x="27435051" y="8291885"/>
            <a:ext cx="1967366" cy="400228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latin typeface="Consolas" panose="020B0609020204030204" pitchFamily="49" charset="0"/>
                <a:cs typeface="Arial" panose="020B0604020202020204" pitchFamily="34" charset="0"/>
              </a:rPr>
              <a:t>Crop Science</a:t>
            </a:r>
            <a:endParaRPr lang="zh-CN" altLang="en-US" sz="20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21873459" y="12079648"/>
            <a:ext cx="16695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  <a:cs typeface="Arial" panose="020B0604020202020204" pitchFamily="34" charset="0"/>
              </a:rPr>
              <a:t>Sociology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23891406" y="13987168"/>
            <a:ext cx="18161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  <a:cs typeface="Arial" panose="020B0604020202020204" pitchFamily="34" charset="0"/>
              </a:rPr>
              <a:t>Psychology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28277410" y="7925665"/>
            <a:ext cx="9468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  <a:cs typeface="Arial" panose="020B0604020202020204" pitchFamily="34" charset="0"/>
              </a:rPr>
              <a:t>Law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22243084" y="13659124"/>
            <a:ext cx="18161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  <a:cs typeface="Arial" panose="020B0604020202020204" pitchFamily="34" charset="0"/>
              </a:rPr>
              <a:t>Management</a:t>
            </a:r>
            <a:endParaRPr lang="zh-CN" altLang="en-US" sz="20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21247647" y="12791128"/>
            <a:ext cx="18161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  <a:cs typeface="Arial" panose="020B0604020202020204" pitchFamily="34" charset="0"/>
              </a:rPr>
              <a:t>Linguistics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23806821" y="12558710"/>
            <a:ext cx="16752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  <a:cs typeface="Arial" panose="020B0604020202020204" pitchFamily="34" charset="0"/>
              </a:rPr>
              <a:t>Journalism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21579139" y="12469926"/>
            <a:ext cx="23624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  <a:cs typeface="Arial" panose="020B0604020202020204" pitchFamily="34" charset="0"/>
              </a:rPr>
              <a:t>Theory of Music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21528970" y="13263302"/>
            <a:ext cx="27260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Consolas" panose="020B0609020204030204" pitchFamily="49" charset="0"/>
                <a:cs typeface="Arial" panose="020B0604020202020204" pitchFamily="34" charset="0"/>
              </a:rPr>
              <a:t>Military Science</a:t>
            </a:r>
            <a:endParaRPr lang="zh-CN" altLang="en-US" sz="20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76" name="文本框 6"/>
          <p:cNvSpPr txBox="1"/>
          <p:nvPr/>
        </p:nvSpPr>
        <p:spPr>
          <a:xfrm>
            <a:off x="26933548" y="10807007"/>
            <a:ext cx="2565420" cy="539338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latin typeface="Consolas" panose="020B0609020204030204" pitchFamily="49" charset="0"/>
                <a:cs typeface="Arial" panose="020B0604020202020204" pitchFamily="34" charset="0"/>
              </a:rPr>
              <a:t>Computer Science</a:t>
            </a:r>
            <a:endParaRPr lang="zh-CN" altLang="en-US" sz="20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77" name="文本框 6"/>
          <p:cNvSpPr txBox="1"/>
          <p:nvPr/>
        </p:nvSpPr>
        <p:spPr>
          <a:xfrm>
            <a:off x="27140811" y="7665379"/>
            <a:ext cx="1640576" cy="539338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latin typeface="Consolas" panose="020B0609020204030204" pitchFamily="49" charset="0"/>
                <a:cs typeface="Arial" panose="020B0604020202020204" pitchFamily="34" charset="0"/>
              </a:rPr>
              <a:t>Automation Control</a:t>
            </a:r>
            <a:endParaRPr lang="zh-CN" altLang="en-US" sz="20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78" name="文本框 6"/>
          <p:cNvSpPr txBox="1"/>
          <p:nvPr/>
        </p:nvSpPr>
        <p:spPr>
          <a:xfrm>
            <a:off x="27592202" y="9655883"/>
            <a:ext cx="2565420" cy="539338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latin typeface="Consolas" panose="020B0609020204030204" pitchFamily="49" charset="0"/>
                <a:cs typeface="Arial" panose="020B0604020202020204" pitchFamily="34" charset="0"/>
              </a:rPr>
              <a:t>Agriculture</a:t>
            </a:r>
            <a:endParaRPr lang="zh-CN" altLang="en-US" sz="20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22425563" y="4773249"/>
            <a:ext cx="208773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b="1" dirty="0">
                <a:latin typeface="Consolas" panose="020B0609020204030204" pitchFamily="49" charset="0"/>
                <a:cs typeface="Arial" panose="020B0604020202020204" pitchFamily="34" charset="0"/>
              </a:rPr>
              <a:t>Task Difficulty</a:t>
            </a:r>
            <a:endParaRPr lang="zh-CN" altLang="en-US" sz="2200" b="1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20712544" y="5901635"/>
            <a:ext cx="208773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b="1" dirty="0">
                <a:latin typeface="Consolas" panose="020B0609020204030204" pitchFamily="49" charset="0"/>
                <a:cs typeface="Arial" panose="020B0604020202020204" pitchFamily="34" charset="0"/>
              </a:rPr>
              <a:t>Language</a:t>
            </a:r>
            <a:endParaRPr lang="zh-CN" altLang="en-US" sz="2200" b="1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19539016" y="7405013"/>
            <a:ext cx="208773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b="1" dirty="0">
                <a:latin typeface="Consolas" panose="020B0609020204030204" pitchFamily="49" charset="0"/>
                <a:cs typeface="Arial" panose="020B0604020202020204" pitchFamily="34" charset="0"/>
              </a:rPr>
              <a:t>Question Type</a:t>
            </a:r>
            <a:endParaRPr lang="zh-CN" altLang="en-US" sz="2200" b="1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82" name="文本框 133"/>
          <p:cNvSpPr txBox="1"/>
          <p:nvPr/>
        </p:nvSpPr>
        <p:spPr>
          <a:xfrm>
            <a:off x="25637243" y="5855356"/>
            <a:ext cx="12316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latin typeface="Consolas" panose="020B0609020204030204" pitchFamily="49" charset="0"/>
                <a:cs typeface="Arial" panose="020B0604020202020204" pitchFamily="34" charset="0"/>
              </a:rPr>
              <a:t>Chinese</a:t>
            </a:r>
            <a:endParaRPr lang="zh-CN" altLang="en-US" sz="20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83" name="文本框 133"/>
          <p:cNvSpPr txBox="1"/>
          <p:nvPr/>
        </p:nvSpPr>
        <p:spPr>
          <a:xfrm>
            <a:off x="22745985" y="5418819"/>
            <a:ext cx="12316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latin typeface="Consolas" panose="020B0609020204030204" pitchFamily="49" charset="0"/>
                <a:cs typeface="Arial" panose="020B0604020202020204" pitchFamily="34" charset="0"/>
              </a:rPr>
              <a:t>Easy</a:t>
            </a:r>
            <a:endParaRPr lang="zh-CN" altLang="en-US" sz="24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84" name="文本框 133"/>
          <p:cNvSpPr txBox="1"/>
          <p:nvPr/>
        </p:nvSpPr>
        <p:spPr>
          <a:xfrm>
            <a:off x="22809113" y="6200007"/>
            <a:ext cx="12316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latin typeface="Consolas" panose="020B0609020204030204" pitchFamily="49" charset="0"/>
                <a:cs typeface="Arial" panose="020B0604020202020204" pitchFamily="34" charset="0"/>
              </a:rPr>
              <a:t>Hard</a:t>
            </a:r>
            <a:endParaRPr lang="zh-CN" altLang="en-US" sz="24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85" name="文本框 133"/>
          <p:cNvSpPr txBox="1"/>
          <p:nvPr/>
        </p:nvSpPr>
        <p:spPr>
          <a:xfrm>
            <a:off x="22692269" y="5792058"/>
            <a:ext cx="16635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latin typeface="Consolas" panose="020B0609020204030204" pitchFamily="49" charset="0"/>
                <a:cs typeface="Arial" panose="020B0604020202020204" pitchFamily="34" charset="0"/>
              </a:rPr>
              <a:t>Medium</a:t>
            </a:r>
            <a:endParaRPr lang="zh-CN" altLang="en-US" sz="24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86" name="文本框 133"/>
          <p:cNvSpPr txBox="1"/>
          <p:nvPr/>
        </p:nvSpPr>
        <p:spPr>
          <a:xfrm>
            <a:off x="20698177" y="6366198"/>
            <a:ext cx="16635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latin typeface="Consolas" panose="020B0609020204030204" pitchFamily="49" charset="0"/>
                <a:cs typeface="Arial" panose="020B0604020202020204" pitchFamily="34" charset="0"/>
              </a:rPr>
              <a:t>Chinese</a:t>
            </a:r>
            <a:endParaRPr lang="zh-CN" altLang="en-US" sz="24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87" name="文本框 133"/>
          <p:cNvSpPr txBox="1"/>
          <p:nvPr/>
        </p:nvSpPr>
        <p:spPr>
          <a:xfrm>
            <a:off x="21121431" y="6806063"/>
            <a:ext cx="16635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latin typeface="Consolas" panose="020B0609020204030204" pitchFamily="49" charset="0"/>
                <a:cs typeface="Arial" panose="020B0604020202020204" pitchFamily="34" charset="0"/>
              </a:rPr>
              <a:t>English</a:t>
            </a:r>
            <a:endParaRPr lang="zh-CN" altLang="en-US" sz="24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88" name="文本框 133"/>
          <p:cNvSpPr txBox="1"/>
          <p:nvPr/>
        </p:nvSpPr>
        <p:spPr>
          <a:xfrm>
            <a:off x="19385878" y="8626110"/>
            <a:ext cx="24395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latin typeface="Consolas" panose="020B0609020204030204" pitchFamily="49" charset="0"/>
                <a:cs typeface="Arial" panose="020B0604020202020204" pitchFamily="34" charset="0"/>
              </a:rPr>
              <a:t>Single Choice</a:t>
            </a:r>
            <a:endParaRPr lang="zh-CN" altLang="en-US" sz="20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89" name="文本框 133"/>
          <p:cNvSpPr txBox="1"/>
          <p:nvPr/>
        </p:nvSpPr>
        <p:spPr>
          <a:xfrm>
            <a:off x="19762777" y="9054554"/>
            <a:ext cx="22043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latin typeface="Consolas" panose="020B0609020204030204" pitchFamily="49" charset="0"/>
                <a:cs typeface="Arial" panose="020B0604020202020204" pitchFamily="34" charset="0"/>
              </a:rPr>
              <a:t>Multiple Choice</a:t>
            </a:r>
            <a:endParaRPr lang="zh-CN" altLang="en-US" sz="20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90" name="文本框 133"/>
          <p:cNvSpPr txBox="1"/>
          <p:nvPr/>
        </p:nvSpPr>
        <p:spPr>
          <a:xfrm>
            <a:off x="19491398" y="8263790"/>
            <a:ext cx="20877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latin typeface="Consolas" panose="020B0609020204030204" pitchFamily="49" charset="0"/>
                <a:cs typeface="Arial" panose="020B0604020202020204" pitchFamily="34" charset="0"/>
              </a:rPr>
              <a:t>Short Answer</a:t>
            </a:r>
            <a:endParaRPr lang="zh-CN" altLang="en-US" sz="20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19640111" y="9887320"/>
            <a:ext cx="208773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Consolas" panose="020B0609020204030204" pitchFamily="49" charset="0"/>
                <a:cs typeface="Arial" panose="020B0604020202020204" pitchFamily="34" charset="0"/>
              </a:rPr>
              <a:t>Emotional Support</a:t>
            </a:r>
            <a:endParaRPr lang="zh-CN" altLang="en-US" sz="2000" b="1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19424453" y="10522644"/>
            <a:ext cx="23624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Consolas" panose="020B0609020204030204" pitchFamily="49" charset="0"/>
                <a:cs typeface="Arial" panose="020B0604020202020204" pitchFamily="34" charset="0"/>
              </a:rPr>
              <a:t>Mental Healthy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19771814" y="10894778"/>
            <a:ext cx="19074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Consolas" panose="020B0609020204030204" pitchFamily="49" charset="0"/>
                <a:cs typeface="Arial" panose="020B0604020202020204" pitchFamily="34" charset="0"/>
              </a:rPr>
              <a:t>Mild Anxiety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19681939" y="11298150"/>
            <a:ext cx="27158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Consolas" panose="020B0609020204030204" pitchFamily="49" charset="0"/>
                <a:cs typeface="Arial" panose="020B0604020202020204" pitchFamily="34" charset="0"/>
              </a:rPr>
              <a:t>Moderate Anxiety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19835821" y="11653192"/>
            <a:ext cx="27158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Consolas" panose="020B0609020204030204" pitchFamily="49" charset="0"/>
                <a:cs typeface="Arial" panose="020B0604020202020204" pitchFamily="34" charset="0"/>
              </a:rPr>
              <a:t>Severe Anxiety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 rot="4740649">
            <a:off x="23246318" y="7466724"/>
            <a:ext cx="15723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latin typeface="Consolas" panose="020B0609020204030204" pitchFamily="49" charset="0"/>
                <a:cs typeface="Arial" panose="020B0604020202020204" pitchFamily="34" charset="0"/>
              </a:rPr>
              <a:t>Personalized  Content Creation</a:t>
            </a:r>
            <a:endParaRPr lang="en-US" altLang="zh-CN" sz="12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22112344" y="18425016"/>
            <a:ext cx="72817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 panose="020B0609020204030204" pitchFamily="49" charset="0"/>
                <a:cs typeface="Arial" panose="020B0604020202020204" pitchFamily="34" charset="0"/>
              </a:rPr>
              <a:t>Instruction Following &amp; Task Completion</a:t>
            </a:r>
            <a:endParaRPr lang="zh-CN" altLang="en-US" sz="24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22112344" y="19004944"/>
            <a:ext cx="65975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 panose="020B0609020204030204" pitchFamily="49" charset="0"/>
                <a:cs typeface="Arial" panose="020B0604020202020204" pitchFamily="34" charset="0"/>
              </a:rPr>
              <a:t>Role &amp; Tone Consistency</a:t>
            </a:r>
            <a:endParaRPr lang="zh-CN" altLang="en-US" sz="24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22112344" y="20133634"/>
            <a:ext cx="62735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 panose="020B0609020204030204" pitchFamily="49" charset="0"/>
                <a:cs typeface="Arial" panose="020B0604020202020204" pitchFamily="34" charset="0"/>
              </a:rPr>
              <a:t>Content Relevance &amp; Scope Control</a:t>
            </a:r>
            <a:endParaRPr lang="zh-CN" altLang="en-US" sz="24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22112351" y="19555420"/>
            <a:ext cx="58420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 panose="020B0609020204030204" pitchFamily="49" charset="0"/>
                <a:cs typeface="Arial" panose="020B0604020202020204" pitchFamily="34" charset="0"/>
              </a:rPr>
              <a:t>Scenario Element Integration</a:t>
            </a:r>
            <a:endParaRPr lang="zh-CN" altLang="en-US" sz="24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29541545" y="18450561"/>
            <a:ext cx="68066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 panose="020B0609020204030204" pitchFamily="49" charset="0"/>
                <a:cs typeface="Arial" panose="020B0604020202020204" pitchFamily="34" charset="0"/>
              </a:rPr>
              <a:t>Basic Factual Accuracy</a:t>
            </a:r>
            <a:endParaRPr lang="zh-CN" altLang="en-US" sz="24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29550162" y="19032200"/>
            <a:ext cx="5146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 panose="020B0609020204030204" pitchFamily="49" charset="0"/>
                <a:cs typeface="Arial" panose="020B0604020202020204" pitchFamily="34" charset="0"/>
              </a:rPr>
              <a:t>Domain Knowledge Accuracy</a:t>
            </a:r>
            <a:endParaRPr lang="zh-CN" altLang="en-US" sz="24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29541545" y="19540041"/>
            <a:ext cx="65975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 panose="020B0609020204030204" pitchFamily="49" charset="0"/>
                <a:cs typeface="Arial" panose="020B0604020202020204" pitchFamily="34" charset="0"/>
              </a:rPr>
              <a:t>Reasoning Process Rigor</a:t>
            </a:r>
            <a:endParaRPr lang="zh-CN" altLang="en-US" sz="24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29541549" y="20105424"/>
            <a:ext cx="75289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 panose="020B0609020204030204" pitchFamily="49" charset="0"/>
                <a:cs typeface="Arial" panose="020B0604020202020204" pitchFamily="34" charset="0"/>
              </a:rPr>
              <a:t>Error Identification &amp; Correction Precision</a:t>
            </a:r>
            <a:endParaRPr lang="zh-CN" altLang="en-US" sz="24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21664455" y="18531688"/>
            <a:ext cx="279694" cy="273547"/>
          </a:xfrm>
          <a:prstGeom prst="rect">
            <a:avLst/>
          </a:prstGeom>
          <a:solidFill>
            <a:srgbClr val="F19E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nsolas" panose="020B0609020204030204" pitchFamily="49" charset="0"/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21664455" y="19079952"/>
            <a:ext cx="279694" cy="27354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nsolas" panose="020B0609020204030204" pitchFamily="49" charset="0"/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21664455" y="19653071"/>
            <a:ext cx="279694" cy="27354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nsolas" panose="020B0609020204030204" pitchFamily="49" charset="0"/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21664455" y="20201335"/>
            <a:ext cx="279694" cy="27354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nsolas" panose="020B0609020204030204" pitchFamily="49" charset="0"/>
            </a:endParaRPr>
          </a:p>
        </p:txBody>
      </p:sp>
      <p:sp>
        <p:nvSpPr>
          <p:cNvPr id="109" name="矩形 108"/>
          <p:cNvSpPr/>
          <p:nvPr/>
        </p:nvSpPr>
        <p:spPr>
          <a:xfrm>
            <a:off x="29098695" y="18531615"/>
            <a:ext cx="279694" cy="273547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nsolas" panose="020B0609020204030204" pitchFamily="49" charset="0"/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29098695" y="19060854"/>
            <a:ext cx="279694" cy="27354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nsolas" panose="020B0609020204030204" pitchFamily="49" charset="0"/>
            </a:endParaRPr>
          </a:p>
        </p:txBody>
      </p:sp>
      <p:sp>
        <p:nvSpPr>
          <p:cNvPr id="111" name="矩形 110"/>
          <p:cNvSpPr/>
          <p:nvPr/>
        </p:nvSpPr>
        <p:spPr>
          <a:xfrm>
            <a:off x="29098695" y="19620962"/>
            <a:ext cx="279694" cy="27354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nsolas" panose="020B0609020204030204" pitchFamily="49" charset="0"/>
            </a:endParaRPr>
          </a:p>
        </p:txBody>
      </p:sp>
      <p:sp>
        <p:nvSpPr>
          <p:cNvPr id="112" name="矩形 111"/>
          <p:cNvSpPr/>
          <p:nvPr/>
        </p:nvSpPr>
        <p:spPr>
          <a:xfrm>
            <a:off x="29098695" y="20169226"/>
            <a:ext cx="279694" cy="2735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nsolas" panose="020B0609020204030204" pitchFamily="49" charset="0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13482820" y="20151568"/>
            <a:ext cx="6940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 panose="020B0609020204030204" pitchFamily="49" charset="0"/>
                <a:cs typeface="Arial" panose="020B0604020202020204" pitchFamily="34" charset="0"/>
              </a:rPr>
              <a:t>Clarity, Simplicity &amp; Inspiration</a:t>
            </a:r>
            <a:endParaRPr lang="zh-CN" altLang="en-US" sz="24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114" name="文本框 113"/>
          <p:cNvSpPr txBox="1"/>
          <p:nvPr/>
        </p:nvSpPr>
        <p:spPr>
          <a:xfrm>
            <a:off x="13480719" y="19561500"/>
            <a:ext cx="71679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 panose="020B0609020204030204" pitchFamily="49" charset="0"/>
                <a:cs typeface="Arial" panose="020B0604020202020204" pitchFamily="34" charset="0"/>
              </a:rPr>
              <a:t>Motivation, Guidance &amp; Positive Feedback</a:t>
            </a:r>
            <a:endParaRPr lang="zh-CN" altLang="en-US" sz="24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13536021" y="18993243"/>
            <a:ext cx="80926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 panose="020B0609020204030204" pitchFamily="49" charset="0"/>
                <a:cs typeface="Arial" panose="020B0604020202020204" pitchFamily="34" charset="0"/>
              </a:rPr>
              <a:t>Personalization, Adaptation &amp; Learning Support</a:t>
            </a:r>
            <a:endParaRPr lang="zh-CN" altLang="en-US" sz="24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13501379" y="18450561"/>
            <a:ext cx="74585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 panose="020B0609020204030204" pitchFamily="49" charset="0"/>
                <a:cs typeface="Arial" panose="020B0604020202020204" pitchFamily="34" charset="0"/>
              </a:rPr>
              <a:t>Higher-Order Thinking &amp; Skill Development</a:t>
            </a:r>
            <a:endParaRPr lang="zh-CN" altLang="en-US" sz="24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13020915" y="18544619"/>
            <a:ext cx="279694" cy="27354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nsolas" panose="020B0609020204030204" pitchFamily="49" charset="0"/>
            </a:endParaRPr>
          </a:p>
        </p:txBody>
      </p:sp>
      <p:sp>
        <p:nvSpPr>
          <p:cNvPr id="118" name="矩形 117"/>
          <p:cNvSpPr/>
          <p:nvPr/>
        </p:nvSpPr>
        <p:spPr>
          <a:xfrm>
            <a:off x="13020915" y="19092883"/>
            <a:ext cx="279694" cy="27354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nsolas" panose="020B0609020204030204" pitchFamily="49" charset="0"/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13020915" y="19652991"/>
            <a:ext cx="279694" cy="27354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nsolas" panose="020B0609020204030204" pitchFamily="49" charset="0"/>
            </a:endParaRPr>
          </a:p>
        </p:txBody>
      </p:sp>
      <p:sp>
        <p:nvSpPr>
          <p:cNvPr id="120" name="矩形 119"/>
          <p:cNvSpPr/>
          <p:nvPr/>
        </p:nvSpPr>
        <p:spPr>
          <a:xfrm>
            <a:off x="13020915" y="20201255"/>
            <a:ext cx="279694" cy="2735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nsolas" panose="020B0609020204030204" pitchFamily="49" charset="0"/>
            </a:endParaRPr>
          </a:p>
        </p:txBody>
      </p:sp>
      <p:sp>
        <p:nvSpPr>
          <p:cNvPr id="2" name="文本框 40"/>
          <p:cNvSpPr txBox="1"/>
          <p:nvPr/>
        </p:nvSpPr>
        <p:spPr>
          <a:xfrm rot="2694692">
            <a:off x="25212715" y="10881941"/>
            <a:ext cx="10923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Consolas" panose="020B0609020204030204" pitchFamily="49" charset="0"/>
                <a:cs typeface="Arial" panose="020B0604020202020204" pitchFamily="34" charset="0"/>
              </a:rPr>
              <a:t>Learning</a:t>
            </a:r>
            <a:endParaRPr lang="en-US" altLang="zh-CN" sz="12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3" name="文本框 40"/>
          <p:cNvSpPr txBox="1"/>
          <p:nvPr/>
        </p:nvSpPr>
        <p:spPr>
          <a:xfrm rot="3148961">
            <a:off x="25124797" y="11037198"/>
            <a:ext cx="9662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Consolas" panose="020B0609020204030204" pitchFamily="49" charset="0"/>
                <a:cs typeface="Arial" panose="020B0604020202020204" pitchFamily="34" charset="0"/>
              </a:rPr>
              <a:t>Support</a:t>
            </a:r>
            <a:endParaRPr lang="en-US" altLang="zh-CN" sz="12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图表 3"/>
          <p:cNvGraphicFramePr/>
          <p:nvPr/>
        </p:nvGraphicFramePr>
        <p:xfrm>
          <a:off x="7958620" y="2980613"/>
          <a:ext cx="15421884" cy="104824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" name="图表 4"/>
          <p:cNvGraphicFramePr/>
          <p:nvPr/>
        </p:nvGraphicFramePr>
        <p:xfrm>
          <a:off x="8766364" y="2728520"/>
          <a:ext cx="12680878" cy="104473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图表 34"/>
          <p:cNvGraphicFramePr/>
          <p:nvPr/>
        </p:nvGraphicFramePr>
        <p:xfrm>
          <a:off x="13544325" y="6862773"/>
          <a:ext cx="4176589" cy="24487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文本框 46"/>
          <p:cNvSpPr txBox="1"/>
          <p:nvPr/>
        </p:nvSpPr>
        <p:spPr>
          <a:xfrm>
            <a:off x="17188402" y="4760681"/>
            <a:ext cx="19418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Mathematics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20" name="文本框 47"/>
          <p:cNvSpPr txBox="1"/>
          <p:nvPr/>
        </p:nvSpPr>
        <p:spPr>
          <a:xfrm>
            <a:off x="15865645" y="3546277"/>
            <a:ext cx="208773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b="1" dirty="0">
                <a:cs typeface="Arial" panose="020B0604020202020204" pitchFamily="34" charset="0"/>
              </a:rPr>
              <a:t>K-12 subjects</a:t>
            </a:r>
            <a:endParaRPr lang="zh-CN" altLang="en-US" sz="2200" b="1" dirty="0">
              <a:cs typeface="Arial" panose="020B0604020202020204" pitchFamily="34" charset="0"/>
            </a:endParaRPr>
          </a:p>
        </p:txBody>
      </p:sp>
      <p:sp>
        <p:nvSpPr>
          <p:cNvPr id="21" name="文本框 48"/>
          <p:cNvSpPr txBox="1"/>
          <p:nvPr/>
        </p:nvSpPr>
        <p:spPr>
          <a:xfrm>
            <a:off x="18041030" y="4410855"/>
            <a:ext cx="12943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English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22" name="文本框 49"/>
          <p:cNvSpPr txBox="1"/>
          <p:nvPr/>
        </p:nvSpPr>
        <p:spPr>
          <a:xfrm>
            <a:off x="16724056" y="5152351"/>
            <a:ext cx="12943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Physics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23" name="文本框 50"/>
          <p:cNvSpPr txBox="1"/>
          <p:nvPr/>
        </p:nvSpPr>
        <p:spPr>
          <a:xfrm>
            <a:off x="17198360" y="4115115"/>
            <a:ext cx="16548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Chemistry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24" name="文本框 51"/>
          <p:cNvSpPr txBox="1"/>
          <p:nvPr/>
        </p:nvSpPr>
        <p:spPr>
          <a:xfrm>
            <a:off x="15806408" y="4051655"/>
            <a:ext cx="19418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Geography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25" name="文本框 52"/>
          <p:cNvSpPr txBox="1"/>
          <p:nvPr/>
        </p:nvSpPr>
        <p:spPr>
          <a:xfrm>
            <a:off x="15813735" y="4760681"/>
            <a:ext cx="14284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History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26" name="文本框 53"/>
          <p:cNvSpPr txBox="1"/>
          <p:nvPr/>
        </p:nvSpPr>
        <p:spPr>
          <a:xfrm>
            <a:off x="18253661" y="5175076"/>
            <a:ext cx="208773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b="1" dirty="0">
                <a:cs typeface="Arial" panose="020B0604020202020204" pitchFamily="34" charset="0"/>
              </a:rPr>
              <a:t>Higher Education Subjects</a:t>
            </a:r>
            <a:endParaRPr lang="zh-CN" altLang="en-US" sz="2200" b="1" dirty="0">
              <a:cs typeface="Arial" panose="020B0604020202020204" pitchFamily="34" charset="0"/>
            </a:endParaRPr>
          </a:p>
        </p:txBody>
      </p:sp>
      <p:sp>
        <p:nvSpPr>
          <p:cNvPr id="27" name="文本框 54"/>
          <p:cNvSpPr txBox="1"/>
          <p:nvPr/>
        </p:nvSpPr>
        <p:spPr>
          <a:xfrm>
            <a:off x="19058541" y="8522651"/>
            <a:ext cx="18091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Astronomy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28" name="文本框 55"/>
          <p:cNvSpPr txBox="1"/>
          <p:nvPr/>
        </p:nvSpPr>
        <p:spPr>
          <a:xfrm>
            <a:off x="17834725" y="9808294"/>
            <a:ext cx="2670242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9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Applied Economics</a:t>
            </a:r>
            <a:endParaRPr lang="zh-CN" altLang="en-US" sz="19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9" name="文本框 56"/>
          <p:cNvSpPr txBox="1"/>
          <p:nvPr/>
        </p:nvSpPr>
        <p:spPr>
          <a:xfrm>
            <a:off x="16821479" y="10956989"/>
            <a:ext cx="3124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Theoretical Economics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0" name="文本框 57"/>
          <p:cNvSpPr txBox="1"/>
          <p:nvPr/>
        </p:nvSpPr>
        <p:spPr>
          <a:xfrm>
            <a:off x="17920990" y="10186989"/>
            <a:ext cx="26103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General</a:t>
            </a:r>
            <a:r>
              <a:rPr lang="zh-CN" altLang="en-US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Education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1" name="文本框 58"/>
          <p:cNvSpPr txBox="1"/>
          <p:nvPr/>
        </p:nvSpPr>
        <p:spPr>
          <a:xfrm>
            <a:off x="17500691" y="10576635"/>
            <a:ext cx="279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Physical</a:t>
            </a:r>
            <a:r>
              <a:rPr lang="zh-CN" altLang="en-US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Education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2" name="文本框 59"/>
          <p:cNvSpPr txBox="1"/>
          <p:nvPr/>
        </p:nvSpPr>
        <p:spPr>
          <a:xfrm>
            <a:off x="15314225" y="11836355"/>
            <a:ext cx="35062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Business</a:t>
            </a:r>
            <a:r>
              <a:rPr lang="zh-CN" altLang="en-US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Administration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3" name="文本框 60"/>
          <p:cNvSpPr txBox="1"/>
          <p:nvPr/>
        </p:nvSpPr>
        <p:spPr>
          <a:xfrm>
            <a:off x="15088543" y="12180781"/>
            <a:ext cx="31748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Public</a:t>
            </a:r>
            <a:r>
              <a:rPr lang="zh-CN" altLang="en-US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Administration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4" name="文本框 61"/>
          <p:cNvSpPr txBox="1"/>
          <p:nvPr/>
        </p:nvSpPr>
        <p:spPr>
          <a:xfrm>
            <a:off x="14258777" y="11452871"/>
            <a:ext cx="30475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Clinical</a:t>
            </a:r>
            <a:r>
              <a:rPr lang="zh-CN" altLang="en-US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Medicine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5" name="文本框 62"/>
          <p:cNvSpPr txBox="1"/>
          <p:nvPr/>
        </p:nvSpPr>
        <p:spPr>
          <a:xfrm>
            <a:off x="17036969" y="11417331"/>
            <a:ext cx="217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Basic</a:t>
            </a:r>
            <a:r>
              <a:rPr lang="zh-CN" altLang="en-US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Medicine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6" name="文本框 133"/>
          <p:cNvSpPr txBox="1"/>
          <p:nvPr/>
        </p:nvSpPr>
        <p:spPr>
          <a:xfrm>
            <a:off x="15838540" y="4436181"/>
            <a:ext cx="19419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Biology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7" name="文本框 5"/>
          <p:cNvSpPr txBox="1"/>
          <p:nvPr/>
        </p:nvSpPr>
        <p:spPr>
          <a:xfrm>
            <a:off x="18620155" y="7378020"/>
            <a:ext cx="2197830" cy="756726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Aerospace Science &amp; Technology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8" name="文本框 6"/>
          <p:cNvSpPr txBox="1"/>
          <p:nvPr/>
        </p:nvSpPr>
        <p:spPr>
          <a:xfrm>
            <a:off x="18929582" y="8967312"/>
            <a:ext cx="1927237" cy="539338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Aquaculture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9" name="文本框 7"/>
          <p:cNvSpPr txBox="1"/>
          <p:nvPr/>
        </p:nvSpPr>
        <p:spPr>
          <a:xfrm>
            <a:off x="18866669" y="6976762"/>
            <a:ext cx="1967366" cy="400228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Crop Science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40" name="文本框 67"/>
          <p:cNvSpPr txBox="1"/>
          <p:nvPr/>
        </p:nvSpPr>
        <p:spPr>
          <a:xfrm>
            <a:off x="13155184" y="10648413"/>
            <a:ext cx="16695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Sociology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1" name="文本框 68"/>
          <p:cNvSpPr txBox="1"/>
          <p:nvPr/>
        </p:nvSpPr>
        <p:spPr>
          <a:xfrm>
            <a:off x="15173128" y="12555933"/>
            <a:ext cx="18161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Psychology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2" name="文本框 69"/>
          <p:cNvSpPr txBox="1"/>
          <p:nvPr/>
        </p:nvSpPr>
        <p:spPr>
          <a:xfrm>
            <a:off x="19532825" y="6569953"/>
            <a:ext cx="9468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Law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3" name="文本框 70"/>
          <p:cNvSpPr txBox="1"/>
          <p:nvPr/>
        </p:nvSpPr>
        <p:spPr>
          <a:xfrm>
            <a:off x="13524806" y="12227889"/>
            <a:ext cx="18161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Management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44" name="文本框 71"/>
          <p:cNvSpPr txBox="1"/>
          <p:nvPr/>
        </p:nvSpPr>
        <p:spPr>
          <a:xfrm>
            <a:off x="12529369" y="11359893"/>
            <a:ext cx="18161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Linguistics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5" name="文本框 72"/>
          <p:cNvSpPr txBox="1"/>
          <p:nvPr/>
        </p:nvSpPr>
        <p:spPr>
          <a:xfrm>
            <a:off x="15088543" y="11112235"/>
            <a:ext cx="16752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Journalism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6" name="文本框 73"/>
          <p:cNvSpPr txBox="1"/>
          <p:nvPr/>
        </p:nvSpPr>
        <p:spPr>
          <a:xfrm>
            <a:off x="12860861" y="11038691"/>
            <a:ext cx="23624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Theory of Music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7" name="文本框 74"/>
          <p:cNvSpPr txBox="1"/>
          <p:nvPr/>
        </p:nvSpPr>
        <p:spPr>
          <a:xfrm>
            <a:off x="12810692" y="11801587"/>
            <a:ext cx="27260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Military Science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48" name="文本框 6"/>
          <p:cNvSpPr txBox="1"/>
          <p:nvPr/>
        </p:nvSpPr>
        <p:spPr>
          <a:xfrm>
            <a:off x="18396763" y="9406252"/>
            <a:ext cx="2565420" cy="539338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9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Computer Science</a:t>
            </a:r>
            <a:endParaRPr lang="zh-CN" altLang="en-US" sz="1900" dirty="0">
              <a:solidFill>
                <a:schemeClr val="accent6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49" name="文本框 6"/>
          <p:cNvSpPr txBox="1"/>
          <p:nvPr/>
        </p:nvSpPr>
        <p:spPr>
          <a:xfrm>
            <a:off x="18422536" y="6293138"/>
            <a:ext cx="1640576" cy="539338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Automation Control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50" name="文本框 6"/>
          <p:cNvSpPr txBox="1"/>
          <p:nvPr/>
        </p:nvSpPr>
        <p:spPr>
          <a:xfrm>
            <a:off x="19067628" y="8166592"/>
            <a:ext cx="2565420" cy="539338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Agriculture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51" name="文本框 78"/>
          <p:cNvSpPr txBox="1"/>
          <p:nvPr/>
        </p:nvSpPr>
        <p:spPr>
          <a:xfrm>
            <a:off x="13670496" y="3522990"/>
            <a:ext cx="209700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b="1" dirty="0">
                <a:cs typeface="Arial" panose="020B0604020202020204" pitchFamily="34" charset="0"/>
              </a:rPr>
              <a:t>Task</a:t>
            </a:r>
            <a:r>
              <a:rPr lang="zh-CN" altLang="en-US" sz="2200" b="1" dirty="0">
                <a:cs typeface="Arial" panose="020B0604020202020204" pitchFamily="34" charset="0"/>
              </a:rPr>
              <a:t> </a:t>
            </a:r>
            <a:r>
              <a:rPr lang="en-US" altLang="zh-CN" sz="2200" b="1" dirty="0">
                <a:cs typeface="Arial" panose="020B0604020202020204" pitchFamily="34" charset="0"/>
              </a:rPr>
              <a:t>Difficulty</a:t>
            </a:r>
            <a:endParaRPr lang="zh-CN" altLang="en-US" sz="2200" b="1" dirty="0">
              <a:cs typeface="Arial" panose="020B0604020202020204" pitchFamily="34" charset="0"/>
            </a:endParaRPr>
          </a:p>
        </p:txBody>
      </p:sp>
      <p:sp>
        <p:nvSpPr>
          <p:cNvPr id="52" name="文本框 79"/>
          <p:cNvSpPr txBox="1"/>
          <p:nvPr/>
        </p:nvSpPr>
        <p:spPr>
          <a:xfrm>
            <a:off x="11994266" y="4470400"/>
            <a:ext cx="208773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b="1" dirty="0">
                <a:cs typeface="Arial" panose="020B0604020202020204" pitchFamily="34" charset="0"/>
              </a:rPr>
              <a:t>Language</a:t>
            </a:r>
            <a:endParaRPr lang="zh-CN" altLang="en-US" sz="2200" b="1" dirty="0">
              <a:cs typeface="Arial" panose="020B0604020202020204" pitchFamily="34" charset="0"/>
            </a:endParaRPr>
          </a:p>
        </p:txBody>
      </p:sp>
      <p:sp>
        <p:nvSpPr>
          <p:cNvPr id="53" name="文本框 80"/>
          <p:cNvSpPr txBox="1"/>
          <p:nvPr/>
        </p:nvSpPr>
        <p:spPr>
          <a:xfrm>
            <a:off x="10853387" y="6239651"/>
            <a:ext cx="208773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b="1" dirty="0">
                <a:cs typeface="Arial" panose="020B0604020202020204" pitchFamily="34" charset="0"/>
              </a:rPr>
              <a:t>Question Type</a:t>
            </a:r>
            <a:endParaRPr lang="zh-CN" altLang="en-US" sz="2200" b="1" dirty="0">
              <a:cs typeface="Arial" panose="020B0604020202020204" pitchFamily="34" charset="0"/>
            </a:endParaRPr>
          </a:p>
        </p:txBody>
      </p:sp>
      <p:sp>
        <p:nvSpPr>
          <p:cNvPr id="54" name="文本框 133"/>
          <p:cNvSpPr txBox="1"/>
          <p:nvPr/>
        </p:nvSpPr>
        <p:spPr>
          <a:xfrm>
            <a:off x="16918968" y="4424121"/>
            <a:ext cx="12316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Chinese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55" name="文本框 133"/>
          <p:cNvSpPr txBox="1"/>
          <p:nvPr/>
        </p:nvSpPr>
        <p:spPr>
          <a:xfrm>
            <a:off x="14298708" y="3945054"/>
            <a:ext cx="12316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Easy</a:t>
            </a:r>
            <a:endParaRPr lang="zh-CN" altLang="en-US" sz="2400" dirty="0">
              <a:solidFill>
                <a:schemeClr val="accent6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56" name="文本框 133"/>
          <p:cNvSpPr txBox="1"/>
          <p:nvPr/>
        </p:nvSpPr>
        <p:spPr>
          <a:xfrm>
            <a:off x="14298041" y="4768772"/>
            <a:ext cx="12316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Hard</a:t>
            </a:r>
            <a:endParaRPr lang="zh-CN" altLang="en-US" sz="2400" dirty="0">
              <a:solidFill>
                <a:schemeClr val="accent6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57" name="文本框 133"/>
          <p:cNvSpPr txBox="1"/>
          <p:nvPr/>
        </p:nvSpPr>
        <p:spPr>
          <a:xfrm>
            <a:off x="14138667" y="4356913"/>
            <a:ext cx="16635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Medium</a:t>
            </a:r>
            <a:endParaRPr lang="zh-CN" altLang="en-US" sz="2400" dirty="0">
              <a:solidFill>
                <a:schemeClr val="accent6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58" name="文本框 133"/>
          <p:cNvSpPr txBox="1"/>
          <p:nvPr/>
        </p:nvSpPr>
        <p:spPr>
          <a:xfrm>
            <a:off x="11979901" y="4934963"/>
            <a:ext cx="16635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Chinese</a:t>
            </a:r>
            <a:endParaRPr lang="zh-CN" altLang="en-US" sz="2400" dirty="0">
              <a:solidFill>
                <a:schemeClr val="accent6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59" name="文本框 133"/>
          <p:cNvSpPr txBox="1"/>
          <p:nvPr/>
        </p:nvSpPr>
        <p:spPr>
          <a:xfrm>
            <a:off x="12403155" y="5374828"/>
            <a:ext cx="16635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English</a:t>
            </a:r>
            <a:endParaRPr lang="zh-CN" altLang="en-US" sz="2400" dirty="0">
              <a:solidFill>
                <a:schemeClr val="accent6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60" name="文本框 133"/>
          <p:cNvSpPr txBox="1"/>
          <p:nvPr/>
        </p:nvSpPr>
        <p:spPr>
          <a:xfrm>
            <a:off x="10667600" y="7261685"/>
            <a:ext cx="24395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Single-Choice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61" name="文本框 133"/>
          <p:cNvSpPr txBox="1"/>
          <p:nvPr/>
        </p:nvSpPr>
        <p:spPr>
          <a:xfrm>
            <a:off x="10738577" y="7690815"/>
            <a:ext cx="24395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Multi-Choice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62" name="文本框 133"/>
          <p:cNvSpPr txBox="1"/>
          <p:nvPr/>
        </p:nvSpPr>
        <p:spPr>
          <a:xfrm>
            <a:off x="10773123" y="6832555"/>
            <a:ext cx="20877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Short Answer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63" name="文本框 90"/>
          <p:cNvSpPr txBox="1"/>
          <p:nvPr/>
        </p:nvSpPr>
        <p:spPr>
          <a:xfrm>
            <a:off x="10652730" y="8252624"/>
            <a:ext cx="208773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b="1" dirty="0">
                <a:cs typeface="Arial" panose="020B0604020202020204" pitchFamily="34" charset="0"/>
              </a:rPr>
              <a:t>Emotional Support</a:t>
            </a:r>
            <a:endParaRPr lang="zh-CN" altLang="en-US" sz="2200" b="1" dirty="0">
              <a:cs typeface="Arial" panose="020B0604020202020204" pitchFamily="34" charset="0"/>
            </a:endParaRPr>
          </a:p>
        </p:txBody>
      </p:sp>
      <p:sp>
        <p:nvSpPr>
          <p:cNvPr id="64" name="文本框 91"/>
          <p:cNvSpPr txBox="1"/>
          <p:nvPr/>
        </p:nvSpPr>
        <p:spPr>
          <a:xfrm>
            <a:off x="10922303" y="9141284"/>
            <a:ext cx="23624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Mental Healthy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5" name="文本框 92"/>
          <p:cNvSpPr txBox="1"/>
          <p:nvPr/>
        </p:nvSpPr>
        <p:spPr>
          <a:xfrm>
            <a:off x="11269664" y="9501678"/>
            <a:ext cx="19074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Mild Anxiety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6" name="文本框 93"/>
          <p:cNvSpPr txBox="1"/>
          <p:nvPr/>
        </p:nvSpPr>
        <p:spPr>
          <a:xfrm>
            <a:off x="11129872" y="9862070"/>
            <a:ext cx="27158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Moderate Anxiety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7" name="文本框 94"/>
          <p:cNvSpPr txBox="1"/>
          <p:nvPr/>
        </p:nvSpPr>
        <p:spPr>
          <a:xfrm>
            <a:off x="11283219" y="10222462"/>
            <a:ext cx="27158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Severe Anxiety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grpSp>
        <p:nvGrpSpPr>
          <p:cNvPr id="121" name="Group 120"/>
          <p:cNvGrpSpPr/>
          <p:nvPr/>
        </p:nvGrpSpPr>
        <p:grpSpPr>
          <a:xfrm>
            <a:off x="6407714" y="16693316"/>
            <a:ext cx="20810596" cy="1298609"/>
            <a:chOff x="6227863" y="18348124"/>
            <a:chExt cx="20810596" cy="1298609"/>
          </a:xfrm>
        </p:grpSpPr>
        <p:grpSp>
          <p:nvGrpSpPr>
            <p:cNvPr id="113" name="Group 112"/>
            <p:cNvGrpSpPr/>
            <p:nvPr/>
          </p:nvGrpSpPr>
          <p:grpSpPr>
            <a:xfrm>
              <a:off x="6227863" y="18348124"/>
              <a:ext cx="20810596" cy="713507"/>
              <a:chOff x="6227863" y="18348124"/>
              <a:chExt cx="20810596" cy="713507"/>
            </a:xfrm>
          </p:grpSpPr>
          <p:sp>
            <p:nvSpPr>
              <p:cNvPr id="86" name="文本框 113"/>
              <p:cNvSpPr txBox="1"/>
              <p:nvPr/>
            </p:nvSpPr>
            <p:spPr>
              <a:xfrm>
                <a:off x="17751979" y="18348124"/>
                <a:ext cx="928648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3600" dirty="0">
                    <a:cs typeface="Arial" panose="020B0604020202020204" pitchFamily="34" charset="0"/>
                  </a:rPr>
                  <a:t>Motivation, Guidance &amp; Positive Feedback</a:t>
                </a:r>
                <a:endParaRPr lang="zh-CN" altLang="en-US" sz="3600" dirty="0">
                  <a:cs typeface="Arial" panose="020B0604020202020204" pitchFamily="34" charset="0"/>
                </a:endParaRPr>
              </a:p>
            </p:txBody>
          </p:sp>
          <p:sp>
            <p:nvSpPr>
              <p:cNvPr id="88" name="文本框 115"/>
              <p:cNvSpPr txBox="1"/>
              <p:nvPr/>
            </p:nvSpPr>
            <p:spPr>
              <a:xfrm>
                <a:off x="6687160" y="18415300"/>
                <a:ext cx="1221923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3600" dirty="0">
                    <a:cs typeface="Arial" panose="020B0604020202020204" pitchFamily="34" charset="0"/>
                  </a:rPr>
                  <a:t>Higher-Order Thinking &amp; Skill Development</a:t>
                </a:r>
                <a:endParaRPr lang="zh-CN" altLang="en-US" sz="3600" dirty="0">
                  <a:cs typeface="Arial" panose="020B0604020202020204" pitchFamily="34" charset="0"/>
                </a:endParaRPr>
              </a:p>
            </p:txBody>
          </p:sp>
          <p:sp>
            <p:nvSpPr>
              <p:cNvPr id="89" name="矩形 116"/>
              <p:cNvSpPr/>
              <p:nvPr/>
            </p:nvSpPr>
            <p:spPr>
              <a:xfrm>
                <a:off x="6227863" y="18649058"/>
                <a:ext cx="279694" cy="273547"/>
              </a:xfrm>
              <a:prstGeom prst="rect">
                <a:avLst/>
              </a:prstGeom>
              <a:solidFill>
                <a:srgbClr val="BFBFB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3600"/>
              </a:p>
            </p:txBody>
          </p:sp>
          <p:sp>
            <p:nvSpPr>
              <p:cNvPr id="91" name="矩形 118"/>
              <p:cNvSpPr/>
              <p:nvPr/>
            </p:nvSpPr>
            <p:spPr>
              <a:xfrm>
                <a:off x="17320840" y="18552829"/>
                <a:ext cx="279795" cy="30077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3600"/>
              </a:p>
            </p:txBody>
          </p:sp>
        </p:grpSp>
        <p:grpSp>
          <p:nvGrpSpPr>
            <p:cNvPr id="114" name="Group 113"/>
            <p:cNvGrpSpPr/>
            <p:nvPr/>
          </p:nvGrpSpPr>
          <p:grpSpPr>
            <a:xfrm>
              <a:off x="6232096" y="18995009"/>
              <a:ext cx="19863386" cy="651724"/>
              <a:chOff x="6232096" y="18952589"/>
              <a:chExt cx="19863386" cy="651724"/>
            </a:xfrm>
          </p:grpSpPr>
          <p:sp>
            <p:nvSpPr>
              <p:cNvPr id="85" name="文本框 112"/>
              <p:cNvSpPr txBox="1"/>
              <p:nvPr/>
            </p:nvSpPr>
            <p:spPr>
              <a:xfrm>
                <a:off x="17764421" y="18952589"/>
                <a:ext cx="833106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3600" dirty="0">
                    <a:cs typeface="Arial" panose="020B0604020202020204" pitchFamily="34" charset="0"/>
                  </a:rPr>
                  <a:t>Clarity, Simplicity &amp; Inspiration</a:t>
                </a:r>
                <a:endParaRPr lang="zh-CN" altLang="en-US" sz="3600" dirty="0">
                  <a:cs typeface="Arial" panose="020B0604020202020204" pitchFamily="34" charset="0"/>
                </a:endParaRPr>
              </a:p>
            </p:txBody>
          </p:sp>
          <p:sp>
            <p:nvSpPr>
              <p:cNvPr id="87" name="文本框 114"/>
              <p:cNvSpPr txBox="1"/>
              <p:nvPr/>
            </p:nvSpPr>
            <p:spPr>
              <a:xfrm>
                <a:off x="6721797" y="18957982"/>
                <a:ext cx="1057619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3600" dirty="0">
                    <a:cs typeface="Arial" panose="020B0604020202020204" pitchFamily="34" charset="0"/>
                  </a:rPr>
                  <a:t>Personalization, Adaptation &amp; Learning Support</a:t>
                </a:r>
                <a:endParaRPr lang="zh-CN" altLang="en-US" sz="3600" dirty="0">
                  <a:cs typeface="Arial" panose="020B0604020202020204" pitchFamily="34" charset="0"/>
                </a:endParaRPr>
              </a:p>
            </p:txBody>
          </p:sp>
          <p:sp>
            <p:nvSpPr>
              <p:cNvPr id="90" name="矩形 117"/>
              <p:cNvSpPr/>
              <p:nvPr/>
            </p:nvSpPr>
            <p:spPr>
              <a:xfrm>
                <a:off x="6232096" y="19190415"/>
                <a:ext cx="279694" cy="273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3600"/>
              </a:p>
            </p:txBody>
          </p:sp>
          <p:sp>
            <p:nvSpPr>
              <p:cNvPr id="92" name="矩形 119"/>
              <p:cNvSpPr/>
              <p:nvPr/>
            </p:nvSpPr>
            <p:spPr>
              <a:xfrm>
                <a:off x="17320941" y="19159129"/>
                <a:ext cx="279694" cy="27354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3600" dirty="0"/>
              </a:p>
            </p:txBody>
          </p:sp>
        </p:grpSp>
      </p:grpSp>
      <p:sp>
        <p:nvSpPr>
          <p:cNvPr id="93" name="文本框 40"/>
          <p:cNvSpPr txBox="1"/>
          <p:nvPr/>
        </p:nvSpPr>
        <p:spPr>
          <a:xfrm rot="2344420">
            <a:off x="16275547" y="9201974"/>
            <a:ext cx="15665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cs typeface="Arial" panose="020B0604020202020204" pitchFamily="34" charset="0"/>
              </a:rPr>
              <a:t>Personalized</a:t>
            </a:r>
            <a:endParaRPr lang="en-US" altLang="zh-CN" sz="1200" dirty="0">
              <a:cs typeface="Arial" panose="020B0604020202020204" pitchFamily="34" charset="0"/>
            </a:endParaRPr>
          </a:p>
        </p:txBody>
      </p:sp>
      <p:sp>
        <p:nvSpPr>
          <p:cNvPr id="95" name="文本框 40"/>
          <p:cNvSpPr txBox="1"/>
          <p:nvPr/>
        </p:nvSpPr>
        <p:spPr>
          <a:xfrm rot="3148961">
            <a:off x="16406522" y="9605963"/>
            <a:ext cx="9662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cs typeface="Arial" panose="020B0604020202020204" pitchFamily="34" charset="0"/>
              </a:rPr>
              <a:t>Support</a:t>
            </a:r>
            <a:endParaRPr lang="en-US" altLang="zh-CN" sz="1200" dirty="0">
              <a:cs typeface="Arial" panose="020B0604020202020204" pitchFamily="34" charset="0"/>
            </a:endParaRPr>
          </a:p>
        </p:txBody>
      </p:sp>
      <p:grpSp>
        <p:nvGrpSpPr>
          <p:cNvPr id="120" name="Group 119"/>
          <p:cNvGrpSpPr/>
          <p:nvPr/>
        </p:nvGrpSpPr>
        <p:grpSpPr>
          <a:xfrm>
            <a:off x="6421074" y="18389380"/>
            <a:ext cx="20065844" cy="1294470"/>
            <a:chOff x="4339586" y="19625668"/>
            <a:chExt cx="20065844" cy="1294470"/>
          </a:xfrm>
        </p:grpSpPr>
        <p:grpSp>
          <p:nvGrpSpPr>
            <p:cNvPr id="115" name="Group 114"/>
            <p:cNvGrpSpPr/>
            <p:nvPr/>
          </p:nvGrpSpPr>
          <p:grpSpPr>
            <a:xfrm>
              <a:off x="4339586" y="19625668"/>
              <a:ext cx="20065844" cy="686650"/>
              <a:chOff x="4339586" y="19653714"/>
              <a:chExt cx="20065844" cy="686650"/>
            </a:xfrm>
          </p:grpSpPr>
          <p:sp>
            <p:nvSpPr>
              <p:cNvPr id="97" name="文本框 96"/>
              <p:cNvSpPr txBox="1"/>
              <p:nvPr/>
            </p:nvSpPr>
            <p:spPr>
              <a:xfrm>
                <a:off x="4829807" y="19653714"/>
                <a:ext cx="9517587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3600" dirty="0">
                    <a:cs typeface="Arial" panose="020B0604020202020204" pitchFamily="34" charset="0"/>
                  </a:rPr>
                  <a:t>Instruction Following &amp; Task Completion</a:t>
                </a:r>
                <a:endParaRPr lang="zh-CN" altLang="en-US" sz="3600" dirty="0">
                  <a:cs typeface="Arial" panose="020B0604020202020204" pitchFamily="34" charset="0"/>
                </a:endParaRPr>
              </a:p>
            </p:txBody>
          </p:sp>
          <p:sp>
            <p:nvSpPr>
              <p:cNvPr id="99" name="矩形 104"/>
              <p:cNvSpPr/>
              <p:nvPr/>
            </p:nvSpPr>
            <p:spPr>
              <a:xfrm>
                <a:off x="4339586" y="19878328"/>
                <a:ext cx="279694" cy="273547"/>
              </a:xfrm>
              <a:prstGeom prst="rect">
                <a:avLst/>
              </a:prstGeom>
              <a:solidFill>
                <a:srgbClr val="F19E6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3600"/>
              </a:p>
            </p:txBody>
          </p:sp>
          <p:sp>
            <p:nvSpPr>
              <p:cNvPr id="102" name="文本框 99"/>
              <p:cNvSpPr txBox="1"/>
              <p:nvPr/>
            </p:nvSpPr>
            <p:spPr>
              <a:xfrm>
                <a:off x="15959541" y="19694033"/>
                <a:ext cx="8445889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3600" dirty="0">
                    <a:cs typeface="Arial" panose="020B0604020202020204" pitchFamily="34" charset="0"/>
                  </a:rPr>
                  <a:t>Scenario Element Integration</a:t>
                </a:r>
                <a:endParaRPr lang="zh-CN" altLang="en-US" sz="3600" dirty="0">
                  <a:cs typeface="Arial" panose="020B0604020202020204" pitchFamily="34" charset="0"/>
                </a:endParaRPr>
              </a:p>
            </p:txBody>
          </p:sp>
          <p:sp>
            <p:nvSpPr>
              <p:cNvPr id="103" name="矩形 106"/>
              <p:cNvSpPr/>
              <p:nvPr/>
            </p:nvSpPr>
            <p:spPr>
              <a:xfrm>
                <a:off x="15445794" y="19897297"/>
                <a:ext cx="279694" cy="27354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3600"/>
              </a:p>
            </p:txBody>
          </p:sp>
        </p:grpSp>
        <p:grpSp>
          <p:nvGrpSpPr>
            <p:cNvPr id="116" name="Group 115"/>
            <p:cNvGrpSpPr/>
            <p:nvPr/>
          </p:nvGrpSpPr>
          <p:grpSpPr>
            <a:xfrm>
              <a:off x="4339586" y="20232709"/>
              <a:ext cx="19655978" cy="687429"/>
              <a:chOff x="4339586" y="20233642"/>
              <a:chExt cx="19655978" cy="687429"/>
            </a:xfrm>
          </p:grpSpPr>
          <p:sp>
            <p:nvSpPr>
              <p:cNvPr id="98" name="文本框 97"/>
              <p:cNvSpPr txBox="1"/>
              <p:nvPr/>
            </p:nvSpPr>
            <p:spPr>
              <a:xfrm>
                <a:off x="4829808" y="20233642"/>
                <a:ext cx="659751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3600" dirty="0">
                    <a:cs typeface="Arial" panose="020B0604020202020204" pitchFamily="34" charset="0"/>
                  </a:rPr>
                  <a:t>Role &amp; Tone Consistency</a:t>
                </a:r>
                <a:endParaRPr lang="zh-CN" altLang="en-US" sz="3600" dirty="0">
                  <a:cs typeface="Arial" panose="020B0604020202020204" pitchFamily="34" charset="0"/>
                </a:endParaRPr>
              </a:p>
            </p:txBody>
          </p:sp>
          <p:sp>
            <p:nvSpPr>
              <p:cNvPr id="100" name="矩形 105"/>
              <p:cNvSpPr/>
              <p:nvPr/>
            </p:nvSpPr>
            <p:spPr>
              <a:xfrm>
                <a:off x="4339586" y="20399771"/>
                <a:ext cx="279694" cy="273547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3600"/>
              </a:p>
            </p:txBody>
          </p:sp>
          <p:sp>
            <p:nvSpPr>
              <p:cNvPr id="101" name="文本框 98"/>
              <p:cNvSpPr txBox="1"/>
              <p:nvPr/>
            </p:nvSpPr>
            <p:spPr>
              <a:xfrm>
                <a:off x="15944309" y="20274740"/>
                <a:ext cx="805125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3600" dirty="0">
                    <a:cs typeface="Arial" panose="020B0604020202020204" pitchFamily="34" charset="0"/>
                  </a:rPr>
                  <a:t>Content Relevance &amp; Scope Control</a:t>
                </a:r>
                <a:endParaRPr lang="zh-CN" altLang="en-US" sz="3600" dirty="0">
                  <a:cs typeface="Arial" panose="020B0604020202020204" pitchFamily="34" charset="0"/>
                </a:endParaRPr>
              </a:p>
            </p:txBody>
          </p:sp>
          <p:sp>
            <p:nvSpPr>
              <p:cNvPr id="104" name="矩形 107"/>
              <p:cNvSpPr/>
              <p:nvPr/>
            </p:nvSpPr>
            <p:spPr>
              <a:xfrm>
                <a:off x="15445794" y="20469683"/>
                <a:ext cx="279694" cy="27354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3600"/>
              </a:p>
            </p:txBody>
          </p:sp>
        </p:grpSp>
      </p:grpSp>
      <p:grpSp>
        <p:nvGrpSpPr>
          <p:cNvPr id="135" name="Group 134"/>
          <p:cNvGrpSpPr/>
          <p:nvPr/>
        </p:nvGrpSpPr>
        <p:grpSpPr>
          <a:xfrm>
            <a:off x="6431702" y="19824855"/>
            <a:ext cx="20679935" cy="1213865"/>
            <a:chOff x="4350212" y="21781970"/>
            <a:chExt cx="20679935" cy="1213865"/>
          </a:xfrm>
        </p:grpSpPr>
        <p:sp>
          <p:nvSpPr>
            <p:cNvPr id="127" name="文本框 100"/>
            <p:cNvSpPr txBox="1"/>
            <p:nvPr/>
          </p:nvSpPr>
          <p:spPr>
            <a:xfrm>
              <a:off x="4784596" y="21781970"/>
              <a:ext cx="680666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3600" dirty="0">
                  <a:cs typeface="Arial" panose="020B0604020202020204" pitchFamily="34" charset="0"/>
                </a:rPr>
                <a:t>Basic Factual Accuracy</a:t>
              </a:r>
              <a:endParaRPr lang="zh-CN" altLang="en-US" sz="3600" dirty="0">
                <a:cs typeface="Arial" panose="020B0604020202020204" pitchFamily="34" charset="0"/>
              </a:endParaRPr>
            </a:p>
          </p:txBody>
        </p:sp>
        <p:sp>
          <p:nvSpPr>
            <p:cNvPr id="128" name="文本框 101"/>
            <p:cNvSpPr txBox="1"/>
            <p:nvPr/>
          </p:nvSpPr>
          <p:spPr>
            <a:xfrm>
              <a:off x="4793211" y="22338895"/>
              <a:ext cx="6792057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3600" dirty="0">
                  <a:cs typeface="Arial" panose="020B0604020202020204" pitchFamily="34" charset="0"/>
                </a:rPr>
                <a:t>Domain Knowledge Accuracy</a:t>
              </a:r>
              <a:endParaRPr lang="zh-CN" altLang="en-US" sz="3600" dirty="0">
                <a:cs typeface="Arial" panose="020B0604020202020204" pitchFamily="34" charset="0"/>
              </a:endParaRPr>
            </a:p>
          </p:txBody>
        </p:sp>
        <p:sp>
          <p:nvSpPr>
            <p:cNvPr id="129" name="文本框 102"/>
            <p:cNvSpPr txBox="1"/>
            <p:nvPr/>
          </p:nvSpPr>
          <p:spPr>
            <a:xfrm>
              <a:off x="15871892" y="21784121"/>
              <a:ext cx="659751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3600" dirty="0">
                  <a:cs typeface="Arial" panose="020B0604020202020204" pitchFamily="34" charset="0"/>
                </a:rPr>
                <a:t>Reasoning Process Rigor</a:t>
              </a:r>
              <a:endParaRPr lang="zh-CN" altLang="en-US" sz="3600" dirty="0">
                <a:cs typeface="Arial" panose="020B0604020202020204" pitchFamily="34" charset="0"/>
              </a:endParaRPr>
            </a:p>
          </p:txBody>
        </p:sp>
        <p:sp>
          <p:nvSpPr>
            <p:cNvPr id="130" name="文本框 103"/>
            <p:cNvSpPr txBox="1"/>
            <p:nvPr/>
          </p:nvSpPr>
          <p:spPr>
            <a:xfrm>
              <a:off x="15871894" y="22349504"/>
              <a:ext cx="9158253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3600" dirty="0">
                  <a:cs typeface="Arial" panose="020B0604020202020204" pitchFamily="34" charset="0"/>
                </a:rPr>
                <a:t>Error Identification &amp; Correction Precision</a:t>
              </a:r>
              <a:endParaRPr lang="zh-CN" altLang="en-US" sz="3600" dirty="0">
                <a:cs typeface="Arial" panose="020B0604020202020204" pitchFamily="34" charset="0"/>
              </a:endParaRPr>
            </a:p>
          </p:txBody>
        </p:sp>
        <p:sp>
          <p:nvSpPr>
            <p:cNvPr id="131" name="矩形 108"/>
            <p:cNvSpPr/>
            <p:nvPr/>
          </p:nvSpPr>
          <p:spPr>
            <a:xfrm>
              <a:off x="4350212" y="22023205"/>
              <a:ext cx="279694" cy="273547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600"/>
            </a:p>
          </p:txBody>
        </p:sp>
        <p:sp>
          <p:nvSpPr>
            <p:cNvPr id="132" name="矩形 109"/>
            <p:cNvSpPr/>
            <p:nvPr/>
          </p:nvSpPr>
          <p:spPr>
            <a:xfrm>
              <a:off x="4350212" y="22552444"/>
              <a:ext cx="279694" cy="273547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600"/>
            </a:p>
          </p:txBody>
        </p:sp>
        <p:sp>
          <p:nvSpPr>
            <p:cNvPr id="133" name="矩形 110"/>
            <p:cNvSpPr/>
            <p:nvPr/>
          </p:nvSpPr>
          <p:spPr>
            <a:xfrm>
              <a:off x="15442981" y="22003106"/>
              <a:ext cx="279694" cy="273547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600"/>
            </a:p>
          </p:txBody>
        </p:sp>
        <p:sp>
          <p:nvSpPr>
            <p:cNvPr id="134" name="矩形 111"/>
            <p:cNvSpPr/>
            <p:nvPr/>
          </p:nvSpPr>
          <p:spPr>
            <a:xfrm>
              <a:off x="15442981" y="22551370"/>
              <a:ext cx="279694" cy="27354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600"/>
            </a:p>
          </p:txBody>
        </p:sp>
      </p:grpSp>
      <p:pic>
        <p:nvPicPr>
          <p:cNvPr id="136" name="图片 6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29" t="2963" r="28415"/>
          <a:stretch>
            <a:fillRect/>
          </a:stretch>
        </p:blipFill>
        <p:spPr>
          <a:xfrm>
            <a:off x="25199976" y="428709"/>
            <a:ext cx="14487529" cy="17955087"/>
          </a:xfrm>
          <a:prstGeom prst="rect">
            <a:avLst/>
          </a:prstGeom>
        </p:spPr>
      </p:pic>
      <p:pic>
        <p:nvPicPr>
          <p:cNvPr id="137" name="图片 6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16" r="49722" b="97090"/>
          <a:stretch>
            <a:fillRect/>
          </a:stretch>
        </p:blipFill>
        <p:spPr>
          <a:xfrm>
            <a:off x="27590413" y="19156622"/>
            <a:ext cx="10382865" cy="609767"/>
          </a:xfrm>
          <a:prstGeom prst="rect">
            <a:avLst/>
          </a:prstGeom>
        </p:spPr>
      </p:pic>
      <p:pic>
        <p:nvPicPr>
          <p:cNvPr id="138" name="图片 6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08" r="22896" b="97090"/>
          <a:stretch>
            <a:fillRect/>
          </a:stretch>
        </p:blipFill>
        <p:spPr>
          <a:xfrm>
            <a:off x="27753586" y="20201646"/>
            <a:ext cx="10056519" cy="609767"/>
          </a:xfrm>
          <a:prstGeom prst="rect">
            <a:avLst/>
          </a:prstGeom>
        </p:spPr>
      </p:pic>
      <p:sp>
        <p:nvSpPr>
          <p:cNvPr id="144" name="文本框 35"/>
          <p:cNvSpPr txBox="1"/>
          <p:nvPr/>
        </p:nvSpPr>
        <p:spPr>
          <a:xfrm>
            <a:off x="15214389" y="7992844"/>
            <a:ext cx="18373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cs typeface="Arial" panose="020B0604020202020204" pitchFamily="34" charset="0"/>
              </a:rPr>
              <a:t>Student </a:t>
            </a:r>
            <a:endParaRPr lang="en-US" altLang="zh-CN" sz="2000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algn="ctr"/>
            <a:r>
              <a:rPr lang="en-US" altLang="zh-CN" sz="2000" dirty="0">
                <a:solidFill>
                  <a:schemeClr val="bg1"/>
                </a:solidFill>
                <a:cs typeface="Arial" panose="020B0604020202020204" pitchFamily="34" charset="0"/>
              </a:rPr>
              <a:t>Oriented</a:t>
            </a:r>
            <a:endParaRPr lang="zh-CN" altLang="en-US" sz="20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45" name="文本框 36"/>
          <p:cNvSpPr txBox="1"/>
          <p:nvPr/>
        </p:nvSpPr>
        <p:spPr>
          <a:xfrm>
            <a:off x="14188130" y="7527195"/>
            <a:ext cx="18373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cs typeface="Arial" panose="020B0604020202020204" pitchFamily="34" charset="0"/>
              </a:rPr>
              <a:t>Teacher </a:t>
            </a:r>
            <a:endParaRPr lang="en-US" altLang="zh-CN" sz="2000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algn="ctr"/>
            <a:r>
              <a:rPr lang="en-US" altLang="zh-CN" sz="2000" dirty="0">
                <a:solidFill>
                  <a:schemeClr val="bg1"/>
                </a:solidFill>
                <a:cs typeface="Arial" panose="020B0604020202020204" pitchFamily="34" charset="0"/>
              </a:rPr>
              <a:t>Oriented</a:t>
            </a:r>
            <a:endParaRPr lang="zh-CN" altLang="en-US" sz="20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graphicFrame>
        <p:nvGraphicFramePr>
          <p:cNvPr id="9" name="图表 8"/>
          <p:cNvGraphicFramePr/>
          <p:nvPr/>
        </p:nvGraphicFramePr>
        <p:xfrm>
          <a:off x="11107177" y="4505225"/>
          <a:ext cx="9836598" cy="74164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文本框 37"/>
          <p:cNvSpPr txBox="1"/>
          <p:nvPr/>
        </p:nvSpPr>
        <p:spPr>
          <a:xfrm rot="17722872">
            <a:off x="15517217" y="6034102"/>
            <a:ext cx="16006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cs typeface="Arial" panose="020B0604020202020204" pitchFamily="34" charset="0"/>
              </a:rPr>
              <a:t>Problem Solving</a:t>
            </a:r>
            <a:endParaRPr lang="zh-CN" altLang="en-US" dirty="0">
              <a:cs typeface="Arial" panose="020B0604020202020204" pitchFamily="34" charset="0"/>
            </a:endParaRPr>
          </a:p>
        </p:txBody>
      </p:sp>
      <p:sp>
        <p:nvSpPr>
          <p:cNvPr id="12" name="文本框 38"/>
          <p:cNvSpPr txBox="1"/>
          <p:nvPr/>
        </p:nvSpPr>
        <p:spPr>
          <a:xfrm rot="19944444">
            <a:off x="16145249" y="6728807"/>
            <a:ext cx="22852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cs typeface="Arial" panose="020B0604020202020204" pitchFamily="34" charset="0"/>
              </a:rPr>
              <a:t>Error </a:t>
            </a:r>
            <a:endParaRPr lang="en-US" altLang="zh-CN" dirty="0">
              <a:cs typeface="Arial" panose="020B0604020202020204" pitchFamily="34" charset="0"/>
            </a:endParaRPr>
          </a:p>
          <a:p>
            <a:pPr algn="ctr"/>
            <a:r>
              <a:rPr lang="en-US" altLang="zh-CN" dirty="0">
                <a:cs typeface="Arial" panose="020B0604020202020204" pitchFamily="34" charset="0"/>
              </a:rPr>
              <a:t>Correction</a:t>
            </a:r>
            <a:endParaRPr lang="zh-CN" altLang="en-US" dirty="0">
              <a:cs typeface="Arial" panose="020B0604020202020204" pitchFamily="34" charset="0"/>
            </a:endParaRPr>
          </a:p>
        </p:txBody>
      </p:sp>
      <p:sp>
        <p:nvSpPr>
          <p:cNvPr id="13" name="文本框 39"/>
          <p:cNvSpPr txBox="1"/>
          <p:nvPr/>
        </p:nvSpPr>
        <p:spPr>
          <a:xfrm rot="153563">
            <a:off x="16442235" y="7931084"/>
            <a:ext cx="21614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cs typeface="Arial" panose="020B0604020202020204" pitchFamily="34" charset="0"/>
              </a:rPr>
              <a:t>Question </a:t>
            </a:r>
            <a:endParaRPr lang="en-US" altLang="zh-CN" dirty="0">
              <a:cs typeface="Arial" panose="020B0604020202020204" pitchFamily="34" charset="0"/>
            </a:endParaRPr>
          </a:p>
          <a:p>
            <a:pPr algn="ctr"/>
            <a:r>
              <a:rPr lang="zh-CN" altLang="en-US" dirty="0">
                <a:cs typeface="Arial" panose="020B0604020202020204" pitchFamily="34" charset="0"/>
              </a:rPr>
              <a:t>Answering</a:t>
            </a:r>
            <a:endParaRPr lang="zh-CN" altLang="en-US" dirty="0">
              <a:cs typeface="Arial" panose="020B0604020202020204" pitchFamily="34" charset="0"/>
            </a:endParaRPr>
          </a:p>
        </p:txBody>
      </p:sp>
      <p:sp>
        <p:nvSpPr>
          <p:cNvPr id="15" name="文本框 41"/>
          <p:cNvSpPr txBox="1"/>
          <p:nvPr/>
        </p:nvSpPr>
        <p:spPr>
          <a:xfrm rot="5003879">
            <a:off x="14138263" y="9699788"/>
            <a:ext cx="34410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cs typeface="Arial" panose="020B0604020202020204" pitchFamily="34" charset="0"/>
              </a:rPr>
              <a:t>Emotional </a:t>
            </a:r>
            <a:endParaRPr lang="en-US" altLang="zh-CN" dirty="0">
              <a:cs typeface="Arial" panose="020B0604020202020204" pitchFamily="34" charset="0"/>
            </a:endParaRPr>
          </a:p>
          <a:p>
            <a:pPr algn="ctr"/>
            <a:r>
              <a:rPr lang="en-US" altLang="zh-CN" dirty="0">
                <a:cs typeface="Arial" panose="020B0604020202020204" pitchFamily="34" charset="0"/>
              </a:rPr>
              <a:t>Support</a:t>
            </a:r>
            <a:endParaRPr lang="en-US" altLang="zh-CN" dirty="0">
              <a:cs typeface="Arial" panose="020B0604020202020204" pitchFamily="34" charset="0"/>
            </a:endParaRPr>
          </a:p>
        </p:txBody>
      </p:sp>
      <p:sp>
        <p:nvSpPr>
          <p:cNvPr id="16" name="文本框 42"/>
          <p:cNvSpPr txBox="1"/>
          <p:nvPr/>
        </p:nvSpPr>
        <p:spPr>
          <a:xfrm rot="19037439">
            <a:off x="12679423" y="9224864"/>
            <a:ext cx="34410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cs typeface="Arial" panose="020B0604020202020204" pitchFamily="34" charset="0"/>
              </a:rPr>
              <a:t>Question </a:t>
            </a:r>
            <a:endParaRPr lang="en-US" altLang="zh-CN" dirty="0">
              <a:cs typeface="Arial" panose="020B0604020202020204" pitchFamily="34" charset="0"/>
            </a:endParaRPr>
          </a:p>
          <a:p>
            <a:pPr algn="ctr"/>
            <a:r>
              <a:rPr lang="en-US" altLang="zh-CN" dirty="0">
                <a:cs typeface="Arial" panose="020B0604020202020204" pitchFamily="34" charset="0"/>
              </a:rPr>
              <a:t>Generation</a:t>
            </a:r>
            <a:endParaRPr lang="en-US" altLang="zh-CN" dirty="0">
              <a:cs typeface="Arial" panose="020B0604020202020204" pitchFamily="34" charset="0"/>
            </a:endParaRPr>
          </a:p>
        </p:txBody>
      </p:sp>
      <p:sp>
        <p:nvSpPr>
          <p:cNvPr id="17" name="文本框 43"/>
          <p:cNvSpPr txBox="1"/>
          <p:nvPr/>
        </p:nvSpPr>
        <p:spPr>
          <a:xfrm>
            <a:off x="12869830" y="8001639"/>
            <a:ext cx="18373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cs typeface="Arial" panose="020B0604020202020204" pitchFamily="34" charset="0"/>
              </a:rPr>
              <a:t>Automatic </a:t>
            </a:r>
            <a:endParaRPr lang="en-US" altLang="zh-CN" dirty="0">
              <a:cs typeface="Arial" panose="020B0604020202020204" pitchFamily="34" charset="0"/>
            </a:endParaRPr>
          </a:p>
          <a:p>
            <a:pPr algn="ctr"/>
            <a:r>
              <a:rPr lang="en-US" altLang="zh-CN" dirty="0">
                <a:cs typeface="Arial" panose="020B0604020202020204" pitchFamily="34" charset="0"/>
              </a:rPr>
              <a:t>Grading</a:t>
            </a:r>
            <a:endParaRPr lang="en-US" altLang="zh-CN" dirty="0">
              <a:cs typeface="Arial" panose="020B0604020202020204" pitchFamily="34" charset="0"/>
            </a:endParaRPr>
          </a:p>
        </p:txBody>
      </p:sp>
      <p:sp>
        <p:nvSpPr>
          <p:cNvPr id="18" name="文本框 44"/>
          <p:cNvSpPr txBox="1"/>
          <p:nvPr/>
        </p:nvSpPr>
        <p:spPr>
          <a:xfrm rot="2489424">
            <a:off x="12757661" y="6564965"/>
            <a:ext cx="272485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cs typeface="Arial" panose="020B0604020202020204" pitchFamily="34" charset="0"/>
              </a:rPr>
              <a:t>Teaching </a:t>
            </a:r>
            <a:endParaRPr lang="en-US" altLang="zh-CN" dirty="0">
              <a:cs typeface="Arial" panose="020B0604020202020204" pitchFamily="34" charset="0"/>
            </a:endParaRPr>
          </a:p>
          <a:p>
            <a:pPr algn="ctr"/>
            <a:r>
              <a:rPr lang="en-US" altLang="zh-CN" dirty="0">
                <a:cs typeface="Arial" panose="020B0604020202020204" pitchFamily="34" charset="0"/>
              </a:rPr>
              <a:t>Material </a:t>
            </a:r>
            <a:endParaRPr lang="en-US" altLang="zh-CN" dirty="0">
              <a:cs typeface="Arial" panose="020B0604020202020204" pitchFamily="34" charset="0"/>
            </a:endParaRPr>
          </a:p>
          <a:p>
            <a:pPr algn="ctr"/>
            <a:r>
              <a:rPr lang="en-US" altLang="zh-CN" dirty="0">
                <a:cs typeface="Arial" panose="020B0604020202020204" pitchFamily="34" charset="0"/>
              </a:rPr>
              <a:t>Generation</a:t>
            </a:r>
            <a:endParaRPr lang="en-US" altLang="zh-CN" dirty="0">
              <a:cs typeface="Arial" panose="020B0604020202020204" pitchFamily="34" charset="0"/>
            </a:endParaRPr>
          </a:p>
        </p:txBody>
      </p:sp>
      <p:sp>
        <p:nvSpPr>
          <p:cNvPr id="68" name="文本框 6"/>
          <p:cNvSpPr txBox="1"/>
          <p:nvPr/>
        </p:nvSpPr>
        <p:spPr>
          <a:xfrm rot="4740649">
            <a:off x="14319728" y="5805172"/>
            <a:ext cx="15723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cs typeface="Arial" panose="020B0604020202020204" pitchFamily="34" charset="0"/>
              </a:rPr>
              <a:t>Personalized  Content Creation</a:t>
            </a:r>
            <a:endParaRPr lang="en-US" altLang="zh-CN" dirty="0">
              <a:cs typeface="Arial" panose="020B0604020202020204" pitchFamily="34" charset="0"/>
            </a:endParaRPr>
          </a:p>
        </p:txBody>
      </p:sp>
      <p:sp>
        <p:nvSpPr>
          <p:cNvPr id="10" name="文本框 40"/>
          <p:cNvSpPr txBox="1"/>
          <p:nvPr/>
        </p:nvSpPr>
        <p:spPr>
          <a:xfrm rot="2183242">
            <a:off x="16442399" y="9086671"/>
            <a:ext cx="15665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cs typeface="Arial" panose="020B0604020202020204" pitchFamily="34" charset="0"/>
              </a:rPr>
              <a:t>Personalized</a:t>
            </a:r>
            <a:endParaRPr lang="en-US" altLang="zh-CN" dirty="0">
              <a:cs typeface="Arial" panose="020B0604020202020204" pitchFamily="34" charset="0"/>
            </a:endParaRPr>
          </a:p>
        </p:txBody>
      </p:sp>
      <p:sp>
        <p:nvSpPr>
          <p:cNvPr id="14" name="文本框 40"/>
          <p:cNvSpPr txBox="1"/>
          <p:nvPr/>
        </p:nvSpPr>
        <p:spPr>
          <a:xfrm rot="2694692">
            <a:off x="16535233" y="9309549"/>
            <a:ext cx="10923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cs typeface="Arial" panose="020B0604020202020204" pitchFamily="34" charset="0"/>
              </a:rPr>
              <a:t>Learning</a:t>
            </a:r>
            <a:endParaRPr lang="en-US" altLang="zh-CN" dirty="0">
              <a:cs typeface="Arial" panose="020B0604020202020204" pitchFamily="34" charset="0"/>
            </a:endParaRPr>
          </a:p>
        </p:txBody>
      </p:sp>
      <p:sp>
        <p:nvSpPr>
          <p:cNvPr id="69" name="文本框 40"/>
          <p:cNvSpPr txBox="1"/>
          <p:nvPr/>
        </p:nvSpPr>
        <p:spPr>
          <a:xfrm rot="3148961">
            <a:off x="16404596" y="9473873"/>
            <a:ext cx="9662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cs typeface="Arial" panose="020B0604020202020204" pitchFamily="34" charset="0"/>
              </a:rPr>
              <a:t>Support</a:t>
            </a:r>
            <a:endParaRPr lang="en-US" altLang="zh-CN" dirty="0">
              <a:cs typeface="Arial" panose="020B0604020202020204" pitchFamily="34" charset="0"/>
            </a:endParaRPr>
          </a:p>
        </p:txBody>
      </p:sp>
      <p:graphicFrame>
        <p:nvGraphicFramePr>
          <p:cNvPr id="70" name="图表 69"/>
          <p:cNvGraphicFramePr/>
          <p:nvPr/>
        </p:nvGraphicFramePr>
        <p:xfrm>
          <a:off x="5890411" y="-286872"/>
          <a:ext cx="20470222" cy="1630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图表 3"/>
          <p:cNvGraphicFramePr/>
          <p:nvPr/>
        </p:nvGraphicFramePr>
        <p:xfrm>
          <a:off x="7958620" y="2980613"/>
          <a:ext cx="15421884" cy="104824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" name="图表 4"/>
          <p:cNvGraphicFramePr/>
          <p:nvPr/>
        </p:nvGraphicFramePr>
        <p:xfrm>
          <a:off x="8766364" y="2728520"/>
          <a:ext cx="12680878" cy="104473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图表 5"/>
          <p:cNvGraphicFramePr/>
          <p:nvPr/>
        </p:nvGraphicFramePr>
        <p:xfrm>
          <a:off x="8012614" y="449767"/>
          <a:ext cx="15240000" cy="157226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图表 33"/>
          <p:cNvGraphicFramePr/>
          <p:nvPr/>
        </p:nvGraphicFramePr>
        <p:xfrm>
          <a:off x="11294402" y="5265362"/>
          <a:ext cx="9383949" cy="57495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图表 34"/>
          <p:cNvGraphicFramePr/>
          <p:nvPr/>
        </p:nvGraphicFramePr>
        <p:xfrm>
          <a:off x="13544325" y="6862773"/>
          <a:ext cx="4176589" cy="24487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文本框 35"/>
          <p:cNvSpPr txBox="1"/>
          <p:nvPr/>
        </p:nvSpPr>
        <p:spPr>
          <a:xfrm>
            <a:off x="15214389" y="7992844"/>
            <a:ext cx="18373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cs typeface="Arial" panose="020B0604020202020204" pitchFamily="34" charset="0"/>
              </a:rPr>
              <a:t>Student </a:t>
            </a:r>
            <a:endParaRPr lang="en-US" altLang="zh-CN" sz="2000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algn="ctr"/>
            <a:r>
              <a:rPr lang="en-US" altLang="zh-CN" sz="2000" dirty="0">
                <a:solidFill>
                  <a:schemeClr val="bg1"/>
                </a:solidFill>
                <a:cs typeface="Arial" panose="020B0604020202020204" pitchFamily="34" charset="0"/>
              </a:rPr>
              <a:t>Oriented</a:t>
            </a:r>
            <a:endParaRPr lang="zh-CN" altLang="en-US" sz="20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0" name="文本框 36"/>
          <p:cNvSpPr txBox="1"/>
          <p:nvPr/>
        </p:nvSpPr>
        <p:spPr>
          <a:xfrm>
            <a:off x="14188130" y="7527195"/>
            <a:ext cx="18373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cs typeface="Arial" panose="020B0604020202020204" pitchFamily="34" charset="0"/>
              </a:rPr>
              <a:t>Teacher </a:t>
            </a:r>
            <a:endParaRPr lang="en-US" altLang="zh-CN" sz="2000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algn="ctr"/>
            <a:r>
              <a:rPr lang="en-US" altLang="zh-CN" sz="2000" dirty="0">
                <a:solidFill>
                  <a:schemeClr val="bg1"/>
                </a:solidFill>
                <a:cs typeface="Arial" panose="020B0604020202020204" pitchFamily="34" charset="0"/>
              </a:rPr>
              <a:t>Oriented</a:t>
            </a:r>
            <a:endParaRPr lang="zh-CN" altLang="en-US" sz="20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1" name="文本框 37"/>
          <p:cNvSpPr txBox="1"/>
          <p:nvPr/>
        </p:nvSpPr>
        <p:spPr>
          <a:xfrm rot="17722872">
            <a:off x="15526719" y="6171267"/>
            <a:ext cx="16006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cs typeface="Arial" panose="020B0604020202020204" pitchFamily="34" charset="0"/>
              </a:rPr>
              <a:t>Problem Solving</a:t>
            </a:r>
            <a:endParaRPr lang="zh-CN" altLang="en-US" dirty="0">
              <a:cs typeface="Arial" panose="020B0604020202020204" pitchFamily="34" charset="0"/>
            </a:endParaRPr>
          </a:p>
        </p:txBody>
      </p:sp>
      <p:sp>
        <p:nvSpPr>
          <p:cNvPr id="12" name="文本框 38"/>
          <p:cNvSpPr txBox="1"/>
          <p:nvPr/>
        </p:nvSpPr>
        <p:spPr>
          <a:xfrm rot="19944444">
            <a:off x="16076584" y="6922207"/>
            <a:ext cx="22852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cs typeface="Arial" panose="020B0604020202020204" pitchFamily="34" charset="0"/>
              </a:rPr>
              <a:t>Error </a:t>
            </a:r>
            <a:endParaRPr lang="en-US" altLang="zh-CN" dirty="0">
              <a:cs typeface="Arial" panose="020B0604020202020204" pitchFamily="34" charset="0"/>
            </a:endParaRPr>
          </a:p>
          <a:p>
            <a:pPr algn="ctr"/>
            <a:r>
              <a:rPr lang="en-US" altLang="zh-CN" dirty="0">
                <a:cs typeface="Arial" panose="020B0604020202020204" pitchFamily="34" charset="0"/>
              </a:rPr>
              <a:t>Correction</a:t>
            </a:r>
            <a:endParaRPr lang="zh-CN" altLang="en-US" dirty="0">
              <a:cs typeface="Arial" panose="020B0604020202020204" pitchFamily="34" charset="0"/>
            </a:endParaRPr>
          </a:p>
        </p:txBody>
      </p:sp>
      <p:sp>
        <p:nvSpPr>
          <p:cNvPr id="13" name="文本框 39"/>
          <p:cNvSpPr txBox="1"/>
          <p:nvPr/>
        </p:nvSpPr>
        <p:spPr>
          <a:xfrm rot="957362">
            <a:off x="16281046" y="8162523"/>
            <a:ext cx="21614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cs typeface="Arial" panose="020B0604020202020204" pitchFamily="34" charset="0"/>
              </a:rPr>
              <a:t>Question </a:t>
            </a:r>
            <a:endParaRPr lang="en-US" altLang="zh-CN" dirty="0">
              <a:cs typeface="Arial" panose="020B0604020202020204" pitchFamily="34" charset="0"/>
            </a:endParaRPr>
          </a:p>
          <a:p>
            <a:pPr algn="ctr"/>
            <a:r>
              <a:rPr lang="zh-CN" altLang="en-US" dirty="0">
                <a:cs typeface="Arial" panose="020B0604020202020204" pitchFamily="34" charset="0"/>
              </a:rPr>
              <a:t>Answering</a:t>
            </a:r>
            <a:endParaRPr lang="zh-CN" altLang="en-US" dirty="0">
              <a:cs typeface="Arial" panose="020B0604020202020204" pitchFamily="34" charset="0"/>
            </a:endParaRPr>
          </a:p>
        </p:txBody>
      </p:sp>
      <p:sp>
        <p:nvSpPr>
          <p:cNvPr id="15" name="文本框 41"/>
          <p:cNvSpPr txBox="1"/>
          <p:nvPr/>
        </p:nvSpPr>
        <p:spPr>
          <a:xfrm rot="5003879">
            <a:off x="14157650" y="9516823"/>
            <a:ext cx="34410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cs typeface="Arial" panose="020B0604020202020204" pitchFamily="34" charset="0"/>
              </a:rPr>
              <a:t>Emotional </a:t>
            </a:r>
            <a:endParaRPr lang="en-US" altLang="zh-CN" dirty="0">
              <a:cs typeface="Arial" panose="020B0604020202020204" pitchFamily="34" charset="0"/>
            </a:endParaRPr>
          </a:p>
          <a:p>
            <a:pPr algn="ctr"/>
            <a:r>
              <a:rPr lang="en-US" altLang="zh-CN" dirty="0">
                <a:cs typeface="Arial" panose="020B0604020202020204" pitchFamily="34" charset="0"/>
              </a:rPr>
              <a:t>Support</a:t>
            </a:r>
            <a:endParaRPr lang="en-US" altLang="zh-CN" dirty="0">
              <a:cs typeface="Arial" panose="020B0604020202020204" pitchFamily="34" charset="0"/>
            </a:endParaRPr>
          </a:p>
        </p:txBody>
      </p:sp>
      <p:sp>
        <p:nvSpPr>
          <p:cNvPr id="16" name="文本框 42"/>
          <p:cNvSpPr txBox="1"/>
          <p:nvPr/>
        </p:nvSpPr>
        <p:spPr>
          <a:xfrm rot="19037439">
            <a:off x="12621407" y="8974387"/>
            <a:ext cx="34410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cs typeface="Arial" panose="020B0604020202020204" pitchFamily="34" charset="0"/>
              </a:rPr>
              <a:t>Question </a:t>
            </a:r>
            <a:endParaRPr lang="en-US" altLang="zh-CN" dirty="0">
              <a:cs typeface="Arial" panose="020B0604020202020204" pitchFamily="34" charset="0"/>
            </a:endParaRPr>
          </a:p>
          <a:p>
            <a:pPr algn="ctr"/>
            <a:r>
              <a:rPr lang="en-US" altLang="zh-CN" dirty="0">
                <a:cs typeface="Arial" panose="020B0604020202020204" pitchFamily="34" charset="0"/>
              </a:rPr>
              <a:t>Generation</a:t>
            </a:r>
            <a:endParaRPr lang="en-US" altLang="zh-CN" dirty="0">
              <a:cs typeface="Arial" panose="020B0604020202020204" pitchFamily="34" charset="0"/>
            </a:endParaRPr>
          </a:p>
        </p:txBody>
      </p:sp>
      <p:sp>
        <p:nvSpPr>
          <p:cNvPr id="17" name="文本框 43"/>
          <p:cNvSpPr txBox="1"/>
          <p:nvPr/>
        </p:nvSpPr>
        <p:spPr>
          <a:xfrm>
            <a:off x="12879572" y="7674667"/>
            <a:ext cx="18373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cs typeface="Arial" panose="020B0604020202020204" pitchFamily="34" charset="0"/>
              </a:rPr>
              <a:t>Automatic </a:t>
            </a:r>
            <a:endParaRPr lang="en-US" altLang="zh-CN" dirty="0">
              <a:cs typeface="Arial" panose="020B0604020202020204" pitchFamily="34" charset="0"/>
            </a:endParaRPr>
          </a:p>
          <a:p>
            <a:pPr algn="ctr"/>
            <a:r>
              <a:rPr lang="en-US" altLang="zh-CN" dirty="0">
                <a:cs typeface="Arial" panose="020B0604020202020204" pitchFamily="34" charset="0"/>
              </a:rPr>
              <a:t>Grading</a:t>
            </a:r>
            <a:endParaRPr lang="en-US" altLang="zh-CN" dirty="0">
              <a:cs typeface="Arial" panose="020B0604020202020204" pitchFamily="34" charset="0"/>
            </a:endParaRPr>
          </a:p>
        </p:txBody>
      </p:sp>
      <p:sp>
        <p:nvSpPr>
          <p:cNvPr id="18" name="文本框 44"/>
          <p:cNvSpPr txBox="1"/>
          <p:nvPr/>
        </p:nvSpPr>
        <p:spPr>
          <a:xfrm rot="2489424">
            <a:off x="13046376" y="6305756"/>
            <a:ext cx="272485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cs typeface="Arial" panose="020B0604020202020204" pitchFamily="34" charset="0"/>
              </a:rPr>
              <a:t>Teaching </a:t>
            </a:r>
            <a:endParaRPr lang="en-US" altLang="zh-CN" dirty="0">
              <a:cs typeface="Arial" panose="020B0604020202020204" pitchFamily="34" charset="0"/>
            </a:endParaRPr>
          </a:p>
          <a:p>
            <a:pPr algn="ctr"/>
            <a:r>
              <a:rPr lang="en-US" altLang="zh-CN" dirty="0">
                <a:cs typeface="Arial" panose="020B0604020202020204" pitchFamily="34" charset="0"/>
              </a:rPr>
              <a:t>Material </a:t>
            </a:r>
            <a:endParaRPr lang="en-US" altLang="zh-CN" dirty="0">
              <a:cs typeface="Arial" panose="020B0604020202020204" pitchFamily="34" charset="0"/>
            </a:endParaRPr>
          </a:p>
          <a:p>
            <a:pPr algn="ctr"/>
            <a:r>
              <a:rPr lang="en-US" altLang="zh-CN" dirty="0">
                <a:cs typeface="Arial" panose="020B0604020202020204" pitchFamily="34" charset="0"/>
              </a:rPr>
              <a:t>Generation</a:t>
            </a:r>
            <a:endParaRPr lang="en-US" altLang="zh-CN" dirty="0">
              <a:cs typeface="Arial" panose="020B0604020202020204" pitchFamily="34" charset="0"/>
            </a:endParaRPr>
          </a:p>
        </p:txBody>
      </p:sp>
      <p:sp>
        <p:nvSpPr>
          <p:cNvPr id="19" name="文本框 46"/>
          <p:cNvSpPr txBox="1"/>
          <p:nvPr/>
        </p:nvSpPr>
        <p:spPr>
          <a:xfrm>
            <a:off x="17188402" y="4760681"/>
            <a:ext cx="19418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Mathematics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20" name="文本框 47"/>
          <p:cNvSpPr txBox="1"/>
          <p:nvPr/>
        </p:nvSpPr>
        <p:spPr>
          <a:xfrm>
            <a:off x="15865645" y="3546277"/>
            <a:ext cx="208773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b="1" dirty="0">
                <a:cs typeface="Arial" panose="020B0604020202020204" pitchFamily="34" charset="0"/>
              </a:rPr>
              <a:t>K-12 subjects</a:t>
            </a:r>
            <a:endParaRPr lang="zh-CN" altLang="en-US" sz="2200" b="1" dirty="0">
              <a:cs typeface="Arial" panose="020B0604020202020204" pitchFamily="34" charset="0"/>
            </a:endParaRPr>
          </a:p>
        </p:txBody>
      </p:sp>
      <p:sp>
        <p:nvSpPr>
          <p:cNvPr id="21" name="文本框 48"/>
          <p:cNvSpPr txBox="1"/>
          <p:nvPr/>
        </p:nvSpPr>
        <p:spPr>
          <a:xfrm>
            <a:off x="18041030" y="4410855"/>
            <a:ext cx="12943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English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22" name="文本框 49"/>
          <p:cNvSpPr txBox="1"/>
          <p:nvPr/>
        </p:nvSpPr>
        <p:spPr>
          <a:xfrm>
            <a:off x="16724056" y="5152351"/>
            <a:ext cx="12943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Physics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23" name="文本框 50"/>
          <p:cNvSpPr txBox="1"/>
          <p:nvPr/>
        </p:nvSpPr>
        <p:spPr>
          <a:xfrm>
            <a:off x="17198360" y="4115115"/>
            <a:ext cx="16548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Chemistry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24" name="文本框 51"/>
          <p:cNvSpPr txBox="1"/>
          <p:nvPr/>
        </p:nvSpPr>
        <p:spPr>
          <a:xfrm>
            <a:off x="15806408" y="4051655"/>
            <a:ext cx="19418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Geography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25" name="文本框 52"/>
          <p:cNvSpPr txBox="1"/>
          <p:nvPr/>
        </p:nvSpPr>
        <p:spPr>
          <a:xfrm>
            <a:off x="15813735" y="4760681"/>
            <a:ext cx="14284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History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26" name="文本框 53"/>
          <p:cNvSpPr txBox="1"/>
          <p:nvPr/>
        </p:nvSpPr>
        <p:spPr>
          <a:xfrm>
            <a:off x="18253661" y="5175076"/>
            <a:ext cx="208773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b="1" dirty="0">
                <a:cs typeface="Arial" panose="020B0604020202020204" pitchFamily="34" charset="0"/>
              </a:rPr>
              <a:t>Higher Education Subjects</a:t>
            </a:r>
            <a:endParaRPr lang="zh-CN" altLang="en-US" sz="2200" b="1" dirty="0">
              <a:cs typeface="Arial" panose="020B0604020202020204" pitchFamily="34" charset="0"/>
            </a:endParaRPr>
          </a:p>
        </p:txBody>
      </p:sp>
      <p:sp>
        <p:nvSpPr>
          <p:cNvPr id="27" name="文本框 54"/>
          <p:cNvSpPr txBox="1"/>
          <p:nvPr/>
        </p:nvSpPr>
        <p:spPr>
          <a:xfrm>
            <a:off x="19058541" y="8522651"/>
            <a:ext cx="18091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Astronomy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28" name="文本框 55"/>
          <p:cNvSpPr txBox="1"/>
          <p:nvPr/>
        </p:nvSpPr>
        <p:spPr>
          <a:xfrm>
            <a:off x="17834725" y="9808294"/>
            <a:ext cx="2670242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9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Applied Economics</a:t>
            </a:r>
            <a:endParaRPr lang="zh-CN" altLang="en-US" sz="19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9" name="文本框 56"/>
          <p:cNvSpPr txBox="1"/>
          <p:nvPr/>
        </p:nvSpPr>
        <p:spPr>
          <a:xfrm>
            <a:off x="16821479" y="10956989"/>
            <a:ext cx="3124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Theoretical Economics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0" name="文本框 57"/>
          <p:cNvSpPr txBox="1"/>
          <p:nvPr/>
        </p:nvSpPr>
        <p:spPr>
          <a:xfrm>
            <a:off x="17920990" y="10186989"/>
            <a:ext cx="26103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General</a:t>
            </a:r>
            <a:r>
              <a:rPr lang="zh-CN" altLang="en-US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Education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1" name="文本框 58"/>
          <p:cNvSpPr txBox="1"/>
          <p:nvPr/>
        </p:nvSpPr>
        <p:spPr>
          <a:xfrm>
            <a:off x="17500691" y="10576635"/>
            <a:ext cx="279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Physical</a:t>
            </a:r>
            <a:r>
              <a:rPr lang="zh-CN" altLang="en-US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Education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2" name="文本框 59"/>
          <p:cNvSpPr txBox="1"/>
          <p:nvPr/>
        </p:nvSpPr>
        <p:spPr>
          <a:xfrm>
            <a:off x="15314225" y="11836355"/>
            <a:ext cx="35062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Business</a:t>
            </a:r>
            <a:r>
              <a:rPr lang="zh-CN" altLang="en-US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Administration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3" name="文本框 60"/>
          <p:cNvSpPr txBox="1"/>
          <p:nvPr/>
        </p:nvSpPr>
        <p:spPr>
          <a:xfrm>
            <a:off x="15088543" y="12180781"/>
            <a:ext cx="31748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Public</a:t>
            </a:r>
            <a:r>
              <a:rPr lang="zh-CN" altLang="en-US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Administration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4" name="文本框 61"/>
          <p:cNvSpPr txBox="1"/>
          <p:nvPr/>
        </p:nvSpPr>
        <p:spPr>
          <a:xfrm>
            <a:off x="14258777" y="11452871"/>
            <a:ext cx="30475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Clinical</a:t>
            </a:r>
            <a:r>
              <a:rPr lang="zh-CN" altLang="en-US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Medicine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5" name="文本框 62"/>
          <p:cNvSpPr txBox="1"/>
          <p:nvPr/>
        </p:nvSpPr>
        <p:spPr>
          <a:xfrm>
            <a:off x="17036969" y="11417331"/>
            <a:ext cx="217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Basic</a:t>
            </a:r>
            <a:r>
              <a:rPr lang="zh-CN" altLang="en-US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Medicine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6" name="文本框 133"/>
          <p:cNvSpPr txBox="1"/>
          <p:nvPr/>
        </p:nvSpPr>
        <p:spPr>
          <a:xfrm>
            <a:off x="15838540" y="4436181"/>
            <a:ext cx="19419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Biology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7" name="文本框 5"/>
          <p:cNvSpPr txBox="1"/>
          <p:nvPr/>
        </p:nvSpPr>
        <p:spPr>
          <a:xfrm>
            <a:off x="18620155" y="7378020"/>
            <a:ext cx="2197830" cy="756726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Aerospace Science &amp; Technology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8" name="文本框 6"/>
          <p:cNvSpPr txBox="1"/>
          <p:nvPr/>
        </p:nvSpPr>
        <p:spPr>
          <a:xfrm>
            <a:off x="18929582" y="8967312"/>
            <a:ext cx="1927237" cy="539338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Aquaculture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9" name="文本框 7"/>
          <p:cNvSpPr txBox="1"/>
          <p:nvPr/>
        </p:nvSpPr>
        <p:spPr>
          <a:xfrm>
            <a:off x="18866669" y="6976762"/>
            <a:ext cx="1967366" cy="400228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Crop Science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40" name="文本框 67"/>
          <p:cNvSpPr txBox="1"/>
          <p:nvPr/>
        </p:nvSpPr>
        <p:spPr>
          <a:xfrm>
            <a:off x="13155184" y="10648413"/>
            <a:ext cx="16695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Sociology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1" name="文本框 68"/>
          <p:cNvSpPr txBox="1"/>
          <p:nvPr/>
        </p:nvSpPr>
        <p:spPr>
          <a:xfrm>
            <a:off x="15173128" y="12555933"/>
            <a:ext cx="18161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Psychology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2" name="文本框 69"/>
          <p:cNvSpPr txBox="1"/>
          <p:nvPr/>
        </p:nvSpPr>
        <p:spPr>
          <a:xfrm>
            <a:off x="19532825" y="6569953"/>
            <a:ext cx="9468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Law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3" name="文本框 70"/>
          <p:cNvSpPr txBox="1"/>
          <p:nvPr/>
        </p:nvSpPr>
        <p:spPr>
          <a:xfrm>
            <a:off x="13524806" y="12227889"/>
            <a:ext cx="18161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Management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44" name="文本框 71"/>
          <p:cNvSpPr txBox="1"/>
          <p:nvPr/>
        </p:nvSpPr>
        <p:spPr>
          <a:xfrm>
            <a:off x="12529369" y="11359893"/>
            <a:ext cx="18161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Linguistics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5" name="文本框 72"/>
          <p:cNvSpPr txBox="1"/>
          <p:nvPr/>
        </p:nvSpPr>
        <p:spPr>
          <a:xfrm>
            <a:off x="15088543" y="11112235"/>
            <a:ext cx="16752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Journalism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6" name="文本框 73"/>
          <p:cNvSpPr txBox="1"/>
          <p:nvPr/>
        </p:nvSpPr>
        <p:spPr>
          <a:xfrm>
            <a:off x="12860861" y="11038691"/>
            <a:ext cx="23624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Theory of Music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7" name="文本框 74"/>
          <p:cNvSpPr txBox="1"/>
          <p:nvPr/>
        </p:nvSpPr>
        <p:spPr>
          <a:xfrm>
            <a:off x="12810692" y="11801587"/>
            <a:ext cx="27260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Military Science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48" name="文本框 6"/>
          <p:cNvSpPr txBox="1"/>
          <p:nvPr/>
        </p:nvSpPr>
        <p:spPr>
          <a:xfrm>
            <a:off x="18396763" y="9406252"/>
            <a:ext cx="2565420" cy="539338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9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Computer Science</a:t>
            </a:r>
            <a:endParaRPr lang="zh-CN" altLang="en-US" sz="1900" dirty="0">
              <a:solidFill>
                <a:schemeClr val="accent6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49" name="文本框 6"/>
          <p:cNvSpPr txBox="1"/>
          <p:nvPr/>
        </p:nvSpPr>
        <p:spPr>
          <a:xfrm>
            <a:off x="18422536" y="6293138"/>
            <a:ext cx="1640576" cy="539338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Automation Control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50" name="文本框 6"/>
          <p:cNvSpPr txBox="1"/>
          <p:nvPr/>
        </p:nvSpPr>
        <p:spPr>
          <a:xfrm>
            <a:off x="19067628" y="8166592"/>
            <a:ext cx="2565420" cy="539338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Agriculture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51" name="文本框 78"/>
          <p:cNvSpPr txBox="1"/>
          <p:nvPr/>
        </p:nvSpPr>
        <p:spPr>
          <a:xfrm>
            <a:off x="13670496" y="3522990"/>
            <a:ext cx="209700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b="1" dirty="0">
                <a:cs typeface="Arial" panose="020B0604020202020204" pitchFamily="34" charset="0"/>
              </a:rPr>
              <a:t>Task</a:t>
            </a:r>
            <a:r>
              <a:rPr lang="zh-CN" altLang="en-US" sz="2200" b="1" dirty="0">
                <a:cs typeface="Arial" panose="020B0604020202020204" pitchFamily="34" charset="0"/>
              </a:rPr>
              <a:t> </a:t>
            </a:r>
            <a:r>
              <a:rPr lang="en-US" altLang="zh-CN" sz="2200" b="1" dirty="0">
                <a:cs typeface="Arial" panose="020B0604020202020204" pitchFamily="34" charset="0"/>
              </a:rPr>
              <a:t>Difficulty</a:t>
            </a:r>
            <a:endParaRPr lang="zh-CN" altLang="en-US" sz="2200" b="1" dirty="0">
              <a:cs typeface="Arial" panose="020B0604020202020204" pitchFamily="34" charset="0"/>
            </a:endParaRPr>
          </a:p>
        </p:txBody>
      </p:sp>
      <p:sp>
        <p:nvSpPr>
          <p:cNvPr id="52" name="文本框 79"/>
          <p:cNvSpPr txBox="1"/>
          <p:nvPr/>
        </p:nvSpPr>
        <p:spPr>
          <a:xfrm>
            <a:off x="11994266" y="4470400"/>
            <a:ext cx="208773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b="1" dirty="0">
                <a:cs typeface="Arial" panose="020B0604020202020204" pitchFamily="34" charset="0"/>
              </a:rPr>
              <a:t>Language</a:t>
            </a:r>
            <a:endParaRPr lang="zh-CN" altLang="en-US" sz="2200" b="1" dirty="0">
              <a:cs typeface="Arial" panose="020B0604020202020204" pitchFamily="34" charset="0"/>
            </a:endParaRPr>
          </a:p>
        </p:txBody>
      </p:sp>
      <p:sp>
        <p:nvSpPr>
          <p:cNvPr id="53" name="文本框 80"/>
          <p:cNvSpPr txBox="1"/>
          <p:nvPr/>
        </p:nvSpPr>
        <p:spPr>
          <a:xfrm>
            <a:off x="10853387" y="6239651"/>
            <a:ext cx="208773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b="1" dirty="0">
                <a:cs typeface="Arial" panose="020B0604020202020204" pitchFamily="34" charset="0"/>
              </a:rPr>
              <a:t>Question Type</a:t>
            </a:r>
            <a:endParaRPr lang="zh-CN" altLang="en-US" sz="2200" b="1" dirty="0">
              <a:cs typeface="Arial" panose="020B0604020202020204" pitchFamily="34" charset="0"/>
            </a:endParaRPr>
          </a:p>
        </p:txBody>
      </p:sp>
      <p:sp>
        <p:nvSpPr>
          <p:cNvPr id="54" name="文本框 133"/>
          <p:cNvSpPr txBox="1"/>
          <p:nvPr/>
        </p:nvSpPr>
        <p:spPr>
          <a:xfrm>
            <a:off x="16918968" y="4424121"/>
            <a:ext cx="12316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Chinese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55" name="文本框 133"/>
          <p:cNvSpPr txBox="1"/>
          <p:nvPr/>
        </p:nvSpPr>
        <p:spPr>
          <a:xfrm>
            <a:off x="14298708" y="3945054"/>
            <a:ext cx="12316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Easy</a:t>
            </a:r>
            <a:endParaRPr lang="zh-CN" altLang="en-US" sz="2400" dirty="0">
              <a:solidFill>
                <a:schemeClr val="accent6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56" name="文本框 133"/>
          <p:cNvSpPr txBox="1"/>
          <p:nvPr/>
        </p:nvSpPr>
        <p:spPr>
          <a:xfrm>
            <a:off x="14298041" y="4768772"/>
            <a:ext cx="12316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Hard</a:t>
            </a:r>
            <a:endParaRPr lang="zh-CN" altLang="en-US" sz="2400" dirty="0">
              <a:solidFill>
                <a:schemeClr val="accent6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57" name="文本框 133"/>
          <p:cNvSpPr txBox="1"/>
          <p:nvPr/>
        </p:nvSpPr>
        <p:spPr>
          <a:xfrm>
            <a:off x="14138667" y="4356913"/>
            <a:ext cx="16635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Medium</a:t>
            </a:r>
            <a:endParaRPr lang="zh-CN" altLang="en-US" sz="2400" dirty="0">
              <a:solidFill>
                <a:schemeClr val="accent6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58" name="文本框 133"/>
          <p:cNvSpPr txBox="1"/>
          <p:nvPr/>
        </p:nvSpPr>
        <p:spPr>
          <a:xfrm>
            <a:off x="11979901" y="4934963"/>
            <a:ext cx="16635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Chinese</a:t>
            </a:r>
            <a:endParaRPr lang="zh-CN" altLang="en-US" sz="2400" dirty="0">
              <a:solidFill>
                <a:schemeClr val="accent6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59" name="文本框 133"/>
          <p:cNvSpPr txBox="1"/>
          <p:nvPr/>
        </p:nvSpPr>
        <p:spPr>
          <a:xfrm>
            <a:off x="12403155" y="5374828"/>
            <a:ext cx="16635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English</a:t>
            </a:r>
            <a:endParaRPr lang="zh-CN" altLang="en-US" sz="2400" dirty="0">
              <a:solidFill>
                <a:schemeClr val="accent6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60" name="文本框 133"/>
          <p:cNvSpPr txBox="1"/>
          <p:nvPr/>
        </p:nvSpPr>
        <p:spPr>
          <a:xfrm>
            <a:off x="10667600" y="7261685"/>
            <a:ext cx="24395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Single-Choice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61" name="文本框 133"/>
          <p:cNvSpPr txBox="1"/>
          <p:nvPr/>
        </p:nvSpPr>
        <p:spPr>
          <a:xfrm>
            <a:off x="10738577" y="7690815"/>
            <a:ext cx="24395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Multi-Choice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62" name="文本框 133"/>
          <p:cNvSpPr txBox="1"/>
          <p:nvPr/>
        </p:nvSpPr>
        <p:spPr>
          <a:xfrm>
            <a:off x="10773123" y="6832555"/>
            <a:ext cx="20877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Short Answer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63" name="文本框 90"/>
          <p:cNvSpPr txBox="1"/>
          <p:nvPr/>
        </p:nvSpPr>
        <p:spPr>
          <a:xfrm>
            <a:off x="10652730" y="8252624"/>
            <a:ext cx="208773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b="1" dirty="0">
                <a:cs typeface="Arial" panose="020B0604020202020204" pitchFamily="34" charset="0"/>
              </a:rPr>
              <a:t>Emotional Support</a:t>
            </a:r>
            <a:endParaRPr lang="zh-CN" altLang="en-US" sz="2200" b="1" dirty="0">
              <a:cs typeface="Arial" panose="020B0604020202020204" pitchFamily="34" charset="0"/>
            </a:endParaRPr>
          </a:p>
        </p:txBody>
      </p:sp>
      <p:sp>
        <p:nvSpPr>
          <p:cNvPr id="64" name="文本框 91"/>
          <p:cNvSpPr txBox="1"/>
          <p:nvPr/>
        </p:nvSpPr>
        <p:spPr>
          <a:xfrm>
            <a:off x="10922303" y="9141284"/>
            <a:ext cx="23624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Mental Healthy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5" name="文本框 92"/>
          <p:cNvSpPr txBox="1"/>
          <p:nvPr/>
        </p:nvSpPr>
        <p:spPr>
          <a:xfrm>
            <a:off x="11269664" y="9501678"/>
            <a:ext cx="19074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Mild Anxiety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6" name="文本框 93"/>
          <p:cNvSpPr txBox="1"/>
          <p:nvPr/>
        </p:nvSpPr>
        <p:spPr>
          <a:xfrm>
            <a:off x="11129872" y="9862070"/>
            <a:ext cx="27158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Moderate Anxiety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7" name="文本框 94"/>
          <p:cNvSpPr txBox="1"/>
          <p:nvPr/>
        </p:nvSpPr>
        <p:spPr>
          <a:xfrm>
            <a:off x="11283219" y="10222462"/>
            <a:ext cx="27158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cs typeface="Arial" panose="020B0604020202020204" pitchFamily="34" charset="0"/>
              </a:rPr>
              <a:t>Severe Anxiety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8" name="文本框 6"/>
          <p:cNvSpPr txBox="1"/>
          <p:nvPr/>
        </p:nvSpPr>
        <p:spPr>
          <a:xfrm rot="4740649">
            <a:off x="14528040" y="6035489"/>
            <a:ext cx="15723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cs typeface="Arial" panose="020B0604020202020204" pitchFamily="34" charset="0"/>
              </a:rPr>
              <a:t>Personalized  Content Creation</a:t>
            </a:r>
            <a:endParaRPr lang="en-US" altLang="zh-CN" sz="1200" dirty="0">
              <a:cs typeface="Arial" panose="020B0604020202020204" pitchFamily="34" charset="0"/>
            </a:endParaRPr>
          </a:p>
        </p:txBody>
      </p:sp>
      <p:sp>
        <p:nvSpPr>
          <p:cNvPr id="93" name="文本框 40"/>
          <p:cNvSpPr txBox="1"/>
          <p:nvPr/>
        </p:nvSpPr>
        <p:spPr>
          <a:xfrm rot="2344420">
            <a:off x="16275547" y="9201974"/>
            <a:ext cx="15665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cs typeface="Arial" panose="020B0604020202020204" pitchFamily="34" charset="0"/>
              </a:rPr>
              <a:t>Personalized</a:t>
            </a:r>
            <a:endParaRPr lang="en-US" altLang="zh-CN" sz="1200" dirty="0">
              <a:cs typeface="Arial" panose="020B0604020202020204" pitchFamily="34" charset="0"/>
            </a:endParaRPr>
          </a:p>
        </p:txBody>
      </p:sp>
      <p:sp>
        <p:nvSpPr>
          <p:cNvPr id="94" name="文本框 40"/>
          <p:cNvSpPr txBox="1"/>
          <p:nvPr/>
        </p:nvSpPr>
        <p:spPr>
          <a:xfrm rot="2694692">
            <a:off x="16442188" y="9398454"/>
            <a:ext cx="10923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cs typeface="Arial" panose="020B0604020202020204" pitchFamily="34" charset="0"/>
              </a:rPr>
              <a:t>Learning</a:t>
            </a:r>
            <a:endParaRPr lang="en-US" altLang="zh-CN" sz="1200" dirty="0">
              <a:cs typeface="Arial" panose="020B0604020202020204" pitchFamily="34" charset="0"/>
            </a:endParaRPr>
          </a:p>
        </p:txBody>
      </p:sp>
      <p:sp>
        <p:nvSpPr>
          <p:cNvPr id="95" name="文本框 40"/>
          <p:cNvSpPr txBox="1"/>
          <p:nvPr/>
        </p:nvSpPr>
        <p:spPr>
          <a:xfrm rot="3148961">
            <a:off x="16380396" y="9579837"/>
            <a:ext cx="9662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cs typeface="Arial" panose="020B0604020202020204" pitchFamily="34" charset="0"/>
              </a:rPr>
              <a:t>Support</a:t>
            </a:r>
            <a:endParaRPr lang="en-US" altLang="zh-CN" sz="1200" dirty="0">
              <a:cs typeface="Arial" panose="020B0604020202020204" pitchFamily="34" charset="0"/>
            </a:endParaRPr>
          </a:p>
        </p:txBody>
      </p:sp>
      <p:pic>
        <p:nvPicPr>
          <p:cNvPr id="136" name="图片 6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29" t="2963" r="28415"/>
          <a:stretch>
            <a:fillRect/>
          </a:stretch>
        </p:blipFill>
        <p:spPr>
          <a:xfrm>
            <a:off x="25233281" y="563851"/>
            <a:ext cx="14487529" cy="17955087"/>
          </a:xfrm>
          <a:prstGeom prst="rect">
            <a:avLst/>
          </a:prstGeom>
        </p:spPr>
      </p:pic>
      <p:grpSp>
        <p:nvGrpSpPr>
          <p:cNvPr id="2" name="Group 1"/>
          <p:cNvGrpSpPr/>
          <p:nvPr/>
        </p:nvGrpSpPr>
        <p:grpSpPr>
          <a:xfrm>
            <a:off x="28691242" y="19124579"/>
            <a:ext cx="8235376" cy="1606792"/>
            <a:chOff x="23685956" y="1325821"/>
            <a:chExt cx="10382865" cy="1654791"/>
          </a:xfrm>
        </p:grpSpPr>
        <p:pic>
          <p:nvPicPr>
            <p:cNvPr id="137" name="图片 6"/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716" r="49722" b="97090"/>
            <a:stretch>
              <a:fillRect/>
            </a:stretch>
          </p:blipFill>
          <p:spPr>
            <a:xfrm>
              <a:off x="23685956" y="1325821"/>
              <a:ext cx="10382865" cy="609767"/>
            </a:xfrm>
            <a:prstGeom prst="rect">
              <a:avLst/>
            </a:prstGeom>
          </p:spPr>
        </p:pic>
        <p:pic>
          <p:nvPicPr>
            <p:cNvPr id="138" name="图片 6"/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408" r="22896" b="97090"/>
            <a:stretch>
              <a:fillRect/>
            </a:stretch>
          </p:blipFill>
          <p:spPr>
            <a:xfrm>
              <a:off x="23849129" y="2370845"/>
              <a:ext cx="10056519" cy="609767"/>
            </a:xfrm>
            <a:prstGeom prst="rect">
              <a:avLst/>
            </a:prstGeom>
          </p:spPr>
        </p:pic>
      </p:grpSp>
      <p:grpSp>
        <p:nvGrpSpPr>
          <p:cNvPr id="3" name="Group 120"/>
          <p:cNvGrpSpPr/>
          <p:nvPr/>
        </p:nvGrpSpPr>
        <p:grpSpPr>
          <a:xfrm>
            <a:off x="6407714" y="16693316"/>
            <a:ext cx="20810596" cy="1298609"/>
            <a:chOff x="6227863" y="18348124"/>
            <a:chExt cx="20810596" cy="1298609"/>
          </a:xfrm>
        </p:grpSpPr>
        <p:grpSp>
          <p:nvGrpSpPr>
            <p:cNvPr id="14" name="Group 112"/>
            <p:cNvGrpSpPr/>
            <p:nvPr/>
          </p:nvGrpSpPr>
          <p:grpSpPr>
            <a:xfrm>
              <a:off x="6227863" y="18348124"/>
              <a:ext cx="20810596" cy="713507"/>
              <a:chOff x="6227863" y="18348124"/>
              <a:chExt cx="20810596" cy="713507"/>
            </a:xfrm>
          </p:grpSpPr>
          <p:sp>
            <p:nvSpPr>
              <p:cNvPr id="74" name="文本框 113"/>
              <p:cNvSpPr txBox="1"/>
              <p:nvPr/>
            </p:nvSpPr>
            <p:spPr>
              <a:xfrm>
                <a:off x="17751979" y="18348124"/>
                <a:ext cx="928648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3600" dirty="0">
                    <a:cs typeface="Arial" panose="020B0604020202020204" pitchFamily="34" charset="0"/>
                  </a:rPr>
                  <a:t>Motivation, Guidance &amp; Positive Feedback</a:t>
                </a:r>
                <a:endParaRPr lang="zh-CN" altLang="en-US" sz="3600" dirty="0">
                  <a:cs typeface="Arial" panose="020B0604020202020204" pitchFamily="34" charset="0"/>
                </a:endParaRPr>
              </a:p>
            </p:txBody>
          </p:sp>
          <p:sp>
            <p:nvSpPr>
              <p:cNvPr id="75" name="文本框 115"/>
              <p:cNvSpPr txBox="1"/>
              <p:nvPr/>
            </p:nvSpPr>
            <p:spPr>
              <a:xfrm>
                <a:off x="6687160" y="18415300"/>
                <a:ext cx="1221923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3600" dirty="0">
                    <a:cs typeface="Arial" panose="020B0604020202020204" pitchFamily="34" charset="0"/>
                  </a:rPr>
                  <a:t>Higher-Order Thinking &amp; Skill Development</a:t>
                </a:r>
                <a:endParaRPr lang="zh-CN" altLang="en-US" sz="3600" dirty="0">
                  <a:cs typeface="Arial" panose="020B0604020202020204" pitchFamily="34" charset="0"/>
                </a:endParaRPr>
              </a:p>
            </p:txBody>
          </p:sp>
          <p:sp>
            <p:nvSpPr>
              <p:cNvPr id="76" name="矩形 116"/>
              <p:cNvSpPr/>
              <p:nvPr/>
            </p:nvSpPr>
            <p:spPr>
              <a:xfrm>
                <a:off x="6227863" y="18649058"/>
                <a:ext cx="279694" cy="273547"/>
              </a:xfrm>
              <a:prstGeom prst="rect">
                <a:avLst/>
              </a:prstGeom>
              <a:solidFill>
                <a:srgbClr val="BFBFB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3600"/>
              </a:p>
            </p:txBody>
          </p:sp>
          <p:sp>
            <p:nvSpPr>
              <p:cNvPr id="77" name="矩形 118"/>
              <p:cNvSpPr/>
              <p:nvPr/>
            </p:nvSpPr>
            <p:spPr>
              <a:xfrm>
                <a:off x="17320840" y="18552829"/>
                <a:ext cx="279795" cy="30077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3600"/>
              </a:p>
            </p:txBody>
          </p:sp>
        </p:grpSp>
        <p:grpSp>
          <p:nvGrpSpPr>
            <p:cNvPr id="69" name="Group 113"/>
            <p:cNvGrpSpPr/>
            <p:nvPr/>
          </p:nvGrpSpPr>
          <p:grpSpPr>
            <a:xfrm>
              <a:off x="6232096" y="18995009"/>
              <a:ext cx="19863386" cy="651724"/>
              <a:chOff x="6232096" y="18952589"/>
              <a:chExt cx="19863386" cy="651724"/>
            </a:xfrm>
          </p:grpSpPr>
          <p:sp>
            <p:nvSpPr>
              <p:cNvPr id="70" name="文本框 112"/>
              <p:cNvSpPr txBox="1"/>
              <p:nvPr/>
            </p:nvSpPr>
            <p:spPr>
              <a:xfrm>
                <a:off x="17764421" y="18952589"/>
                <a:ext cx="833106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3600" dirty="0">
                    <a:cs typeface="Arial" panose="020B0604020202020204" pitchFamily="34" charset="0"/>
                  </a:rPr>
                  <a:t>Clarity, Simplicity &amp; Inspiration</a:t>
                </a:r>
                <a:endParaRPr lang="zh-CN" altLang="en-US" sz="3600" dirty="0">
                  <a:cs typeface="Arial" panose="020B0604020202020204" pitchFamily="34" charset="0"/>
                </a:endParaRPr>
              </a:p>
            </p:txBody>
          </p:sp>
          <p:sp>
            <p:nvSpPr>
              <p:cNvPr id="71" name="文本框 114"/>
              <p:cNvSpPr txBox="1"/>
              <p:nvPr/>
            </p:nvSpPr>
            <p:spPr>
              <a:xfrm>
                <a:off x="6721797" y="18957982"/>
                <a:ext cx="1057619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3600" dirty="0">
                    <a:cs typeface="Arial" panose="020B0604020202020204" pitchFamily="34" charset="0"/>
                  </a:rPr>
                  <a:t>Personalization, Adaptation &amp; Learning Support</a:t>
                </a:r>
                <a:endParaRPr lang="zh-CN" altLang="en-US" sz="3600" dirty="0">
                  <a:cs typeface="Arial" panose="020B0604020202020204" pitchFamily="34" charset="0"/>
                </a:endParaRPr>
              </a:p>
            </p:txBody>
          </p:sp>
          <p:sp>
            <p:nvSpPr>
              <p:cNvPr id="72" name="矩形 117"/>
              <p:cNvSpPr/>
              <p:nvPr/>
            </p:nvSpPr>
            <p:spPr>
              <a:xfrm>
                <a:off x="6232096" y="19190415"/>
                <a:ext cx="279694" cy="273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3600"/>
              </a:p>
            </p:txBody>
          </p:sp>
          <p:sp>
            <p:nvSpPr>
              <p:cNvPr id="73" name="矩形 119"/>
              <p:cNvSpPr/>
              <p:nvPr/>
            </p:nvSpPr>
            <p:spPr>
              <a:xfrm>
                <a:off x="17320941" y="19159129"/>
                <a:ext cx="279694" cy="27354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3600" dirty="0"/>
              </a:p>
            </p:txBody>
          </p:sp>
        </p:grpSp>
      </p:grpSp>
      <p:grpSp>
        <p:nvGrpSpPr>
          <p:cNvPr id="78" name="Group 119"/>
          <p:cNvGrpSpPr/>
          <p:nvPr/>
        </p:nvGrpSpPr>
        <p:grpSpPr>
          <a:xfrm>
            <a:off x="6426523" y="18235777"/>
            <a:ext cx="20065844" cy="1294470"/>
            <a:chOff x="4339586" y="19625668"/>
            <a:chExt cx="20065844" cy="1294470"/>
          </a:xfrm>
        </p:grpSpPr>
        <p:grpSp>
          <p:nvGrpSpPr>
            <p:cNvPr id="79" name="Group 114"/>
            <p:cNvGrpSpPr/>
            <p:nvPr/>
          </p:nvGrpSpPr>
          <p:grpSpPr>
            <a:xfrm>
              <a:off x="4339586" y="19625668"/>
              <a:ext cx="20065844" cy="686650"/>
              <a:chOff x="4339586" y="19653714"/>
              <a:chExt cx="20065844" cy="686650"/>
            </a:xfrm>
          </p:grpSpPr>
          <p:sp>
            <p:nvSpPr>
              <p:cNvPr id="96" name="文本框 95"/>
              <p:cNvSpPr txBox="1"/>
              <p:nvPr/>
            </p:nvSpPr>
            <p:spPr>
              <a:xfrm>
                <a:off x="4829807" y="19653714"/>
                <a:ext cx="9517587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3600" dirty="0">
                    <a:cs typeface="Arial" panose="020B0604020202020204" pitchFamily="34" charset="0"/>
                  </a:rPr>
                  <a:t>Instruction Following &amp; Task Completion</a:t>
                </a:r>
                <a:endParaRPr lang="zh-CN" altLang="en-US" sz="3600" dirty="0">
                  <a:cs typeface="Arial" panose="020B0604020202020204" pitchFamily="34" charset="0"/>
                </a:endParaRPr>
              </a:p>
            </p:txBody>
          </p:sp>
          <p:sp>
            <p:nvSpPr>
              <p:cNvPr id="105" name="矩形 104"/>
              <p:cNvSpPr/>
              <p:nvPr/>
            </p:nvSpPr>
            <p:spPr>
              <a:xfrm>
                <a:off x="4339586" y="19878328"/>
                <a:ext cx="279694" cy="273547"/>
              </a:xfrm>
              <a:prstGeom prst="rect">
                <a:avLst/>
              </a:prstGeom>
              <a:solidFill>
                <a:srgbClr val="F19E6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3600"/>
              </a:p>
            </p:txBody>
          </p:sp>
          <p:sp>
            <p:nvSpPr>
              <p:cNvPr id="106" name="文本框 99"/>
              <p:cNvSpPr txBox="1"/>
              <p:nvPr/>
            </p:nvSpPr>
            <p:spPr>
              <a:xfrm>
                <a:off x="15959541" y="19694033"/>
                <a:ext cx="8445889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3600" dirty="0">
                    <a:cs typeface="Arial" panose="020B0604020202020204" pitchFamily="34" charset="0"/>
                  </a:rPr>
                  <a:t>Scenario Element Integration</a:t>
                </a:r>
                <a:endParaRPr lang="zh-CN" altLang="en-US" sz="3600" dirty="0">
                  <a:cs typeface="Arial" panose="020B0604020202020204" pitchFamily="34" charset="0"/>
                </a:endParaRPr>
              </a:p>
            </p:txBody>
          </p:sp>
          <p:sp>
            <p:nvSpPr>
              <p:cNvPr id="107" name="矩形 106"/>
              <p:cNvSpPr/>
              <p:nvPr/>
            </p:nvSpPr>
            <p:spPr>
              <a:xfrm>
                <a:off x="15445794" y="19897297"/>
                <a:ext cx="279694" cy="27354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3600"/>
              </a:p>
            </p:txBody>
          </p:sp>
        </p:grpSp>
        <p:grpSp>
          <p:nvGrpSpPr>
            <p:cNvPr id="80" name="Group 115"/>
            <p:cNvGrpSpPr/>
            <p:nvPr/>
          </p:nvGrpSpPr>
          <p:grpSpPr>
            <a:xfrm>
              <a:off x="4339586" y="20232709"/>
              <a:ext cx="19655978" cy="687429"/>
              <a:chOff x="4339586" y="20233642"/>
              <a:chExt cx="19655978" cy="687429"/>
            </a:xfrm>
          </p:grpSpPr>
          <p:sp>
            <p:nvSpPr>
              <p:cNvPr id="81" name="文本框 80"/>
              <p:cNvSpPr txBox="1"/>
              <p:nvPr/>
            </p:nvSpPr>
            <p:spPr>
              <a:xfrm>
                <a:off x="4829808" y="20233642"/>
                <a:ext cx="659751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3600" dirty="0">
                    <a:cs typeface="Arial" panose="020B0604020202020204" pitchFamily="34" charset="0"/>
                  </a:rPr>
                  <a:t>Role &amp; Tone Consistency</a:t>
                </a:r>
                <a:endParaRPr lang="zh-CN" altLang="en-US" sz="3600" dirty="0">
                  <a:cs typeface="Arial" panose="020B0604020202020204" pitchFamily="34" charset="0"/>
                </a:endParaRPr>
              </a:p>
            </p:txBody>
          </p:sp>
          <p:sp>
            <p:nvSpPr>
              <p:cNvPr id="82" name="矩形 105"/>
              <p:cNvSpPr/>
              <p:nvPr/>
            </p:nvSpPr>
            <p:spPr>
              <a:xfrm>
                <a:off x="4339586" y="20399771"/>
                <a:ext cx="279694" cy="273547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3600"/>
              </a:p>
            </p:txBody>
          </p:sp>
          <p:sp>
            <p:nvSpPr>
              <p:cNvPr id="83" name="文本框 98"/>
              <p:cNvSpPr txBox="1"/>
              <p:nvPr/>
            </p:nvSpPr>
            <p:spPr>
              <a:xfrm>
                <a:off x="15944309" y="20274740"/>
                <a:ext cx="805125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3600" dirty="0">
                    <a:cs typeface="Arial" panose="020B0604020202020204" pitchFamily="34" charset="0"/>
                  </a:rPr>
                  <a:t>Content Relevance &amp; Scope Control</a:t>
                </a:r>
                <a:endParaRPr lang="zh-CN" altLang="en-US" sz="3600" dirty="0">
                  <a:cs typeface="Arial" panose="020B0604020202020204" pitchFamily="34" charset="0"/>
                </a:endParaRPr>
              </a:p>
            </p:txBody>
          </p:sp>
          <p:sp>
            <p:nvSpPr>
              <p:cNvPr id="84" name="矩形 107"/>
              <p:cNvSpPr/>
              <p:nvPr/>
            </p:nvSpPr>
            <p:spPr>
              <a:xfrm>
                <a:off x="15445794" y="20469683"/>
                <a:ext cx="279694" cy="27354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3600"/>
              </a:p>
            </p:txBody>
          </p:sp>
        </p:grpSp>
      </p:grpSp>
      <p:grpSp>
        <p:nvGrpSpPr>
          <p:cNvPr id="108" name="Group 134"/>
          <p:cNvGrpSpPr/>
          <p:nvPr/>
        </p:nvGrpSpPr>
        <p:grpSpPr>
          <a:xfrm>
            <a:off x="6431702" y="19824855"/>
            <a:ext cx="20679935" cy="1213865"/>
            <a:chOff x="4350212" y="21781970"/>
            <a:chExt cx="20679935" cy="1213865"/>
          </a:xfrm>
        </p:grpSpPr>
        <p:sp>
          <p:nvSpPr>
            <p:cNvPr id="109" name="文本框 100"/>
            <p:cNvSpPr txBox="1"/>
            <p:nvPr/>
          </p:nvSpPr>
          <p:spPr>
            <a:xfrm>
              <a:off x="4784596" y="21781970"/>
              <a:ext cx="680666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3600" dirty="0">
                  <a:cs typeface="Arial" panose="020B0604020202020204" pitchFamily="34" charset="0"/>
                </a:rPr>
                <a:t>Basic Factual Accuracy</a:t>
              </a:r>
              <a:endParaRPr lang="zh-CN" altLang="en-US" sz="3600" dirty="0">
                <a:cs typeface="Arial" panose="020B0604020202020204" pitchFamily="34" charset="0"/>
              </a:endParaRPr>
            </a:p>
          </p:txBody>
        </p:sp>
        <p:sp>
          <p:nvSpPr>
            <p:cNvPr id="110" name="文本框 101"/>
            <p:cNvSpPr txBox="1"/>
            <p:nvPr/>
          </p:nvSpPr>
          <p:spPr>
            <a:xfrm>
              <a:off x="4793211" y="22338895"/>
              <a:ext cx="6792057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3600" dirty="0">
                  <a:cs typeface="Arial" panose="020B0604020202020204" pitchFamily="34" charset="0"/>
                </a:rPr>
                <a:t>Domain Knowledge Accuracy</a:t>
              </a:r>
              <a:endParaRPr lang="zh-CN" altLang="en-US" sz="3600" dirty="0">
                <a:cs typeface="Arial" panose="020B0604020202020204" pitchFamily="34" charset="0"/>
              </a:endParaRPr>
            </a:p>
          </p:txBody>
        </p:sp>
        <p:sp>
          <p:nvSpPr>
            <p:cNvPr id="111" name="文本框 102"/>
            <p:cNvSpPr txBox="1"/>
            <p:nvPr/>
          </p:nvSpPr>
          <p:spPr>
            <a:xfrm>
              <a:off x="15871892" y="21784121"/>
              <a:ext cx="659751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3600" dirty="0">
                  <a:cs typeface="Arial" panose="020B0604020202020204" pitchFamily="34" charset="0"/>
                </a:rPr>
                <a:t>Reasoning Process Rigor</a:t>
              </a:r>
              <a:endParaRPr lang="zh-CN" altLang="en-US" sz="3600" dirty="0">
                <a:cs typeface="Arial" panose="020B0604020202020204" pitchFamily="34" charset="0"/>
              </a:endParaRPr>
            </a:p>
          </p:txBody>
        </p:sp>
        <p:sp>
          <p:nvSpPr>
            <p:cNvPr id="112" name="文本框 103"/>
            <p:cNvSpPr txBox="1"/>
            <p:nvPr/>
          </p:nvSpPr>
          <p:spPr>
            <a:xfrm>
              <a:off x="15871894" y="22349504"/>
              <a:ext cx="9158253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3600" dirty="0">
                  <a:cs typeface="Arial" panose="020B0604020202020204" pitchFamily="34" charset="0"/>
                </a:rPr>
                <a:t>Error Identification &amp; Correction Precision</a:t>
              </a:r>
              <a:endParaRPr lang="zh-CN" altLang="en-US" sz="3600" dirty="0">
                <a:cs typeface="Arial" panose="020B0604020202020204" pitchFamily="34" charset="0"/>
              </a:endParaRPr>
            </a:p>
          </p:txBody>
        </p:sp>
        <p:sp>
          <p:nvSpPr>
            <p:cNvPr id="117" name="矩形 108"/>
            <p:cNvSpPr/>
            <p:nvPr/>
          </p:nvSpPr>
          <p:spPr>
            <a:xfrm>
              <a:off x="4350212" y="22023205"/>
              <a:ext cx="279694" cy="273547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600"/>
            </a:p>
          </p:txBody>
        </p:sp>
        <p:sp>
          <p:nvSpPr>
            <p:cNvPr id="118" name="矩形 109"/>
            <p:cNvSpPr/>
            <p:nvPr/>
          </p:nvSpPr>
          <p:spPr>
            <a:xfrm>
              <a:off x="4350212" y="22552444"/>
              <a:ext cx="279694" cy="273547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600"/>
            </a:p>
          </p:txBody>
        </p:sp>
        <p:sp>
          <p:nvSpPr>
            <p:cNvPr id="119" name="矩形 110"/>
            <p:cNvSpPr/>
            <p:nvPr/>
          </p:nvSpPr>
          <p:spPr>
            <a:xfrm>
              <a:off x="15442981" y="22003106"/>
              <a:ext cx="279694" cy="273547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600"/>
            </a:p>
          </p:txBody>
        </p:sp>
        <p:sp>
          <p:nvSpPr>
            <p:cNvPr id="122" name="矩形 111"/>
            <p:cNvSpPr/>
            <p:nvPr/>
          </p:nvSpPr>
          <p:spPr>
            <a:xfrm>
              <a:off x="15442981" y="22551370"/>
              <a:ext cx="279694" cy="27354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60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图表 3"/>
          <p:cNvGraphicFramePr/>
          <p:nvPr/>
        </p:nvGraphicFramePr>
        <p:xfrm>
          <a:off x="16829295" y="5859648"/>
          <a:ext cx="15421884" cy="104824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" name="图表 4"/>
          <p:cNvGraphicFramePr/>
          <p:nvPr/>
        </p:nvGraphicFramePr>
        <p:xfrm>
          <a:off x="17637039" y="5607558"/>
          <a:ext cx="12680878" cy="104473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图表 5"/>
          <p:cNvGraphicFramePr/>
          <p:nvPr/>
        </p:nvGraphicFramePr>
        <p:xfrm>
          <a:off x="13951397" y="1083028"/>
          <a:ext cx="21103782" cy="202913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图表 6"/>
          <p:cNvGraphicFramePr/>
          <p:nvPr/>
        </p:nvGraphicFramePr>
        <p:xfrm>
          <a:off x="20165080" y="8144397"/>
          <a:ext cx="9383949" cy="57495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4" name="图表 23"/>
          <p:cNvGraphicFramePr/>
          <p:nvPr/>
        </p:nvGraphicFramePr>
        <p:xfrm>
          <a:off x="22415003" y="9741808"/>
          <a:ext cx="4176589" cy="24487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3" name="文本框 32"/>
          <p:cNvSpPr txBox="1"/>
          <p:nvPr/>
        </p:nvSpPr>
        <p:spPr>
          <a:xfrm>
            <a:off x="24085065" y="10757580"/>
            <a:ext cx="18373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Student 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Oriented</a:t>
            </a:r>
            <a:endParaRPr lang="zh-CN" altLang="en-US" sz="1600" dirty="0">
              <a:solidFill>
                <a:schemeClr val="bg1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3058805" y="10653881"/>
            <a:ext cx="18373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Teacher </a:t>
            </a:r>
            <a:endParaRPr lang="en-US" altLang="zh-CN" sz="1600" dirty="0">
              <a:solidFill>
                <a:schemeClr val="bg1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algn="ctr"/>
            <a:r>
              <a:rPr lang="en-US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Oriented</a:t>
            </a:r>
            <a:endParaRPr lang="zh-CN" altLang="en-US" sz="1600" dirty="0">
              <a:solidFill>
                <a:schemeClr val="bg1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 rot="17722872">
            <a:off x="24337990" y="9050302"/>
            <a:ext cx="16006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Consolas" panose="020B0609020204030204" pitchFamily="49" charset="0"/>
                <a:cs typeface="Arial" panose="020B0604020202020204" pitchFamily="34" charset="0"/>
              </a:rPr>
              <a:t>Problem Solving</a:t>
            </a:r>
            <a:endParaRPr lang="zh-CN" altLang="en-US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 rot="19944444">
            <a:off x="25044802" y="9745400"/>
            <a:ext cx="22852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Consolas" panose="020B0609020204030204" pitchFamily="49" charset="0"/>
                <a:cs typeface="Arial" panose="020B0604020202020204" pitchFamily="34" charset="0"/>
              </a:rPr>
              <a:t>Error </a:t>
            </a:r>
            <a:endParaRPr lang="en-US" altLang="zh-CN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algn="ctr"/>
            <a:r>
              <a:rPr lang="en-US" altLang="zh-CN" dirty="0">
                <a:latin typeface="Consolas" panose="020B0609020204030204" pitchFamily="49" charset="0"/>
                <a:cs typeface="Arial" panose="020B0604020202020204" pitchFamily="34" charset="0"/>
              </a:rPr>
              <a:t>Correction</a:t>
            </a:r>
            <a:endParaRPr lang="zh-CN" altLang="en-US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37" name="文本框 36"/>
          <p:cNvSpPr txBox="1"/>
          <p:nvPr/>
        </p:nvSpPr>
        <p:spPr>
          <a:xfrm rot="957362">
            <a:off x="25151721" y="11041558"/>
            <a:ext cx="21614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Consolas" panose="020B0609020204030204" pitchFamily="49" charset="0"/>
                <a:cs typeface="Arial" panose="020B0604020202020204" pitchFamily="34" charset="0"/>
              </a:rPr>
              <a:t>Question </a:t>
            </a:r>
            <a:endParaRPr lang="en-US" altLang="zh-CN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algn="ctr"/>
            <a:r>
              <a:rPr lang="zh-CN" altLang="en-US" dirty="0">
                <a:latin typeface="Consolas" panose="020B0609020204030204" pitchFamily="49" charset="0"/>
                <a:cs typeface="Arial" panose="020B0604020202020204" pitchFamily="34" charset="0"/>
              </a:rPr>
              <a:t>Answering</a:t>
            </a:r>
            <a:endParaRPr lang="zh-CN" altLang="en-US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 rot="2611244">
            <a:off x="24092661" y="12070988"/>
            <a:ext cx="34410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Personalized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algn="ctr"/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Learning 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algn="ctr"/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Support</a:t>
            </a:r>
            <a:endParaRPr lang="zh-CN" altLang="en-US" sz="1200" dirty="0">
              <a:solidFill>
                <a:schemeClr val="bg1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23028328" y="12395861"/>
            <a:ext cx="34410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Emotional </a:t>
            </a:r>
            <a:endParaRPr lang="en-US" altLang="zh-CN" dirty="0">
              <a:solidFill>
                <a:schemeClr val="bg1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algn="ctr"/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Support</a:t>
            </a:r>
            <a:endParaRPr lang="en-US" altLang="zh-CN" dirty="0">
              <a:solidFill>
                <a:schemeClr val="bg1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 rot="19037439">
            <a:off x="21402316" y="11853424"/>
            <a:ext cx="34410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Question </a:t>
            </a:r>
            <a:endParaRPr lang="en-US" altLang="zh-CN" dirty="0">
              <a:solidFill>
                <a:schemeClr val="bg1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algn="ctr"/>
            <a:r>
              <a:rPr lang="en-US" altLang="zh-CN" dirty="0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Generation</a:t>
            </a:r>
            <a:endParaRPr lang="en-US" altLang="zh-CN" dirty="0">
              <a:solidFill>
                <a:schemeClr val="bg1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21750247" y="10553702"/>
            <a:ext cx="18373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Consolas" panose="020B0609020204030204" pitchFamily="49" charset="0"/>
                <a:cs typeface="Arial" panose="020B0604020202020204" pitchFamily="34" charset="0"/>
              </a:rPr>
              <a:t>Automatic </a:t>
            </a:r>
            <a:endParaRPr lang="en-US" altLang="zh-CN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algn="ctr"/>
            <a:r>
              <a:rPr lang="en-US" altLang="zh-CN" dirty="0">
                <a:latin typeface="Consolas" panose="020B0609020204030204" pitchFamily="49" charset="0"/>
                <a:cs typeface="Arial" panose="020B0604020202020204" pitchFamily="34" charset="0"/>
              </a:rPr>
              <a:t>Grading</a:t>
            </a:r>
            <a:endParaRPr lang="en-US" altLang="zh-CN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 rot="2489424">
            <a:off x="21917054" y="9184791"/>
            <a:ext cx="272485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Consolas" panose="020B0609020204030204" pitchFamily="49" charset="0"/>
                <a:cs typeface="Arial" panose="020B0604020202020204" pitchFamily="34" charset="0"/>
              </a:rPr>
              <a:t>Teaching </a:t>
            </a:r>
            <a:endParaRPr lang="en-US" altLang="zh-CN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algn="ctr"/>
            <a:r>
              <a:rPr lang="en-US" altLang="zh-CN" dirty="0">
                <a:latin typeface="Consolas" panose="020B0609020204030204" pitchFamily="49" charset="0"/>
                <a:cs typeface="Arial" panose="020B0604020202020204" pitchFamily="34" charset="0"/>
              </a:rPr>
              <a:t>Material </a:t>
            </a:r>
            <a:endParaRPr lang="en-US" altLang="zh-CN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algn="ctr"/>
            <a:r>
              <a:rPr lang="en-US" altLang="zh-CN" dirty="0">
                <a:latin typeface="Consolas" panose="020B0609020204030204" pitchFamily="49" charset="0"/>
                <a:cs typeface="Arial" panose="020B0604020202020204" pitchFamily="34" charset="0"/>
              </a:rPr>
              <a:t>Generation</a:t>
            </a:r>
            <a:endParaRPr lang="en-US" altLang="zh-CN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26059077" y="7639716"/>
            <a:ext cx="19418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Mathematics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24883753" y="6176081"/>
            <a:ext cx="208773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b="1" dirty="0">
                <a:latin typeface="Consolas" panose="020B0609020204030204" pitchFamily="49" charset="0"/>
                <a:cs typeface="Arial" panose="020B0604020202020204" pitchFamily="34" charset="0"/>
              </a:rPr>
              <a:t>K-12 subjects</a:t>
            </a:r>
            <a:endParaRPr lang="zh-CN" altLang="en-US" sz="2200" b="1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6911708" y="7289890"/>
            <a:ext cx="12943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English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25594734" y="8031386"/>
            <a:ext cx="12943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Physics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26069035" y="6994150"/>
            <a:ext cx="16548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Chemistry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24677083" y="6930690"/>
            <a:ext cx="19418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Geography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24684411" y="7639716"/>
            <a:ext cx="14284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History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7124339" y="8054111"/>
            <a:ext cx="208773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b="1" dirty="0">
                <a:latin typeface="Consolas" panose="020B0609020204030204" pitchFamily="49" charset="0"/>
                <a:cs typeface="Arial" panose="020B0604020202020204" pitchFamily="34" charset="0"/>
              </a:rPr>
              <a:t>Higher Education Subjects</a:t>
            </a:r>
            <a:endParaRPr lang="zh-CN" altLang="en-US" sz="2200" b="1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7486145" y="11459742"/>
            <a:ext cx="18091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Astronomy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26674921" y="12611128"/>
            <a:ext cx="26702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Applied Economics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25394289" y="13790304"/>
            <a:ext cx="3124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Theoretical Economics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26509040" y="13066024"/>
            <a:ext cx="26103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General</a:t>
            </a:r>
            <a:r>
              <a:rPr lang="zh-CN" alt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Education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26088741" y="13455670"/>
            <a:ext cx="279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Physical</a:t>
            </a:r>
            <a:r>
              <a:rPr lang="zh-CN" alt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Education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24184903" y="14715390"/>
            <a:ext cx="35062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Business</a:t>
            </a:r>
            <a:r>
              <a:rPr lang="zh-CN" alt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Administration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23959221" y="15059816"/>
            <a:ext cx="31748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Public</a:t>
            </a:r>
            <a:r>
              <a:rPr lang="zh-CN" alt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Administration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23129453" y="14362386"/>
            <a:ext cx="30475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Clinical</a:t>
            </a:r>
            <a:r>
              <a:rPr lang="zh-CN" alt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Medicine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26014324" y="14220166"/>
            <a:ext cx="2174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Basic</a:t>
            </a:r>
            <a:r>
              <a:rPr lang="zh-CN" alt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Medicine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0" name="文本框 133"/>
          <p:cNvSpPr txBox="1"/>
          <p:nvPr/>
        </p:nvSpPr>
        <p:spPr>
          <a:xfrm>
            <a:off x="24709215" y="7315216"/>
            <a:ext cx="19419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Biology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61" name="文本框 5"/>
          <p:cNvSpPr txBox="1"/>
          <p:nvPr/>
        </p:nvSpPr>
        <p:spPr>
          <a:xfrm>
            <a:off x="27726579" y="10097982"/>
            <a:ext cx="1967366" cy="1048739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Aerospace Science &amp; Technology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2" name="文本框 6"/>
          <p:cNvSpPr txBox="1"/>
          <p:nvPr/>
        </p:nvSpPr>
        <p:spPr>
          <a:xfrm>
            <a:off x="27368010" y="11846347"/>
            <a:ext cx="1927237" cy="539338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Aquaculture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63" name="文本框 7"/>
          <p:cNvSpPr txBox="1"/>
          <p:nvPr/>
        </p:nvSpPr>
        <p:spPr>
          <a:xfrm>
            <a:off x="27587451" y="9739685"/>
            <a:ext cx="1967366" cy="400228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Crop Science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22025859" y="13527448"/>
            <a:ext cx="16695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Sociology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24043806" y="15434968"/>
            <a:ext cx="18161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Psychology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28429810" y="9373465"/>
            <a:ext cx="9468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Law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22395484" y="15106924"/>
            <a:ext cx="18161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Management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21400047" y="14238928"/>
            <a:ext cx="18161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Linguistics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23959221" y="14006510"/>
            <a:ext cx="16752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Journalism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21731539" y="13917726"/>
            <a:ext cx="23624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Theory of Music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21681370" y="14711102"/>
            <a:ext cx="27260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Military Science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72" name="文本框 6"/>
          <p:cNvSpPr txBox="1"/>
          <p:nvPr/>
        </p:nvSpPr>
        <p:spPr>
          <a:xfrm>
            <a:off x="27085948" y="12254807"/>
            <a:ext cx="2565420" cy="539338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Computer Science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73" name="文本框 6"/>
          <p:cNvSpPr txBox="1"/>
          <p:nvPr/>
        </p:nvSpPr>
        <p:spPr>
          <a:xfrm>
            <a:off x="27293211" y="9113179"/>
            <a:ext cx="1640576" cy="539338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Automation Control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74" name="文本框 6"/>
          <p:cNvSpPr txBox="1"/>
          <p:nvPr/>
        </p:nvSpPr>
        <p:spPr>
          <a:xfrm>
            <a:off x="27744602" y="11103683"/>
            <a:ext cx="2565420" cy="539338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Agriculture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22577963" y="6221049"/>
            <a:ext cx="208773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b="1" dirty="0">
                <a:latin typeface="Consolas" panose="020B0609020204030204" pitchFamily="49" charset="0"/>
                <a:cs typeface="Arial" panose="020B0604020202020204" pitchFamily="34" charset="0"/>
              </a:rPr>
              <a:t>Task Difficulty</a:t>
            </a:r>
            <a:endParaRPr lang="zh-CN" altLang="en-US" sz="2200" b="1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20864944" y="7349435"/>
            <a:ext cx="208773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b="1" dirty="0">
                <a:latin typeface="Consolas" panose="020B0609020204030204" pitchFamily="49" charset="0"/>
                <a:cs typeface="Arial" panose="020B0604020202020204" pitchFamily="34" charset="0"/>
              </a:rPr>
              <a:t>Language</a:t>
            </a:r>
            <a:endParaRPr lang="zh-CN" altLang="en-US" sz="2200" b="1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19691416" y="8852813"/>
            <a:ext cx="208773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 b="1" dirty="0">
                <a:latin typeface="Consolas" panose="020B0609020204030204" pitchFamily="49" charset="0"/>
                <a:cs typeface="Arial" panose="020B0604020202020204" pitchFamily="34" charset="0"/>
              </a:rPr>
              <a:t>Question Type</a:t>
            </a:r>
            <a:endParaRPr lang="zh-CN" altLang="en-US" sz="2200" b="1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78" name="文本框 133"/>
          <p:cNvSpPr txBox="1"/>
          <p:nvPr/>
        </p:nvSpPr>
        <p:spPr>
          <a:xfrm>
            <a:off x="25789643" y="7303156"/>
            <a:ext cx="12316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Chinese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79" name="文本框 133"/>
          <p:cNvSpPr txBox="1"/>
          <p:nvPr/>
        </p:nvSpPr>
        <p:spPr>
          <a:xfrm>
            <a:off x="22898385" y="6866619"/>
            <a:ext cx="12316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Easy</a:t>
            </a:r>
            <a:endParaRPr lang="zh-CN" altLang="en-US" sz="24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80" name="文本框 133"/>
          <p:cNvSpPr txBox="1"/>
          <p:nvPr/>
        </p:nvSpPr>
        <p:spPr>
          <a:xfrm>
            <a:off x="22961513" y="7647807"/>
            <a:ext cx="12316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Hard</a:t>
            </a:r>
            <a:endParaRPr lang="zh-CN" altLang="en-US" sz="24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81" name="文本框 133"/>
          <p:cNvSpPr txBox="1"/>
          <p:nvPr/>
        </p:nvSpPr>
        <p:spPr>
          <a:xfrm>
            <a:off x="22844669" y="7239858"/>
            <a:ext cx="16635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Medium</a:t>
            </a:r>
            <a:endParaRPr lang="zh-CN" altLang="en-US" sz="24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82" name="文本框 133"/>
          <p:cNvSpPr txBox="1"/>
          <p:nvPr/>
        </p:nvSpPr>
        <p:spPr>
          <a:xfrm>
            <a:off x="20850577" y="7813998"/>
            <a:ext cx="16635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Chinese</a:t>
            </a:r>
            <a:endParaRPr lang="zh-CN" altLang="en-US" sz="24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83" name="文本框 133"/>
          <p:cNvSpPr txBox="1"/>
          <p:nvPr/>
        </p:nvSpPr>
        <p:spPr>
          <a:xfrm>
            <a:off x="21273831" y="8253863"/>
            <a:ext cx="16635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English</a:t>
            </a:r>
            <a:endParaRPr lang="zh-CN" altLang="en-US" sz="24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84" name="文本框 133"/>
          <p:cNvSpPr txBox="1"/>
          <p:nvPr/>
        </p:nvSpPr>
        <p:spPr>
          <a:xfrm>
            <a:off x="19538278" y="10073910"/>
            <a:ext cx="24395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Single Choice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85" name="文本框 133"/>
          <p:cNvSpPr txBox="1"/>
          <p:nvPr/>
        </p:nvSpPr>
        <p:spPr>
          <a:xfrm>
            <a:off x="19915177" y="10502354"/>
            <a:ext cx="22043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Multiple Choice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86" name="文本框 133"/>
          <p:cNvSpPr txBox="1"/>
          <p:nvPr/>
        </p:nvSpPr>
        <p:spPr>
          <a:xfrm>
            <a:off x="19643798" y="9711590"/>
            <a:ext cx="20877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Short Answer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19792511" y="11335120"/>
            <a:ext cx="208773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Consolas" panose="020B0609020204030204" pitchFamily="49" charset="0"/>
                <a:cs typeface="Arial" panose="020B0604020202020204" pitchFamily="34" charset="0"/>
              </a:rPr>
              <a:t>Emotional Support</a:t>
            </a:r>
            <a:endParaRPr lang="zh-CN" altLang="en-US" sz="2000" b="1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19576853" y="11970444"/>
            <a:ext cx="23624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Mental Healthy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19924214" y="12342578"/>
            <a:ext cx="19074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Mild Anxiety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19834339" y="12745950"/>
            <a:ext cx="27158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Moderate Anxiety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19988221" y="13100992"/>
            <a:ext cx="27158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Severe Anxiety</a:t>
            </a:r>
            <a:endParaRPr lang="zh-CN" altLang="en-US" sz="2000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92" name="文本框 91"/>
          <p:cNvSpPr txBox="1"/>
          <p:nvPr/>
        </p:nvSpPr>
        <p:spPr>
          <a:xfrm rot="4740649">
            <a:off x="23398718" y="8914524"/>
            <a:ext cx="15723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Consolas" panose="020B0609020204030204" pitchFamily="49" charset="0"/>
                <a:cs typeface="Arial" panose="020B0604020202020204" pitchFamily="34" charset="0"/>
              </a:rPr>
              <a:t>Personalized  Content Creation</a:t>
            </a:r>
            <a:endParaRPr lang="en-US" altLang="zh-CN" sz="12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22222167" y="21551776"/>
            <a:ext cx="72817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 panose="020B0609020204030204" pitchFamily="49" charset="0"/>
                <a:cs typeface="Arial" panose="020B0604020202020204" pitchFamily="34" charset="0"/>
              </a:rPr>
              <a:t>Instruction Following &amp; Task Completion</a:t>
            </a:r>
            <a:endParaRPr lang="zh-CN" altLang="en-US" sz="24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22222167" y="22131704"/>
            <a:ext cx="65975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 panose="020B0609020204030204" pitchFamily="49" charset="0"/>
                <a:cs typeface="Arial" panose="020B0604020202020204" pitchFamily="34" charset="0"/>
              </a:rPr>
              <a:t>Role &amp; Tone Consistency</a:t>
            </a:r>
            <a:endParaRPr lang="zh-CN" altLang="en-US" sz="24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22222167" y="23260394"/>
            <a:ext cx="62735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 panose="020B0609020204030204" pitchFamily="49" charset="0"/>
                <a:cs typeface="Arial" panose="020B0604020202020204" pitchFamily="34" charset="0"/>
              </a:rPr>
              <a:t>Content Relevance &amp; Scope Control</a:t>
            </a:r>
            <a:endParaRPr lang="zh-CN" altLang="en-US" sz="24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22222171" y="22682180"/>
            <a:ext cx="58420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 panose="020B0609020204030204" pitchFamily="49" charset="0"/>
                <a:cs typeface="Arial" panose="020B0604020202020204" pitchFamily="34" charset="0"/>
              </a:rPr>
              <a:t>Scenario Element Integration</a:t>
            </a:r>
            <a:endParaRPr lang="zh-CN" altLang="en-US" sz="24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97" name="文本框 96"/>
          <p:cNvSpPr txBox="1"/>
          <p:nvPr/>
        </p:nvSpPr>
        <p:spPr>
          <a:xfrm rot="1252013">
            <a:off x="29664381" y="13976242"/>
            <a:ext cx="68066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 panose="020B0609020204030204" pitchFamily="49" charset="0"/>
                <a:cs typeface="Arial" panose="020B0604020202020204" pitchFamily="34" charset="0"/>
              </a:rPr>
              <a:t>Basic Factual Accuracy</a:t>
            </a:r>
            <a:endParaRPr lang="zh-CN" altLang="en-US" sz="24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29659982" y="22158960"/>
            <a:ext cx="5146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 panose="020B0609020204030204" pitchFamily="49" charset="0"/>
                <a:cs typeface="Arial" panose="020B0604020202020204" pitchFamily="34" charset="0"/>
              </a:rPr>
              <a:t>Domain Knowledge Accuracy</a:t>
            </a:r>
            <a:endParaRPr lang="zh-CN" altLang="en-US" sz="24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29651368" y="22666801"/>
            <a:ext cx="65975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 panose="020B0609020204030204" pitchFamily="49" charset="0"/>
                <a:cs typeface="Arial" panose="020B0604020202020204" pitchFamily="34" charset="0"/>
              </a:rPr>
              <a:t>Reasoning Process Rigor</a:t>
            </a:r>
            <a:endParaRPr lang="zh-CN" altLang="en-US" sz="24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29651369" y="23232184"/>
            <a:ext cx="75289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 panose="020B0609020204030204" pitchFamily="49" charset="0"/>
                <a:cs typeface="Arial" panose="020B0604020202020204" pitchFamily="34" charset="0"/>
              </a:rPr>
              <a:t>Error Identification &amp; Correction Precision</a:t>
            </a:r>
            <a:endParaRPr lang="zh-CN" altLang="en-US" sz="24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21774278" y="21658448"/>
            <a:ext cx="279694" cy="273547"/>
          </a:xfrm>
          <a:prstGeom prst="rect">
            <a:avLst/>
          </a:prstGeom>
          <a:solidFill>
            <a:srgbClr val="F19E6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nsolas" panose="020B0609020204030204" pitchFamily="49" charset="0"/>
            </a:endParaRPr>
          </a:p>
        </p:txBody>
      </p:sp>
      <p:sp>
        <p:nvSpPr>
          <p:cNvPr id="102" name="矩形 101"/>
          <p:cNvSpPr/>
          <p:nvPr/>
        </p:nvSpPr>
        <p:spPr>
          <a:xfrm>
            <a:off x="21774278" y="22206712"/>
            <a:ext cx="279694" cy="27354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nsolas" panose="020B0609020204030204" pitchFamily="49" charset="0"/>
            </a:endParaRPr>
          </a:p>
        </p:txBody>
      </p:sp>
      <p:sp>
        <p:nvSpPr>
          <p:cNvPr id="103" name="矩形 102"/>
          <p:cNvSpPr/>
          <p:nvPr/>
        </p:nvSpPr>
        <p:spPr>
          <a:xfrm>
            <a:off x="21774278" y="22779831"/>
            <a:ext cx="279694" cy="27354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nsolas" panose="020B0609020204030204" pitchFamily="49" charset="0"/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21774278" y="23328095"/>
            <a:ext cx="279694" cy="27354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nsolas" panose="020B0609020204030204" pitchFamily="49" charset="0"/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29208517" y="21658375"/>
            <a:ext cx="279694" cy="273547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nsolas" panose="020B0609020204030204" pitchFamily="49" charset="0"/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29208517" y="22187614"/>
            <a:ext cx="279694" cy="27354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nsolas" panose="020B0609020204030204" pitchFamily="49" charset="0"/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29208517" y="22747722"/>
            <a:ext cx="279694" cy="27354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nsolas" panose="020B0609020204030204" pitchFamily="49" charset="0"/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29208517" y="23295986"/>
            <a:ext cx="279694" cy="2735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nsolas" panose="020B0609020204030204" pitchFamily="49" charset="0"/>
            </a:endParaRPr>
          </a:p>
        </p:txBody>
      </p:sp>
      <p:sp>
        <p:nvSpPr>
          <p:cNvPr id="109" name="文本框 108"/>
          <p:cNvSpPr txBox="1"/>
          <p:nvPr/>
        </p:nvSpPr>
        <p:spPr>
          <a:xfrm>
            <a:off x="13592643" y="23278328"/>
            <a:ext cx="6940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 panose="020B0609020204030204" pitchFamily="49" charset="0"/>
                <a:cs typeface="Arial" panose="020B0604020202020204" pitchFamily="34" charset="0"/>
              </a:rPr>
              <a:t>Clarity, Simplicity &amp; Inspiration</a:t>
            </a:r>
            <a:endParaRPr lang="zh-CN" altLang="en-US" sz="24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13590542" y="22688260"/>
            <a:ext cx="71679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 panose="020B0609020204030204" pitchFamily="49" charset="0"/>
                <a:cs typeface="Arial" panose="020B0604020202020204" pitchFamily="34" charset="0"/>
              </a:rPr>
              <a:t>Motivation, Guidance &amp; Positive Feedback</a:t>
            </a:r>
            <a:endParaRPr lang="zh-CN" altLang="en-US" sz="24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13645841" y="22120003"/>
            <a:ext cx="80926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 panose="020B0609020204030204" pitchFamily="49" charset="0"/>
                <a:cs typeface="Arial" panose="020B0604020202020204" pitchFamily="34" charset="0"/>
              </a:rPr>
              <a:t>Personalization, Adaptation &amp; Learning Support</a:t>
            </a:r>
            <a:endParaRPr lang="zh-CN" altLang="en-US" sz="24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13611202" y="21577321"/>
            <a:ext cx="74585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 panose="020B0609020204030204" pitchFamily="49" charset="0"/>
                <a:cs typeface="Arial" panose="020B0604020202020204" pitchFamily="34" charset="0"/>
              </a:rPr>
              <a:t>Higher-Order Thinking &amp; Skill Development</a:t>
            </a:r>
            <a:endParaRPr lang="zh-CN" altLang="en-US" sz="24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113" name="矩形 112"/>
          <p:cNvSpPr/>
          <p:nvPr/>
        </p:nvSpPr>
        <p:spPr>
          <a:xfrm>
            <a:off x="13130738" y="21671379"/>
            <a:ext cx="279694" cy="27354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nsolas" panose="020B0609020204030204" pitchFamily="49" charset="0"/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13130738" y="22219643"/>
            <a:ext cx="279694" cy="27354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nsolas" panose="020B0609020204030204" pitchFamily="49" charset="0"/>
            </a:endParaRPr>
          </a:p>
        </p:txBody>
      </p:sp>
      <p:sp>
        <p:nvSpPr>
          <p:cNvPr id="115" name="矩形 114"/>
          <p:cNvSpPr/>
          <p:nvPr/>
        </p:nvSpPr>
        <p:spPr>
          <a:xfrm>
            <a:off x="13130738" y="22779751"/>
            <a:ext cx="279694" cy="27354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nsolas" panose="020B0609020204030204" pitchFamily="49" charset="0"/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13130738" y="23328015"/>
            <a:ext cx="279694" cy="2735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onsolas" panose="020B0609020204030204" pitchFamily="49" charset="0"/>
            </a:endParaRPr>
          </a:p>
        </p:txBody>
      </p:sp>
      <p:sp>
        <p:nvSpPr>
          <p:cNvPr id="117" name="文本框 116"/>
          <p:cNvSpPr txBox="1"/>
          <p:nvPr/>
        </p:nvSpPr>
        <p:spPr>
          <a:xfrm rot="1851426">
            <a:off x="29075812" y="14994975"/>
            <a:ext cx="492682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 panose="020B0609020204030204" pitchFamily="49" charset="0"/>
                <a:cs typeface="Arial" panose="020B0604020202020204" pitchFamily="34" charset="0"/>
              </a:rPr>
              <a:t>Error Identification &amp; Correction Precision</a:t>
            </a:r>
            <a:endParaRPr lang="zh-CN" altLang="en-US" sz="24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118" name="文本框 117"/>
          <p:cNvSpPr txBox="1"/>
          <p:nvPr/>
        </p:nvSpPr>
        <p:spPr>
          <a:xfrm>
            <a:off x="29664380" y="21593577"/>
            <a:ext cx="68066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Consolas" panose="020B0609020204030204" pitchFamily="49" charset="0"/>
                <a:cs typeface="Arial" panose="020B0604020202020204" pitchFamily="34" charset="0"/>
              </a:rPr>
              <a:t>Basic Factual Accuracy</a:t>
            </a:r>
            <a:endParaRPr lang="zh-CN" altLang="en-US" sz="2400" dirty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sunburst-drink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63925" y="-452120"/>
            <a:ext cx="41673780" cy="2507234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22767" y="2158252"/>
            <a:ext cx="6652929" cy="664132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98877" y="2276786"/>
            <a:ext cx="6115050" cy="72596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9975" y="1920515"/>
            <a:ext cx="6115050" cy="90186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68760" y="2533328"/>
            <a:ext cx="5446399" cy="469736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49913" y="2155267"/>
            <a:ext cx="6115050" cy="39983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49021" y="1660690"/>
            <a:ext cx="6786811" cy="45245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037256" y="21400020"/>
            <a:ext cx="12425276" cy="786861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149220" y="21286094"/>
            <a:ext cx="781050" cy="43408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749913" y="21488634"/>
            <a:ext cx="8619635" cy="42862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78462" y="21906616"/>
            <a:ext cx="7399688" cy="478172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958004" y="21428937"/>
            <a:ext cx="4428615" cy="620394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210037" y="21186605"/>
            <a:ext cx="6519852" cy="434089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227261" y="21645098"/>
            <a:ext cx="4082510" cy="439525"/>
          </a:xfrm>
          <a:prstGeom prst="rect">
            <a:avLst/>
          </a:prstGeom>
        </p:spPr>
      </p:pic>
      <p:sp>
        <p:nvSpPr>
          <p:cNvPr id="76" name="文本框 78"/>
          <p:cNvSpPr txBox="1"/>
          <p:nvPr/>
        </p:nvSpPr>
        <p:spPr>
          <a:xfrm>
            <a:off x="20892441" y="4106305"/>
            <a:ext cx="28714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cs typeface="Arial" panose="020B0604020202020204" pitchFamily="34" charset="0"/>
              </a:rPr>
              <a:t>Task</a:t>
            </a:r>
            <a:r>
              <a:rPr lang="zh-CN" altLang="en-US" sz="36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  <a:cs typeface="Arial" panose="020B0604020202020204" pitchFamily="34" charset="0"/>
              </a:rPr>
              <a:t>Difficulty</a:t>
            </a:r>
            <a:endParaRPr lang="zh-CN" altLang="en-US" sz="3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77" name="文本框 133"/>
          <p:cNvSpPr txBox="1"/>
          <p:nvPr/>
        </p:nvSpPr>
        <p:spPr>
          <a:xfrm>
            <a:off x="21729935" y="4671226"/>
            <a:ext cx="12316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dirty="0">
                <a:solidFill>
                  <a:schemeClr val="bg1"/>
                </a:solidFill>
                <a:cs typeface="Arial" panose="020B0604020202020204" pitchFamily="34" charset="0"/>
              </a:rPr>
              <a:t>Easy</a:t>
            </a:r>
            <a:endParaRPr lang="zh-CN" altLang="en-US" sz="36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78" name="文本框 133"/>
          <p:cNvSpPr txBox="1"/>
          <p:nvPr/>
        </p:nvSpPr>
        <p:spPr>
          <a:xfrm>
            <a:off x="22565058" y="5187598"/>
            <a:ext cx="12316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dirty="0">
                <a:solidFill>
                  <a:schemeClr val="bg1"/>
                </a:solidFill>
                <a:cs typeface="Arial" panose="020B0604020202020204" pitchFamily="34" charset="0"/>
              </a:rPr>
              <a:t>Hard</a:t>
            </a:r>
            <a:endParaRPr lang="zh-CN" altLang="en-US" sz="36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79" name="文本框 133"/>
          <p:cNvSpPr txBox="1"/>
          <p:nvPr/>
        </p:nvSpPr>
        <p:spPr>
          <a:xfrm>
            <a:off x="20199260" y="5184836"/>
            <a:ext cx="19461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dirty="0">
                <a:solidFill>
                  <a:schemeClr val="bg1"/>
                </a:solidFill>
                <a:cs typeface="Arial" panose="020B0604020202020204" pitchFamily="34" charset="0"/>
              </a:rPr>
              <a:t>Medium</a:t>
            </a:r>
            <a:endParaRPr lang="zh-CN" altLang="en-US" sz="36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17838112" y="6659407"/>
            <a:ext cx="20877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cs typeface="Arial" panose="020B0604020202020204" pitchFamily="34" charset="0"/>
              </a:rPr>
              <a:t>Language</a:t>
            </a:r>
            <a:endParaRPr lang="zh-CN" altLang="en-US" sz="3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81" name="文本框 133"/>
          <p:cNvSpPr txBox="1"/>
          <p:nvPr/>
        </p:nvSpPr>
        <p:spPr>
          <a:xfrm>
            <a:off x="17484510" y="7434407"/>
            <a:ext cx="16635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dirty="0">
                <a:solidFill>
                  <a:schemeClr val="bg1"/>
                </a:solidFill>
                <a:cs typeface="Arial" panose="020B0604020202020204" pitchFamily="34" charset="0"/>
              </a:rPr>
              <a:t>Chinese</a:t>
            </a:r>
            <a:endParaRPr lang="zh-CN" altLang="en-US" sz="36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82" name="文本框 133"/>
          <p:cNvSpPr txBox="1"/>
          <p:nvPr/>
        </p:nvSpPr>
        <p:spPr>
          <a:xfrm>
            <a:off x="17178764" y="8196731"/>
            <a:ext cx="16635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dirty="0">
                <a:solidFill>
                  <a:schemeClr val="bg1"/>
                </a:solidFill>
                <a:cs typeface="Arial" panose="020B0604020202020204" pitchFamily="34" charset="0"/>
              </a:rPr>
              <a:t>English</a:t>
            </a:r>
            <a:endParaRPr lang="zh-CN" altLang="en-US" sz="36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83" name="文本框 80"/>
          <p:cNvSpPr txBox="1"/>
          <p:nvPr/>
        </p:nvSpPr>
        <p:spPr>
          <a:xfrm>
            <a:off x="16021710" y="9749271"/>
            <a:ext cx="208773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cs typeface="Arial" panose="020B0604020202020204" pitchFamily="34" charset="0"/>
              </a:rPr>
              <a:t>Question Type</a:t>
            </a:r>
            <a:endParaRPr lang="zh-CN" altLang="en-US" sz="32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84" name="文本框 133"/>
          <p:cNvSpPr txBox="1"/>
          <p:nvPr/>
        </p:nvSpPr>
        <p:spPr>
          <a:xfrm>
            <a:off x="15669888" y="11266400"/>
            <a:ext cx="24395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100" dirty="0">
                <a:solidFill>
                  <a:schemeClr val="bg1"/>
                </a:solidFill>
                <a:cs typeface="Arial" panose="020B0604020202020204" pitchFamily="34" charset="0"/>
              </a:rPr>
              <a:t>Single-Choice</a:t>
            </a:r>
            <a:endParaRPr lang="zh-CN" altLang="en-US" sz="31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85" name="文本框 133"/>
          <p:cNvSpPr txBox="1"/>
          <p:nvPr/>
        </p:nvSpPr>
        <p:spPr>
          <a:xfrm>
            <a:off x="15713625" y="11773107"/>
            <a:ext cx="24395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100" dirty="0">
                <a:solidFill>
                  <a:schemeClr val="bg1"/>
                </a:solidFill>
                <a:cs typeface="Arial" panose="020B0604020202020204" pitchFamily="34" charset="0"/>
              </a:rPr>
              <a:t>Multi-Choice</a:t>
            </a:r>
            <a:endParaRPr lang="zh-CN" altLang="en-US" sz="31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86" name="文本框 133"/>
          <p:cNvSpPr txBox="1"/>
          <p:nvPr/>
        </p:nvSpPr>
        <p:spPr>
          <a:xfrm>
            <a:off x="15757361" y="10779489"/>
            <a:ext cx="24395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100" dirty="0">
                <a:solidFill>
                  <a:schemeClr val="bg1"/>
                </a:solidFill>
                <a:cs typeface="Arial" panose="020B0604020202020204" pitchFamily="34" charset="0"/>
              </a:rPr>
              <a:t>Short Answer</a:t>
            </a:r>
            <a:endParaRPr lang="zh-CN" altLang="en-US" sz="31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87" name="文本框 90"/>
          <p:cNvSpPr txBox="1"/>
          <p:nvPr/>
        </p:nvSpPr>
        <p:spPr>
          <a:xfrm>
            <a:off x="15934235" y="12697792"/>
            <a:ext cx="226268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cs typeface="Arial" panose="020B0604020202020204" pitchFamily="34" charset="0"/>
              </a:rPr>
              <a:t>Emotional Support</a:t>
            </a:r>
            <a:endParaRPr lang="zh-CN" altLang="en-US" sz="32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88" name="文本框 91"/>
          <p:cNvSpPr txBox="1"/>
          <p:nvPr/>
        </p:nvSpPr>
        <p:spPr>
          <a:xfrm>
            <a:off x="15934234" y="13809315"/>
            <a:ext cx="24395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cs typeface="Arial" panose="020B0604020202020204" pitchFamily="34" charset="0"/>
              </a:rPr>
              <a:t>Mental Healthy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89" name="文本框 92"/>
          <p:cNvSpPr txBox="1"/>
          <p:nvPr/>
        </p:nvSpPr>
        <p:spPr>
          <a:xfrm>
            <a:off x="16220856" y="14332535"/>
            <a:ext cx="22759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cs typeface="Arial" panose="020B0604020202020204" pitchFamily="34" charset="0"/>
              </a:rPr>
              <a:t>Mild Anxiety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90" name="文本框 93"/>
          <p:cNvSpPr txBox="1"/>
          <p:nvPr/>
        </p:nvSpPr>
        <p:spPr>
          <a:xfrm>
            <a:off x="16107529" y="14870310"/>
            <a:ext cx="260375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cs typeface="Arial" panose="020B0604020202020204" pitchFamily="34" charset="0"/>
              </a:rPr>
              <a:t>Moderate Anxiety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91" name="文本框 94"/>
          <p:cNvSpPr txBox="1"/>
          <p:nvPr/>
        </p:nvSpPr>
        <p:spPr>
          <a:xfrm>
            <a:off x="16652471" y="15739558"/>
            <a:ext cx="27158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cs typeface="Arial" panose="020B0604020202020204" pitchFamily="34" charset="0"/>
              </a:rPr>
              <a:t>Severe Anxiety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329578" y="21040133"/>
            <a:ext cx="7823200" cy="359886"/>
          </a:xfrm>
          <a:prstGeom prst="rect">
            <a:avLst/>
          </a:prstGeom>
        </p:spPr>
      </p:pic>
      <p:sp>
        <p:nvSpPr>
          <p:cNvPr id="125" name="文本框 46"/>
          <p:cNvSpPr txBox="1"/>
          <p:nvPr/>
        </p:nvSpPr>
        <p:spPr>
          <a:xfrm>
            <a:off x="26149221" y="4645874"/>
            <a:ext cx="31221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cs typeface="Arial" panose="020B0604020202020204" pitchFamily="34" charset="0"/>
              </a:rPr>
              <a:t>Mathematics</a:t>
            </a:r>
            <a:endParaRPr lang="zh-CN" altLang="en-US" sz="32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26" name="文本框 47"/>
          <p:cNvSpPr txBox="1"/>
          <p:nvPr/>
        </p:nvSpPr>
        <p:spPr>
          <a:xfrm>
            <a:off x="24667988" y="4016082"/>
            <a:ext cx="30102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cs typeface="Arial" panose="020B0604020202020204" pitchFamily="34" charset="0"/>
              </a:rPr>
              <a:t>K-12 subjects</a:t>
            </a:r>
            <a:endParaRPr lang="zh-CN" altLang="en-US" sz="32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27" name="文本框 48"/>
          <p:cNvSpPr txBox="1"/>
          <p:nvPr/>
        </p:nvSpPr>
        <p:spPr>
          <a:xfrm>
            <a:off x="28173365" y="5298762"/>
            <a:ext cx="14466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cs typeface="Arial" panose="020B0604020202020204" pitchFamily="34" charset="0"/>
              </a:rPr>
              <a:t>English</a:t>
            </a:r>
            <a:endParaRPr lang="zh-CN" altLang="en-US" sz="32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28" name="文本框 49"/>
          <p:cNvSpPr txBox="1"/>
          <p:nvPr/>
        </p:nvSpPr>
        <p:spPr>
          <a:xfrm>
            <a:off x="27219086" y="5765034"/>
            <a:ext cx="14466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  <a:cs typeface="Arial" panose="020B0604020202020204" pitchFamily="34" charset="0"/>
              </a:rPr>
              <a:t>Physics</a:t>
            </a:r>
            <a:endParaRPr lang="zh-CN" altLang="en-US" sz="32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29" name="文本框 50"/>
          <p:cNvSpPr txBox="1"/>
          <p:nvPr/>
        </p:nvSpPr>
        <p:spPr>
          <a:xfrm>
            <a:off x="26173099" y="5184836"/>
            <a:ext cx="24302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cs typeface="Arial" panose="020B0604020202020204" pitchFamily="34" charset="0"/>
              </a:rPr>
              <a:t>Chemistry</a:t>
            </a:r>
            <a:endParaRPr lang="zh-CN" altLang="en-US" sz="32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30" name="文本框 53"/>
          <p:cNvSpPr txBox="1"/>
          <p:nvPr/>
        </p:nvSpPr>
        <p:spPr>
          <a:xfrm>
            <a:off x="29248095" y="6468692"/>
            <a:ext cx="208773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cs typeface="Arial" panose="020B0604020202020204" pitchFamily="34" charset="0"/>
              </a:rPr>
              <a:t>Higher Education Subjects</a:t>
            </a:r>
            <a:endParaRPr lang="zh-CN" altLang="en-US" sz="32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31" name="文本框 133"/>
          <p:cNvSpPr txBox="1"/>
          <p:nvPr/>
        </p:nvSpPr>
        <p:spPr>
          <a:xfrm>
            <a:off x="24548006" y="4601121"/>
            <a:ext cx="19419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dirty="0">
                <a:solidFill>
                  <a:schemeClr val="bg1"/>
                </a:solidFill>
                <a:cs typeface="Arial" panose="020B0604020202020204" pitchFamily="34" charset="0"/>
              </a:rPr>
              <a:t>Biology</a:t>
            </a:r>
            <a:endParaRPr lang="zh-CN" altLang="en-US" sz="32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32" name="文本框 133"/>
          <p:cNvSpPr txBox="1"/>
          <p:nvPr/>
        </p:nvSpPr>
        <p:spPr>
          <a:xfrm>
            <a:off x="24540053" y="5171899"/>
            <a:ext cx="198196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dirty="0">
                <a:solidFill>
                  <a:schemeClr val="bg1"/>
                </a:solidFill>
                <a:cs typeface="Arial" panose="020B0604020202020204" pitchFamily="34" charset="0"/>
              </a:rPr>
              <a:t>Chinese</a:t>
            </a:r>
            <a:endParaRPr lang="zh-CN" altLang="en-US" sz="32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33" name="文本框 54"/>
          <p:cNvSpPr txBox="1"/>
          <p:nvPr/>
        </p:nvSpPr>
        <p:spPr>
          <a:xfrm>
            <a:off x="29319416" y="16025727"/>
            <a:ext cx="20877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cs typeface="Arial" panose="020B0604020202020204" pitchFamily="34" charset="0"/>
              </a:rPr>
              <a:t>Astronomy</a:t>
            </a:r>
            <a:endParaRPr lang="zh-CN" altLang="en-US" sz="32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34" name="文本框 55"/>
          <p:cNvSpPr txBox="1"/>
          <p:nvPr/>
        </p:nvSpPr>
        <p:spPr>
          <a:xfrm>
            <a:off x="30291962" y="12871850"/>
            <a:ext cx="267024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dirty="0">
                <a:solidFill>
                  <a:schemeClr val="bg1"/>
                </a:solidFill>
                <a:cs typeface="Arial" panose="020B0604020202020204" pitchFamily="34" charset="0"/>
              </a:rPr>
              <a:t>Applied Economics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135" name="文本框 57"/>
          <p:cNvSpPr txBox="1"/>
          <p:nvPr/>
        </p:nvSpPr>
        <p:spPr>
          <a:xfrm>
            <a:off x="30085411" y="13963756"/>
            <a:ext cx="261037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dirty="0">
                <a:solidFill>
                  <a:schemeClr val="bg1"/>
                </a:solidFill>
                <a:cs typeface="Arial" panose="020B0604020202020204" pitchFamily="34" charset="0"/>
              </a:rPr>
              <a:t>General Education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136" name="文本框 5"/>
          <p:cNvSpPr txBox="1"/>
          <p:nvPr/>
        </p:nvSpPr>
        <p:spPr>
          <a:xfrm>
            <a:off x="30446685" y="9451783"/>
            <a:ext cx="2197830" cy="756726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dirty="0">
                <a:solidFill>
                  <a:schemeClr val="bg1"/>
                </a:solidFill>
                <a:cs typeface="Arial" panose="020B0604020202020204" pitchFamily="34" charset="0"/>
              </a:rPr>
              <a:t>Aerospace Science &amp; Technology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137" name="文本框 6"/>
          <p:cNvSpPr txBox="1"/>
          <p:nvPr/>
        </p:nvSpPr>
        <p:spPr>
          <a:xfrm>
            <a:off x="30612820" y="11091449"/>
            <a:ext cx="2400813" cy="539338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dirty="0">
                <a:solidFill>
                  <a:schemeClr val="bg1"/>
                </a:solidFill>
                <a:cs typeface="Arial" panose="020B0604020202020204" pitchFamily="34" charset="0"/>
              </a:rPr>
              <a:t>Aquaculture</a:t>
            </a:r>
            <a:endParaRPr lang="zh-CN" altLang="en-US" sz="32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38" name="文本框 7"/>
          <p:cNvSpPr txBox="1"/>
          <p:nvPr/>
        </p:nvSpPr>
        <p:spPr>
          <a:xfrm>
            <a:off x="29578880" y="14964495"/>
            <a:ext cx="2718653" cy="505317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dirty="0">
                <a:solidFill>
                  <a:schemeClr val="bg1"/>
                </a:solidFill>
                <a:cs typeface="Arial" panose="020B0604020202020204" pitchFamily="34" charset="0"/>
              </a:rPr>
              <a:t>Crop Science</a:t>
            </a:r>
            <a:endParaRPr lang="zh-CN" altLang="en-US" sz="32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39" name="文本框 69"/>
          <p:cNvSpPr txBox="1"/>
          <p:nvPr/>
        </p:nvSpPr>
        <p:spPr>
          <a:xfrm>
            <a:off x="31397076" y="8847301"/>
            <a:ext cx="9468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cs typeface="Arial" panose="020B0604020202020204" pitchFamily="34" charset="0"/>
              </a:rPr>
              <a:t>Law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140" name="文本框 6"/>
          <p:cNvSpPr txBox="1"/>
          <p:nvPr/>
        </p:nvSpPr>
        <p:spPr>
          <a:xfrm>
            <a:off x="30530515" y="11721004"/>
            <a:ext cx="2565420" cy="539338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dirty="0">
                <a:solidFill>
                  <a:schemeClr val="bg1"/>
                </a:solidFill>
                <a:cs typeface="Arial" panose="020B0604020202020204" pitchFamily="34" charset="0"/>
              </a:rPr>
              <a:t>Computer Science</a:t>
            </a:r>
            <a:endParaRPr lang="zh-CN" altLang="en-US" sz="32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41" name="文本框 6"/>
          <p:cNvSpPr txBox="1"/>
          <p:nvPr/>
        </p:nvSpPr>
        <p:spPr>
          <a:xfrm>
            <a:off x="29754812" y="8038352"/>
            <a:ext cx="2366788" cy="1051414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dirty="0">
                <a:solidFill>
                  <a:schemeClr val="bg1"/>
                </a:solidFill>
                <a:cs typeface="Arial" panose="020B0604020202020204" pitchFamily="34" charset="0"/>
              </a:rPr>
              <a:t>Automation Control</a:t>
            </a:r>
            <a:endParaRPr lang="zh-CN" altLang="en-US" sz="32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42" name="文本框 6"/>
          <p:cNvSpPr txBox="1"/>
          <p:nvPr/>
        </p:nvSpPr>
        <p:spPr>
          <a:xfrm>
            <a:off x="29732112" y="15502374"/>
            <a:ext cx="2565420" cy="539338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dirty="0">
                <a:solidFill>
                  <a:schemeClr val="bg1"/>
                </a:solidFill>
                <a:cs typeface="Arial" panose="020B0604020202020204" pitchFamily="34" charset="0"/>
              </a:rPr>
              <a:t>Agriculture</a:t>
            </a:r>
            <a:endParaRPr lang="zh-CN" altLang="en-US" sz="32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43" name="文本框 56"/>
          <p:cNvSpPr txBox="1"/>
          <p:nvPr/>
        </p:nvSpPr>
        <p:spPr>
          <a:xfrm>
            <a:off x="26122563" y="18098838"/>
            <a:ext cx="41347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cs typeface="Arial" panose="020B0604020202020204" pitchFamily="34" charset="0"/>
              </a:rPr>
              <a:t>Theoretical Economics</a:t>
            </a:r>
            <a:endParaRPr lang="zh-CN" altLang="en-US" sz="32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44" name="文本框 58"/>
          <p:cNvSpPr txBox="1"/>
          <p:nvPr/>
        </p:nvSpPr>
        <p:spPr>
          <a:xfrm>
            <a:off x="27329578" y="17564453"/>
            <a:ext cx="34188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cs typeface="Arial" panose="020B0604020202020204" pitchFamily="34" charset="0"/>
              </a:rPr>
              <a:t>Physical Education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145" name="文本框 59"/>
          <p:cNvSpPr txBox="1"/>
          <p:nvPr/>
        </p:nvSpPr>
        <p:spPr>
          <a:xfrm>
            <a:off x="22233429" y="19859681"/>
            <a:ext cx="46132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cs typeface="Arial" panose="020B0604020202020204" pitchFamily="34" charset="0"/>
              </a:rPr>
              <a:t>Business Administration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146" name="文本框 60"/>
          <p:cNvSpPr txBox="1"/>
          <p:nvPr/>
        </p:nvSpPr>
        <p:spPr>
          <a:xfrm>
            <a:off x="20462385" y="19232783"/>
            <a:ext cx="40776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cs typeface="Arial" panose="020B0604020202020204" pitchFamily="34" charset="0"/>
              </a:rPr>
              <a:t>Public Administration</a:t>
            </a:r>
            <a:endParaRPr lang="zh-CN" altLang="en-US" sz="32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47" name="文本框 61"/>
          <p:cNvSpPr txBox="1"/>
          <p:nvPr/>
        </p:nvSpPr>
        <p:spPr>
          <a:xfrm>
            <a:off x="25133062" y="19277098"/>
            <a:ext cx="31748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cs typeface="Arial" panose="020B0604020202020204" pitchFamily="34" charset="0"/>
              </a:rPr>
              <a:t>Clinical Medicine</a:t>
            </a:r>
            <a:endParaRPr lang="zh-CN" altLang="en-US" sz="32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48" name="文本框 62"/>
          <p:cNvSpPr txBox="1"/>
          <p:nvPr/>
        </p:nvSpPr>
        <p:spPr>
          <a:xfrm>
            <a:off x="26038011" y="18730412"/>
            <a:ext cx="27260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cs typeface="Arial" panose="020B0604020202020204" pitchFamily="34" charset="0"/>
              </a:rPr>
              <a:t>Basic Medicine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149" name="文本框 67"/>
          <p:cNvSpPr txBox="1"/>
          <p:nvPr/>
        </p:nvSpPr>
        <p:spPr>
          <a:xfrm>
            <a:off x="28957598" y="16541341"/>
            <a:ext cx="21220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cs typeface="Arial" panose="020B0604020202020204" pitchFamily="34" charset="0"/>
              </a:rPr>
              <a:t>Sociology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150" name="文本框 68"/>
          <p:cNvSpPr txBox="1"/>
          <p:nvPr/>
        </p:nvSpPr>
        <p:spPr>
          <a:xfrm>
            <a:off x="23130881" y="18605886"/>
            <a:ext cx="23395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cs typeface="Arial" panose="020B0604020202020204" pitchFamily="34" charset="0"/>
              </a:rPr>
              <a:t>Psychology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151" name="文本框 70"/>
          <p:cNvSpPr txBox="1"/>
          <p:nvPr/>
        </p:nvSpPr>
        <p:spPr>
          <a:xfrm>
            <a:off x="18285357" y="17443280"/>
            <a:ext cx="28205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cs typeface="Arial" panose="020B0604020202020204" pitchFamily="34" charset="0"/>
              </a:rPr>
              <a:t>Management</a:t>
            </a:r>
            <a:endParaRPr lang="zh-CN" altLang="en-US" sz="32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52" name="文本框 71"/>
          <p:cNvSpPr txBox="1"/>
          <p:nvPr/>
        </p:nvSpPr>
        <p:spPr>
          <a:xfrm>
            <a:off x="28769633" y="17076626"/>
            <a:ext cx="21685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cs typeface="Arial" panose="020B0604020202020204" pitchFamily="34" charset="0"/>
              </a:rPr>
              <a:t>Linguistics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153" name="文本框 72"/>
          <p:cNvSpPr txBox="1"/>
          <p:nvPr/>
        </p:nvSpPr>
        <p:spPr>
          <a:xfrm>
            <a:off x="18196920" y="16792521"/>
            <a:ext cx="21881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cs typeface="Arial" panose="020B0604020202020204" pitchFamily="34" charset="0"/>
              </a:rPr>
              <a:t>Journalism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154" name="文本框 73"/>
          <p:cNvSpPr txBox="1"/>
          <p:nvPr/>
        </p:nvSpPr>
        <p:spPr>
          <a:xfrm>
            <a:off x="18878728" y="18021111"/>
            <a:ext cx="30278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cs typeface="Arial" panose="020B0604020202020204" pitchFamily="34" charset="0"/>
              </a:rPr>
              <a:t>Theory of Music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155" name="文本框 74"/>
          <p:cNvSpPr txBox="1"/>
          <p:nvPr/>
        </p:nvSpPr>
        <p:spPr>
          <a:xfrm>
            <a:off x="19530859" y="18592171"/>
            <a:ext cx="32829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cs typeface="Arial" panose="020B0604020202020204" pitchFamily="34" charset="0"/>
              </a:rPr>
              <a:t>Military Science</a:t>
            </a:r>
            <a:endParaRPr lang="zh-CN" altLang="en-US" sz="32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矩形: 圆角 85"/>
          <p:cNvSpPr/>
          <p:nvPr/>
        </p:nvSpPr>
        <p:spPr>
          <a:xfrm>
            <a:off x="4117427" y="20171141"/>
            <a:ext cx="3112380" cy="884070"/>
          </a:xfrm>
          <a:prstGeom prst="roundRect">
            <a:avLst>
              <a:gd name="adj" fmla="val 23321"/>
            </a:avLst>
          </a:prstGeom>
          <a:solidFill>
            <a:srgbClr val="FAC8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Teacher Oriented Domains 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89" name="矩形: 圆角 88"/>
          <p:cNvSpPr/>
          <p:nvPr/>
        </p:nvSpPr>
        <p:spPr>
          <a:xfrm>
            <a:off x="7885343" y="20171141"/>
            <a:ext cx="2976664" cy="919585"/>
          </a:xfrm>
          <a:prstGeom prst="roundRect">
            <a:avLst>
              <a:gd name="adj" fmla="val 23321"/>
            </a:avLst>
          </a:prstGeom>
          <a:solidFill>
            <a:srgbClr val="A3D4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Student Oriented Domains 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7265236" y="20344710"/>
            <a:ext cx="6101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+</a:t>
            </a:r>
            <a:endParaRPr lang="zh-CN" altLang="en-US" sz="3600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3303298" y="20423413"/>
            <a:ext cx="6101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(</a:t>
            </a:r>
            <a:endParaRPr lang="zh-CN" altLang="en-US" sz="3200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10963973" y="20419711"/>
            <a:ext cx="6101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)</a:t>
            </a:r>
            <a:endParaRPr lang="zh-CN" altLang="en-US" sz="3200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11676136" y="20285770"/>
            <a:ext cx="6101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4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*</a:t>
            </a:r>
            <a:endParaRPr lang="zh-CN" altLang="en-US" sz="4400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12253143" y="20408604"/>
            <a:ext cx="6101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(</a:t>
            </a:r>
            <a:endParaRPr lang="zh-CN" altLang="en-US" sz="3200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99" name="矩形: 圆角 98"/>
          <p:cNvSpPr/>
          <p:nvPr/>
        </p:nvSpPr>
        <p:spPr>
          <a:xfrm>
            <a:off x="13041561" y="20251086"/>
            <a:ext cx="1643366" cy="809821"/>
          </a:xfrm>
          <a:prstGeom prst="roundRect">
            <a:avLst>
              <a:gd name="adj" fmla="val 23321"/>
            </a:avLst>
          </a:prstGeom>
          <a:solidFill>
            <a:srgbClr val="F2B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Chinese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100" name="矩形: 圆角 99"/>
          <p:cNvSpPr/>
          <p:nvPr/>
        </p:nvSpPr>
        <p:spPr>
          <a:xfrm>
            <a:off x="15430783" y="20251085"/>
            <a:ext cx="1643366" cy="809821"/>
          </a:xfrm>
          <a:prstGeom prst="roundRect">
            <a:avLst>
              <a:gd name="adj" fmla="val 23321"/>
            </a:avLst>
          </a:prstGeom>
          <a:solidFill>
            <a:srgbClr val="F2B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English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101" name="矩形: 圆角 100"/>
          <p:cNvSpPr/>
          <p:nvPr/>
        </p:nvSpPr>
        <p:spPr>
          <a:xfrm>
            <a:off x="18895972" y="20202960"/>
            <a:ext cx="966249" cy="831662"/>
          </a:xfrm>
          <a:prstGeom prst="roundRect">
            <a:avLst>
              <a:gd name="adj" fmla="val 23321"/>
            </a:avLst>
          </a:prstGeom>
          <a:solidFill>
            <a:srgbClr val="EE66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Easy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102" name="矩形: 圆角 101"/>
          <p:cNvSpPr/>
          <p:nvPr/>
        </p:nvSpPr>
        <p:spPr>
          <a:xfrm>
            <a:off x="20391157" y="20194857"/>
            <a:ext cx="1643366" cy="831662"/>
          </a:xfrm>
          <a:prstGeom prst="roundRect">
            <a:avLst>
              <a:gd name="adj" fmla="val 23321"/>
            </a:avLst>
          </a:prstGeom>
          <a:solidFill>
            <a:srgbClr val="EE66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Medium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103" name="矩形: 圆角 102"/>
          <p:cNvSpPr/>
          <p:nvPr/>
        </p:nvSpPr>
        <p:spPr>
          <a:xfrm>
            <a:off x="22618492" y="20176836"/>
            <a:ext cx="1115963" cy="831662"/>
          </a:xfrm>
          <a:prstGeom prst="roundRect">
            <a:avLst>
              <a:gd name="adj" fmla="val 23321"/>
            </a:avLst>
          </a:prstGeom>
          <a:solidFill>
            <a:srgbClr val="EE66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Hard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14718620" y="20285291"/>
            <a:ext cx="6101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+</a:t>
            </a:r>
            <a:endParaRPr lang="zh-CN" altLang="en-US" sz="3600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17091863" y="20363606"/>
            <a:ext cx="6101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)</a:t>
            </a:r>
            <a:endParaRPr lang="zh-CN" altLang="en-US" sz="3200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106" name="文本框 105"/>
          <p:cNvSpPr txBox="1"/>
          <p:nvPr/>
        </p:nvSpPr>
        <p:spPr>
          <a:xfrm>
            <a:off x="17647270" y="20239057"/>
            <a:ext cx="6101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4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*</a:t>
            </a:r>
            <a:endParaRPr lang="zh-CN" altLang="en-US" sz="4400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18148380" y="20346864"/>
            <a:ext cx="6101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(</a:t>
            </a:r>
            <a:endParaRPr lang="zh-CN" altLang="en-US" sz="3200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108" name="文本框 107"/>
          <p:cNvSpPr txBox="1"/>
          <p:nvPr/>
        </p:nvSpPr>
        <p:spPr>
          <a:xfrm>
            <a:off x="19781017" y="20299251"/>
            <a:ext cx="6101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+</a:t>
            </a:r>
            <a:endParaRPr lang="zh-CN" altLang="en-US" sz="3200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109" name="文本框 108"/>
          <p:cNvSpPr txBox="1"/>
          <p:nvPr/>
        </p:nvSpPr>
        <p:spPr>
          <a:xfrm>
            <a:off x="22034523" y="20285291"/>
            <a:ext cx="6101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+</a:t>
            </a:r>
            <a:endParaRPr lang="zh-CN" altLang="en-US" sz="3200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23721982" y="20346864"/>
            <a:ext cx="6101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)</a:t>
            </a:r>
            <a:endParaRPr lang="zh-CN" altLang="en-US" sz="3200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24284932" y="20223938"/>
            <a:ext cx="6101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4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*</a:t>
            </a:r>
            <a:endParaRPr lang="zh-CN" altLang="en-US" sz="4400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24912786" y="20346864"/>
            <a:ext cx="6101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(</a:t>
            </a:r>
            <a:endParaRPr lang="zh-CN" altLang="en-US" sz="3200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27899488" y="20316068"/>
            <a:ext cx="6101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+</a:t>
            </a:r>
            <a:endParaRPr lang="zh-CN" altLang="en-US" sz="3200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114" name="矩形: 圆角 113"/>
          <p:cNvSpPr/>
          <p:nvPr/>
        </p:nvSpPr>
        <p:spPr>
          <a:xfrm>
            <a:off x="25522926" y="20176836"/>
            <a:ext cx="2298700" cy="831662"/>
          </a:xfrm>
          <a:prstGeom prst="roundRect">
            <a:avLst>
              <a:gd name="adj" fmla="val 23321"/>
            </a:avLst>
          </a:prstGeom>
          <a:solidFill>
            <a:srgbClr val="5470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K-12 Subjects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115" name="矩形: 圆角 114"/>
          <p:cNvSpPr/>
          <p:nvPr/>
        </p:nvSpPr>
        <p:spPr>
          <a:xfrm>
            <a:off x="28509628" y="20202960"/>
            <a:ext cx="2976663" cy="831662"/>
          </a:xfrm>
          <a:prstGeom prst="roundRect">
            <a:avLst>
              <a:gd name="adj" fmla="val 23321"/>
            </a:avLst>
          </a:prstGeom>
          <a:solidFill>
            <a:srgbClr val="5470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Higher Education Subjects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31566975" y="20285291"/>
            <a:ext cx="6101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)</a:t>
            </a:r>
            <a:endParaRPr lang="zh-CN" altLang="en-US" sz="3200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120" name="矩形: 圆角 119"/>
          <p:cNvSpPr/>
          <p:nvPr/>
        </p:nvSpPr>
        <p:spPr>
          <a:xfrm>
            <a:off x="4561980" y="21858986"/>
            <a:ext cx="1778429" cy="884070"/>
          </a:xfrm>
          <a:prstGeom prst="roundRect">
            <a:avLst>
              <a:gd name="adj" fmla="val 23321"/>
            </a:avLst>
          </a:prstGeom>
          <a:solidFill>
            <a:srgbClr val="91CC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Short Answer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3313278" y="21921207"/>
            <a:ext cx="6101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4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*</a:t>
            </a:r>
            <a:endParaRPr lang="zh-CN" altLang="en-US" sz="4400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124" name="文本框 123"/>
          <p:cNvSpPr txBox="1"/>
          <p:nvPr/>
        </p:nvSpPr>
        <p:spPr>
          <a:xfrm>
            <a:off x="3951840" y="22029015"/>
            <a:ext cx="6101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(</a:t>
            </a:r>
            <a:endParaRPr lang="zh-CN" altLang="en-US" sz="3200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125" name="文本框 124"/>
          <p:cNvSpPr txBox="1"/>
          <p:nvPr/>
        </p:nvSpPr>
        <p:spPr>
          <a:xfrm>
            <a:off x="6509518" y="22026659"/>
            <a:ext cx="6101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+</a:t>
            </a:r>
            <a:endParaRPr lang="zh-CN" altLang="en-US" sz="3200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126" name="文本框 125"/>
          <p:cNvSpPr txBox="1"/>
          <p:nvPr/>
        </p:nvSpPr>
        <p:spPr>
          <a:xfrm>
            <a:off x="9031881" y="22012793"/>
            <a:ext cx="6101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+</a:t>
            </a:r>
            <a:endParaRPr lang="zh-CN" altLang="en-US" sz="3200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127" name="文本框 126"/>
          <p:cNvSpPr txBox="1"/>
          <p:nvPr/>
        </p:nvSpPr>
        <p:spPr>
          <a:xfrm>
            <a:off x="11623299" y="22074665"/>
            <a:ext cx="6101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)</a:t>
            </a:r>
            <a:endParaRPr lang="zh-CN" altLang="en-US" sz="3200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128" name="矩形: 圆角 127"/>
          <p:cNvSpPr/>
          <p:nvPr/>
        </p:nvSpPr>
        <p:spPr>
          <a:xfrm>
            <a:off x="7203424" y="21858986"/>
            <a:ext cx="1778429" cy="884070"/>
          </a:xfrm>
          <a:prstGeom prst="roundRect">
            <a:avLst>
              <a:gd name="adj" fmla="val 23321"/>
            </a:avLst>
          </a:prstGeom>
          <a:solidFill>
            <a:srgbClr val="91CC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Single-Choice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129" name="矩形: 圆角 128"/>
          <p:cNvSpPr/>
          <p:nvPr/>
        </p:nvSpPr>
        <p:spPr>
          <a:xfrm>
            <a:off x="9692049" y="21858986"/>
            <a:ext cx="1778429" cy="884070"/>
          </a:xfrm>
          <a:prstGeom prst="roundRect">
            <a:avLst>
              <a:gd name="adj" fmla="val 23321"/>
            </a:avLst>
          </a:prstGeom>
          <a:solidFill>
            <a:srgbClr val="91CC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Multi-Choice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130" name="矩形: 圆角 129"/>
          <p:cNvSpPr/>
          <p:nvPr/>
        </p:nvSpPr>
        <p:spPr>
          <a:xfrm>
            <a:off x="14816917" y="21597286"/>
            <a:ext cx="5660705" cy="1400783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400" b="1" dirty="0">
                <a:solidFill>
                  <a:schemeClr val="bg1"/>
                </a:solidFill>
              </a:rPr>
              <a:t>4,019 contexts </a:t>
            </a:r>
            <a:endParaRPr lang="en-US" altLang="zh-CN" sz="4400" b="1" dirty="0">
              <a:solidFill>
                <a:schemeClr val="bg1"/>
              </a:solidFill>
            </a:endParaRPr>
          </a:p>
        </p:txBody>
      </p:sp>
      <p:sp>
        <p:nvSpPr>
          <p:cNvPr id="131" name="文本框 130"/>
          <p:cNvSpPr txBox="1"/>
          <p:nvPr/>
        </p:nvSpPr>
        <p:spPr>
          <a:xfrm>
            <a:off x="13220108" y="21933843"/>
            <a:ext cx="6101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5400" b="1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=</a:t>
            </a:r>
            <a:endParaRPr lang="zh-CN" altLang="en-US" sz="5400" b="1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389185" y="2463165"/>
            <a:ext cx="10885170" cy="21196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0670" y="18101945"/>
            <a:ext cx="160020" cy="2222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5560" y="2288540"/>
            <a:ext cx="30143450" cy="173926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74560" y="14201140"/>
            <a:ext cx="16330930" cy="802386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60100" y="4823460"/>
            <a:ext cx="8943975" cy="83197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6020</Words>
  <Application>WPS 演示</Application>
  <PresentationFormat>自定义</PresentationFormat>
  <Paragraphs>820</Paragraphs>
  <Slides>7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宋体</vt:lpstr>
      <vt:lpstr>Wingdings</vt:lpstr>
      <vt:lpstr>Consolas</vt:lpstr>
      <vt:lpstr>Cascadia Mono SemiBold</vt:lpstr>
      <vt:lpstr>微软雅黑</vt:lpstr>
      <vt:lpstr>Arial Unicode MS</vt:lpstr>
      <vt:lpstr>等线 Light</vt:lpstr>
      <vt:lpstr>Calibri Light</vt:lpstr>
      <vt:lpstr>等线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luna liang</dc:creator>
  <cp:lastModifiedBy>骆潇尧</cp:lastModifiedBy>
  <cp:revision>35</cp:revision>
  <cp:lastPrinted>2025-05-17T04:56:00Z</cp:lastPrinted>
  <dcterms:created xsi:type="dcterms:W3CDTF">2025-05-13T00:51:00Z</dcterms:created>
  <dcterms:modified xsi:type="dcterms:W3CDTF">2025-05-27T09:28:57Z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F85C168B748F474787EACBD15D7C9F92_12</vt:lpwstr>
  </property>
  <property fmtid="{D5CDD505-2E9C-101B-9397-08002B2CF9AE}" pid="3" name="KSOProductBuildVer">
    <vt:lpwstr>2052-12.1.0.21171</vt:lpwstr>
  </property>
</Properties>
</file>